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s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 type="custom"/>
  <p:defaultTextStyle/>
</p:prs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100584"/>
          </a:xfrm>
          <a:prstGeom prst="rect">
            <a:avLst/>
          </a:prstGeom>
          <a:gradFill>
            <a:gsLst>
              <a:gs pos="0">
                <a:srgbClr val="00C6FF"/>
              </a:gs>
              <a:gs pos="100000">
                <a:srgbClr val="7B2FBE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6757416"/>
            <a:ext cx="12192000" cy="100584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100584"/>
            <a:ext cx="50292" cy="665683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411480" y="731520"/>
            <a:ext cx="10332720" cy="18288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2137"/>
              </a:gs>
              <a:gs pos="100000">
                <a:srgbClr val="0A1628"/>
              </a:gs>
            </a:gsLst>
            <a:lin ang="5400000" scaled="0"/>
          </a:gradFill>
          <a:ln w="22225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C6FF"/>
                </a:solidFill>
                <a:latin typeface="Calibri"/>
              </a:rPr>
              <a:t>Zero-Day IoT Attack Detection</a:t>
            </a:r>
          </a:p>
          <a:p>
            <a:pPr algn="ctr">
              <a:lnSpc>
                <a:spcPct val="100000"/>
              </a:lnSpc>
            </a:pPr>
            <a:r>
              <a:rPr lang="en-US" sz="2500" b="0" i="0" dirty="0">
                <a:solidFill>
                  <a:srgbClr val="FFFFFF"/>
                </a:solidFill>
                <a:latin typeface="Calibri"/>
              </a:rPr>
              <a:t>Using a Hybrid Machine Learning Approach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0" y="2788920"/>
            <a:ext cx="7132320" cy="43891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i="0" dirty="0">
                <a:solidFill>
                  <a:srgbClr val="B0BEC5"/>
                </a:solidFill>
                <a:latin typeface="Calibri"/>
              </a:rPr>
              <a:t>B.Tech Final Year Project      Computer Science &amp; Engineering</a:t>
            </a:r>
          </a:p>
        </p:txBody>
      </p:sp>
      <p:sp>
        <p:nvSpPr>
          <p:cNvPr id="8" name="S8"/>
          <p:cNvSpPr>
            <a:spLocks noGrp="1"/>
          </p:cNvSpPr>
          <p:nvPr/>
        </p:nvSpPr>
        <p:spPr>
          <a:xfrm>
            <a:off x="457200" y="3337560"/>
            <a:ext cx="4663440" cy="233172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D2137"/>
              </a:gs>
              <a:gs pos="100000">
                <a:srgbClr val="071020"/>
              </a:gs>
            </a:gsLst>
            <a:lin ang="5400000" scaled="0"/>
          </a:gradFill>
          <a:ln w="19050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50" b="1" i="0" dirty="0">
                <a:solidFill>
                  <a:srgbClr val="00C6FF"/>
                </a:solidFill>
                <a:latin typeface="Calibri"/>
              </a:rPr>
              <a:t>PROJECT TEAM</a:t>
            </a:r>
          </a:p>
          <a:p>
            <a:pPr algn="ctr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Shahil Ahmed      Roll No. 202202021046</a:t>
            </a:r>
          </a:p>
          <a:p>
            <a:pPr algn="ctr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Jagriti Shivam      Roll No. 202202022091</a:t>
            </a:r>
          </a:p>
          <a:p>
            <a:pPr algn="ctr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Khushi Das      Roll No. 202202022113</a:t>
            </a:r>
          </a:p>
          <a:p>
            <a:pPr algn="ctr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Babul Hoque      Roll No. 202202021020</a:t>
            </a:r>
          </a:p>
        </p:txBody>
      </p:sp>
      <p:sp>
        <p:nvSpPr>
          <p:cNvPr id="9" name="S9"/>
          <p:cNvSpPr>
            <a:spLocks noGrp="1"/>
          </p:cNvSpPr>
          <p:nvPr/>
        </p:nvSpPr>
        <p:spPr>
          <a:xfrm>
            <a:off x="5349240" y="3337560"/>
            <a:ext cx="5440680" cy="233172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D2137"/>
              </a:gs>
              <a:gs pos="100000">
                <a:srgbClr val="071020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50" b="1" i="0" dirty="0">
                <a:solidFill>
                  <a:srgbClr val="7B2FBE"/>
                </a:solidFill>
                <a:latin typeface="Calibri"/>
              </a:rPr>
              <a:t>SUPERVISOR</a:t>
            </a:r>
          </a:p>
          <a:p>
            <a:pPr algn="ctr">
              <a:lnSpc>
                <a:spcPct val="100000"/>
              </a:lnSpc>
            </a:pPr>
            <a:r>
              <a:rPr lang="en-US" sz="1250" b="1" i="0" dirty="0">
                <a:solidFill>
                  <a:srgbClr val="FFFFFF"/>
                </a:solidFill>
                <a:latin typeface="Calibri"/>
              </a:rPr>
              <a:t>Mr. Bikramjit Choudhury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Assistant Professor, Dept. of CSE</a:t>
            </a:r>
          </a:p>
          <a:p>
            <a:endParaRPr lang="en-US" dirty="0"/>
          </a:p>
          <a:p>
            <a:pPr algn="ctr">
              <a:lnSpc>
                <a:spcPct val="100000"/>
              </a:lnSpc>
            </a:pPr>
            <a:r>
              <a:rPr lang="en-US" sz="1150" b="1" i="0" dirty="0">
                <a:solidFill>
                  <a:srgbClr val="FFD600"/>
                </a:solidFill>
                <a:latin typeface="Calibri"/>
              </a:rPr>
              <a:t>CENTRAL INSTITUTE OF TECHNOLOGY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KOKRAJHAR, ASSAM — MAY 2026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2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 ]  Agenda — 23 Slides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68680"/>
            <a:ext cx="5303520" cy="50749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2137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00C6FF"/>
                </a:solidFill>
                <a:latin typeface="Calibri"/>
              </a:rPr>
              <a:t>  01   Introduction &amp; Problem Statement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FFFFFF"/>
                </a:solidFill>
                <a:latin typeface="Calibri"/>
              </a:rPr>
              <a:t>  02   IoT Threat Landscape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00C6FF"/>
                </a:solidFill>
                <a:latin typeface="Calibri"/>
              </a:rPr>
              <a:t>  03   Literature Review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FFFFFF"/>
                </a:solidFill>
                <a:latin typeface="Calibri"/>
              </a:rPr>
              <a:t>  04   Dataset — Edge-IIoTset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00C6FF"/>
                </a:solidFill>
                <a:latin typeface="Calibri"/>
              </a:rPr>
              <a:t>  05   Data Distribution &amp; Class Split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FFFFFF"/>
                </a:solidFill>
                <a:latin typeface="Calibri"/>
              </a:rPr>
              <a:t>  06   Preprocessing Pipeline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00C6FF"/>
                </a:solidFill>
                <a:latin typeface="Calibri"/>
              </a:rPr>
              <a:t>  07   System Architecture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FFFFFF"/>
                </a:solidFill>
                <a:latin typeface="Calibri"/>
              </a:rPr>
              <a:t>  08   LightGBM — Model &amp; Training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00C6FF"/>
                </a:solidFill>
                <a:latin typeface="Calibri"/>
              </a:rPr>
              <a:t>  09   LightGBM — Results &amp; Per-Class</a:t>
            </a:r>
          </a:p>
          <a:p>
            <a:endParaRPr lang="en-US" dirty="0"/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5669280" y="868680"/>
            <a:ext cx="5257800" cy="50749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2137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FFFFFF"/>
                </a:solidFill>
                <a:latin typeface="Calibri"/>
              </a:rPr>
              <a:t>  10   Autoencoder — Architecture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00C6FF"/>
                </a:solidFill>
                <a:latin typeface="Calibri"/>
              </a:rPr>
              <a:t>  11   Autoencoder — Training &amp; Threshold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FFFFFF"/>
                </a:solidFill>
                <a:latin typeface="Calibri"/>
              </a:rPr>
              <a:t>  12   Fusion Model — Logic &amp; Routing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00C6FF"/>
                </a:solidFill>
                <a:latin typeface="Calibri"/>
              </a:rPr>
              <a:t>  13   Fusion — Results &amp; Confusion Matrix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FFFFFF"/>
                </a:solidFill>
                <a:latin typeface="Calibri"/>
              </a:rPr>
              <a:t>  14   Feature Importance Analysis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00C6FF"/>
                </a:solidFill>
                <a:latin typeface="Calibri"/>
              </a:rPr>
              <a:t>  15   Model Comparison &amp; Baselines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FFFFFF"/>
                </a:solidFill>
                <a:latin typeface="Calibri"/>
              </a:rPr>
              <a:t>  16   Tech Stack &amp; Implementation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00C6FF"/>
                </a:solidFill>
                <a:latin typeface="Calibri"/>
              </a:rPr>
              <a:t>  17   Limitations &amp; Discussion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FFFFFF"/>
                </a:solidFill>
                <a:latin typeface="Calibri"/>
              </a:rPr>
              <a:t>  18   Conclusions &amp; Future Work</a:t>
            </a:r>
          </a:p>
          <a:p>
            <a:endParaRPr lang="en-US" dirty="0"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3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❓  Problem Statement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41248"/>
            <a:ext cx="4983480" cy="51206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08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FF6B35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6B35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700" b="1" i="0" dirty="0">
                <a:solidFill>
                  <a:srgbClr val="FF6B35"/>
                </a:solidFill>
                <a:latin typeface="Calibri"/>
              </a:rPr>
              <a:t>The Problem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Traditional IDS rely on known attack signatures.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They are completely BLIND to new / unseen threats.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D600"/>
                </a:solidFill>
                <a:latin typeface="Calibri"/>
              </a:rPr>
              <a:t>[!]  Zero-Day Attacks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Exploits for unknown vulnerabilities — no prior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signature exists, bypasses every rule-based defence.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C6FF"/>
                </a:solidFill>
                <a:latin typeface="Calibri"/>
              </a:rPr>
              <a:t>Three Core Problems We Solve: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1. Classify known attacks by name (supervised)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2. Detect unseen zero-day attacks (unsupervised)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3. Integrate both into one coherent system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5349240" y="841248"/>
            <a:ext cx="2743200" cy="51206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700" b="1" i="0" dirty="0">
                <a:solidFill>
                  <a:srgbClr val="00E676"/>
                </a:solidFill>
                <a:latin typeface="Calibri"/>
              </a:rPr>
              <a:t>Our Solution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A 3-Layer Hybrid IDS: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E676"/>
                </a:solidFill>
                <a:latin typeface="Calibri"/>
              </a:rPr>
              <a:t>[T]  LightGBM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Classifies 10 known attack types with 99.99% acc.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7B2FBE"/>
                </a:solidFill>
                <a:latin typeface="Calibri"/>
              </a:rPr>
              <a:t>[A]  Autoencoder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Detects any anomaly via reconstruction error.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FF6B35"/>
                </a:solidFill>
                <a:latin typeface="Calibri"/>
              </a:rPr>
              <a:t>[~]  Fusion Model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Confidence-based routing between the two models.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8229600" y="841248"/>
            <a:ext cx="2743200" cy="51206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C6FF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700" b="1" i="0" dirty="0">
                <a:solidFill>
                  <a:srgbClr val="00C6FF"/>
                </a:solidFill>
                <a:latin typeface="Calibri"/>
              </a:rPr>
              <a:t>Why IoT?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* 15 billion+ connected devices worldwide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* Limited CPU/RAM — no heavy AV possible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* Always-on, rarely updated firmware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* Critical: hospitals, power grids, factories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* Massive attack surface for adversaries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150" b="0" i="1" dirty="0">
                <a:solidFill>
                  <a:srgbClr val="B0BEC5"/>
                </a:solidFill>
                <a:latin typeface="Calibri"/>
              </a:rPr>
              <a:t>Mirai botnet (2016): 620 Gbps DDoS using</a:t>
            </a:r>
          </a:p>
          <a:p>
            <a:pPr algn="l">
              <a:lnSpc>
                <a:spcPct val="100000"/>
              </a:lnSpc>
            </a:pPr>
            <a:r>
              <a:rPr lang="en-US" sz="1150" b="0" i="1" dirty="0">
                <a:solidFill>
                  <a:srgbClr val="B0BEC5"/>
                </a:solidFill>
                <a:latin typeface="Calibri"/>
              </a:rPr>
              <a:t>600k compromised IoT cameras &amp; routers.</a:t>
            </a:r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4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[W]  IoT Threat Landscape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41248"/>
            <a:ext cx="2514600" cy="182880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52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i="0" dirty="0">
                <a:solidFill>
                  <a:srgbClr val="00C6FF"/>
                </a:solidFill>
                <a:latin typeface="Calibri"/>
              </a:rPr>
              <a:t>Limited Resources</a:t>
            </a:r>
          </a:p>
          <a:p>
            <a:pPr algn="ctr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No CPU for AV * Low RAM * Tiny storage</a:t>
            </a:r>
          </a:p>
          <a:p>
            <a:pPr algn="ctr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Can't run traditional security software.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2926080" y="841248"/>
            <a:ext cx="2514600" cy="182880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7001A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i="0" dirty="0">
                <a:solidFill>
                  <a:srgbClr val="7B2FBE"/>
                </a:solidFill>
                <a:latin typeface="Calibri"/>
              </a:rPr>
              <a:t>Always-On Devices</a:t>
            </a:r>
          </a:p>
          <a:p>
            <a:pPr algn="ctr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Run 24/7 without updates * Forgotten after</a:t>
            </a:r>
          </a:p>
          <a:p>
            <a:pPr algn="ctr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install * Firmware vulnerabilities persist.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5623560" y="841248"/>
            <a:ext cx="2514600" cy="182880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1A08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i="0" dirty="0">
                <a:solidFill>
                  <a:srgbClr val="FF6B35"/>
                </a:solidFill>
                <a:latin typeface="Calibri"/>
              </a:rPr>
              <a:t>Massive Attack Surface</a:t>
            </a:r>
          </a:p>
          <a:p>
            <a:pPr algn="ctr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Billions of entry points * Default credentials</a:t>
            </a:r>
          </a:p>
          <a:p>
            <a:pPr algn="ctr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never changed * Direct internet exposure.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8321040" y="841248"/>
            <a:ext cx="2514600" cy="182880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1A00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FF1744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i="0" dirty="0">
                <a:solidFill>
                  <a:srgbClr val="FF1744"/>
                </a:solidFill>
                <a:latin typeface="Calibri"/>
              </a:rPr>
              <a:t>Critical Infrastructure</a:t>
            </a:r>
          </a:p>
          <a:p>
            <a:pPr algn="ctr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Hospitals * Power grids * Water treatment</a:t>
            </a:r>
          </a:p>
          <a:p>
            <a:pPr algn="ctr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Attacks can be life-threatening.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228600" y="2880360"/>
            <a:ext cx="3474720" cy="31546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05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FF6B35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6B35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6B35"/>
                </a:solidFill>
                <a:latin typeface="Calibri"/>
              </a:rPr>
              <a:t>Signature-Based IDS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[OK]  Precise on known attacks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1744"/>
                </a:solidFill>
                <a:latin typeface="Calibri"/>
              </a:rPr>
              <a:t>[X]  Zero-day blind spot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1744"/>
                </a:solidFill>
                <a:latin typeface="Calibri"/>
              </a:rPr>
              <a:t>[X]  No learning capability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3840480" y="2880360"/>
            <a:ext cx="3474720" cy="31546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7001A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7B2FBE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7B2FBE"/>
                </a:solidFill>
                <a:latin typeface="Calibri"/>
              </a:rPr>
              <a:t>Anomaly-Based IDS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[OK]  Detects unseen attacks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1744"/>
                </a:solidFill>
                <a:latin typeface="Calibri"/>
              </a:rPr>
              <a:t>[X]  Higher false positive rate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1744"/>
                </a:solidFill>
                <a:latin typeface="Calibri"/>
              </a:rPr>
              <a:t>[X]  Cannot name the attack</a:t>
            </a:r>
          </a:p>
        </p:txBody>
      </p:sp>
      <p:sp>
        <p:nvSpPr>
          <p:cNvPr id="16" name="S16"/>
          <p:cNvSpPr>
            <a:spLocks noGrp="1"/>
          </p:cNvSpPr>
          <p:nvPr/>
        </p:nvSpPr>
        <p:spPr>
          <a:xfrm>
            <a:off x="7452360" y="2880360"/>
            <a:ext cx="3474720" cy="31546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>Hybrid IDS  &lt;- Our Approach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[OK]  Known + zero-day detection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[OK]  Lower false positives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[OK]  Names known attacks</a:t>
            </a:r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5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[L]  Literature Review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41248"/>
            <a:ext cx="3520440" cy="23774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C6FF"/>
                </a:solidFill>
                <a:latin typeface="Calibri"/>
              </a:rPr>
              <a:t>Ferrag et al. (2022)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Edge-IIoTset dataset — real IoT testbed,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10 device types, 15 attack classes, 95-98% acc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with standard ML algos.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3886200" y="841248"/>
            <a:ext cx="3520440" cy="23774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E676"/>
                </a:solidFill>
                <a:latin typeface="Calibri"/>
              </a:rPr>
              <a:t>LightGBM (Ke et al., 2017)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Microsoft Research — leaf-wise tree growth,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histogram binning. Outperforms XGBoost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on large tabular datasets.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543800" y="841248"/>
            <a:ext cx="3520440" cy="23774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7B2FBE"/>
                </a:solidFill>
                <a:latin typeface="Calibri"/>
              </a:rPr>
              <a:t>Shone et al. (2018)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Non-symmetric Autoencoder for NIDS.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Reconstruction error used as anomaly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score. Better than classical on NSL-KDD.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228600" y="3447288"/>
            <a:ext cx="3520440" cy="23774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FF6B35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6B35"/>
                </a:solidFill>
                <a:latin typeface="Calibri"/>
              </a:rPr>
              <a:t>Khraisat et al. (2019)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Survey of hybrid IDS: multi-model systems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consistently outperform single-model.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Fusion mechanism is a key variation source.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3886200" y="3447288"/>
            <a:ext cx="3520440" cy="23774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FFD600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D600"/>
                </a:solidFill>
                <a:latin typeface="Calibri"/>
              </a:rPr>
              <a:t>Grinsztajn et al. (2022)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Tree models still outperform deep learning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on tabular data (NeurIPS 2022). Validates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LightGBM choice over CNN/RNN.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7543800" y="3447288"/>
            <a:ext cx="3520440" cy="23774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FF1744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1744"/>
                </a:solidFill>
                <a:latin typeface="Calibri"/>
              </a:rPr>
              <a:t>Emmott et al. (2016)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Isolation Forest fails when anomalies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outnumber normals (majority class bias).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Explains our 49% IF baseline result.</a:t>
            </a:r>
          </a:p>
        </p:txBody>
      </p:sp>
      <p:sp>
        <p:nvSpPr>
          <p:cNvPr id="16" name="S16"/>
          <p:cNvSpPr>
            <a:spLocks noGrp="1"/>
          </p:cNvSpPr>
          <p:nvPr/>
        </p:nvSpPr>
        <p:spPr>
          <a:xfrm>
            <a:off x="228600" y="6144768"/>
            <a:ext cx="11734800" cy="548640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0A001A"/>
              </a:gs>
              <a:gs pos="100000">
                <a:srgbClr val="060B18"/>
              </a:gs>
            </a:gsLst>
            <a:lin ang="5400000" scaled="0"/>
          </a:gradFill>
          <a:ln w="9525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[.]  Research Gap: Most IDS research tests only known attacks. This project extends to zero-day simulation with 5 unseen classes — a stronger evaluation protocol.</a:t>
            </a:r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6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[S]  Dataset — Edge-IIoTset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22960"/>
            <a:ext cx="2468880" cy="13716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C6FF"/>
                </a:solidFill>
                <a:latin typeface="Calibri"/>
              </a:rPr>
              <a:t>157,800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Raw Network Rows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2880360" y="822960"/>
            <a:ext cx="2468880" cy="13716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E676"/>
                </a:solidFill>
                <a:latin typeface="Calibri"/>
              </a:rPr>
              <a:t>152,389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After Cleaning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5532120" y="822960"/>
            <a:ext cx="2468880" cy="13716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7B2FBE"/>
                </a:solidFill>
                <a:latin typeface="Calibri"/>
              </a:rPr>
              <a:t>53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Feature Columns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8229600" y="822960"/>
            <a:ext cx="2651760" cy="13716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FF6B35"/>
                </a:solidFill>
                <a:latin typeface="Calibri"/>
              </a:rPr>
              <a:t>15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Traffic Classes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228600" y="2331720"/>
            <a:ext cx="5212080" cy="1874519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D1B2A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E676"/>
                </a:solidFill>
                <a:latin typeface="Calibri"/>
              </a:rPr>
              <a:t>[OK]  Known Classes — 10 Types (Training)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Normal    Backdoor    DDoS_HTTP    DDoS_ICMP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DDoS_TCP    DDoS_UDP    Password    Port_Scanning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Ransomware    SQL_Injection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00E676"/>
                </a:solidFill>
                <a:latin typeface="Calibri"/>
              </a:rPr>
              <a:t>[pkg]  121,293 training samples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5669280" y="2331720"/>
            <a:ext cx="5212080" cy="1874519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0000"/>
              </a:gs>
              <a:gs pos="100000">
                <a:srgbClr val="0D1B2A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FF6B35"/>
                </a:solidFill>
                <a:latin typeface="Calibri"/>
              </a:rPr>
              <a:t>[!!]  Zero-Day — 5 Types (Hidden Test Only)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Fingerprinting    MITM    Uploading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Vulnerability_Scanner    XSS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FF6B35"/>
                </a:solidFill>
                <a:latin typeface="Calibri"/>
              </a:rPr>
              <a:t>[pkg]  31,096 samples (NEVER seen in training)</a:t>
            </a:r>
          </a:p>
        </p:txBody>
      </p:sp>
      <p:sp>
        <p:nvSpPr>
          <p:cNvPr id="16" name="S16"/>
          <p:cNvSpPr>
            <a:spLocks noGrp="1"/>
          </p:cNvSpPr>
          <p:nvPr/>
        </p:nvSpPr>
        <p:spPr>
          <a:xfrm>
            <a:off x="228600" y="4343400"/>
            <a:ext cx="11734800" cy="16916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C6FF"/>
                </a:solidFill>
                <a:latin typeface="Calibri"/>
              </a:rPr>
              <a:t>Edge-IIoTset  |  Ferrag et al., 2022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Real IoT lab testbed — 10 device types including IP cameras, temp/humidity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sensors, weather stations, water monitors. Captured via Wireshark.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Protocols: MQTT    HTTP    DNS    TCP    UDP    ARP    Modbus TCP</a:t>
            </a:r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7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[^]  Data Distribution &amp; Class Split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04672"/>
            <a:ext cx="1280160" cy="34747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Class Distribution  (* = Zero-Day)</a:t>
            </a:r>
          </a:p>
        </p:txBody>
      </p:sp>
      <p:sp>
        <p:nvSpPr>
          <p:cNvPr id="20" name="S20"/>
          <p:cNvSpPr>
            <a:spLocks noGrp="1"/>
          </p:cNvSpPr>
          <p:nvPr/>
        </p:nvSpPr>
        <p:spPr>
          <a:xfrm>
            <a:off x="228600" y="1188720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Normal</a:t>
            </a:r>
          </a:p>
        </p:txBody>
      </p:sp>
      <p:sp>
        <p:nvSpPr>
          <p:cNvPr id="40" name="S40"/>
          <p:cNvSpPr>
            <a:spLocks noGrp="1"/>
          </p:cNvSpPr>
          <p:nvPr/>
        </p:nvSpPr>
        <p:spPr>
          <a:xfrm>
            <a:off x="1508760" y="1188720"/>
            <a:ext cx="4389120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0E676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24,152</a:t>
            </a:r>
          </a:p>
        </p:txBody>
      </p:sp>
      <p:sp>
        <p:nvSpPr>
          <p:cNvPr id="21" name="S21"/>
          <p:cNvSpPr>
            <a:spLocks noGrp="1"/>
          </p:cNvSpPr>
          <p:nvPr/>
        </p:nvSpPr>
        <p:spPr>
          <a:xfrm>
            <a:off x="228600" y="1499616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DDoS_UDP</a:t>
            </a:r>
          </a:p>
        </p:txBody>
      </p:sp>
      <p:sp>
        <p:nvSpPr>
          <p:cNvPr id="41" name="S41"/>
          <p:cNvSpPr>
            <a:spLocks noGrp="1"/>
          </p:cNvSpPr>
          <p:nvPr/>
        </p:nvSpPr>
        <p:spPr>
          <a:xfrm>
            <a:off x="1508760" y="1499616"/>
            <a:ext cx="2634707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0C6FF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14,498</a:t>
            </a:r>
          </a:p>
        </p:txBody>
      </p:sp>
      <p:sp>
        <p:nvSpPr>
          <p:cNvPr id="22" name="S22"/>
          <p:cNvSpPr>
            <a:spLocks noGrp="1"/>
          </p:cNvSpPr>
          <p:nvPr/>
        </p:nvSpPr>
        <p:spPr>
          <a:xfrm>
            <a:off x="228600" y="1810512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DDoS_ICMP</a:t>
            </a:r>
          </a:p>
        </p:txBody>
      </p:sp>
      <p:sp>
        <p:nvSpPr>
          <p:cNvPr id="42" name="S42"/>
          <p:cNvSpPr>
            <a:spLocks noGrp="1"/>
          </p:cNvSpPr>
          <p:nvPr/>
        </p:nvSpPr>
        <p:spPr>
          <a:xfrm>
            <a:off x="1508760" y="1810512"/>
            <a:ext cx="2379923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0C6FF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13,096</a:t>
            </a:r>
          </a:p>
        </p:txBody>
      </p:sp>
      <p:sp>
        <p:nvSpPr>
          <p:cNvPr id="23" name="S23"/>
          <p:cNvSpPr>
            <a:spLocks noGrp="1"/>
          </p:cNvSpPr>
          <p:nvPr/>
        </p:nvSpPr>
        <p:spPr>
          <a:xfrm>
            <a:off x="228600" y="2121408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DDoS_HTTP</a:t>
            </a:r>
          </a:p>
        </p:txBody>
      </p:sp>
      <p:sp>
        <p:nvSpPr>
          <p:cNvPr id="43" name="S43"/>
          <p:cNvSpPr>
            <a:spLocks noGrp="1"/>
          </p:cNvSpPr>
          <p:nvPr/>
        </p:nvSpPr>
        <p:spPr>
          <a:xfrm>
            <a:off x="1508760" y="2121408"/>
            <a:ext cx="1918877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0C6FF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10,559</a:t>
            </a:r>
          </a:p>
        </p:txBody>
      </p:sp>
      <p:sp>
        <p:nvSpPr>
          <p:cNvPr id="24" name="S24"/>
          <p:cNvSpPr>
            <a:spLocks noGrp="1"/>
          </p:cNvSpPr>
          <p:nvPr/>
        </p:nvSpPr>
        <p:spPr>
          <a:xfrm>
            <a:off x="228600" y="2432304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SQL_Injection</a:t>
            </a:r>
          </a:p>
        </p:txBody>
      </p:sp>
      <p:sp>
        <p:nvSpPr>
          <p:cNvPr id="44" name="S44"/>
          <p:cNvSpPr>
            <a:spLocks noGrp="1"/>
          </p:cNvSpPr>
          <p:nvPr/>
        </p:nvSpPr>
        <p:spPr>
          <a:xfrm>
            <a:off x="1508760" y="2432304"/>
            <a:ext cx="1869265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7B2FBE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10,286</a:t>
            </a:r>
          </a:p>
        </p:txBody>
      </p:sp>
      <p:sp>
        <p:nvSpPr>
          <p:cNvPr id="25" name="S25"/>
          <p:cNvSpPr>
            <a:spLocks noGrp="1"/>
          </p:cNvSpPr>
          <p:nvPr/>
        </p:nvSpPr>
        <p:spPr>
          <a:xfrm>
            <a:off x="228600" y="2743200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DDoS_TCP</a:t>
            </a:r>
          </a:p>
        </p:txBody>
      </p:sp>
      <p:sp>
        <p:nvSpPr>
          <p:cNvPr id="45" name="S45"/>
          <p:cNvSpPr>
            <a:spLocks noGrp="1"/>
          </p:cNvSpPr>
          <p:nvPr/>
        </p:nvSpPr>
        <p:spPr>
          <a:xfrm>
            <a:off x="1508760" y="2743200"/>
            <a:ext cx="1862177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0C6FF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10,247</a:t>
            </a:r>
          </a:p>
        </p:txBody>
      </p:sp>
      <p:sp>
        <p:nvSpPr>
          <p:cNvPr id="26" name="S26"/>
          <p:cNvSpPr>
            <a:spLocks noGrp="1"/>
          </p:cNvSpPr>
          <p:nvPr/>
        </p:nvSpPr>
        <p:spPr>
          <a:xfrm>
            <a:off x="228600" y="3054096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Uploading*</a:t>
            </a:r>
          </a:p>
        </p:txBody>
      </p:sp>
      <p:sp>
        <p:nvSpPr>
          <p:cNvPr id="46" name="S46"/>
          <p:cNvSpPr>
            <a:spLocks noGrp="1"/>
          </p:cNvSpPr>
          <p:nvPr/>
        </p:nvSpPr>
        <p:spPr>
          <a:xfrm>
            <a:off x="1508760" y="3054096"/>
            <a:ext cx="1860360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FF6B35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10,237</a:t>
            </a:r>
          </a:p>
        </p:txBody>
      </p:sp>
      <p:sp>
        <p:nvSpPr>
          <p:cNvPr id="27" name="S27"/>
          <p:cNvSpPr>
            <a:spLocks noGrp="1"/>
          </p:cNvSpPr>
          <p:nvPr/>
        </p:nvSpPr>
        <p:spPr>
          <a:xfrm>
            <a:off x="228600" y="3364992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Vuln.Scanner*</a:t>
            </a:r>
          </a:p>
        </p:txBody>
      </p:sp>
      <p:sp>
        <p:nvSpPr>
          <p:cNvPr id="47" name="S47"/>
          <p:cNvSpPr>
            <a:spLocks noGrp="1"/>
          </p:cNvSpPr>
          <p:nvPr/>
        </p:nvSpPr>
        <p:spPr>
          <a:xfrm>
            <a:off x="1508760" y="3364992"/>
            <a:ext cx="1828557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FF6B35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10,062</a:t>
            </a:r>
          </a:p>
        </p:txBody>
      </p:sp>
      <p:sp>
        <p:nvSpPr>
          <p:cNvPr id="28" name="S28"/>
          <p:cNvSpPr>
            <a:spLocks noGrp="1"/>
          </p:cNvSpPr>
          <p:nvPr/>
        </p:nvSpPr>
        <p:spPr>
          <a:xfrm>
            <a:off x="228600" y="3675888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Password</a:t>
            </a:r>
          </a:p>
        </p:txBody>
      </p:sp>
      <p:sp>
        <p:nvSpPr>
          <p:cNvPr id="48" name="S48"/>
          <p:cNvSpPr>
            <a:spLocks noGrp="1"/>
          </p:cNvSpPr>
          <p:nvPr/>
        </p:nvSpPr>
        <p:spPr>
          <a:xfrm>
            <a:off x="1508760" y="3675888"/>
            <a:ext cx="1813292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7B2FBE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9,978</a:t>
            </a:r>
          </a:p>
        </p:txBody>
      </p:sp>
      <p:sp>
        <p:nvSpPr>
          <p:cNvPr id="29" name="S29"/>
          <p:cNvSpPr>
            <a:spLocks noGrp="1"/>
          </p:cNvSpPr>
          <p:nvPr/>
        </p:nvSpPr>
        <p:spPr>
          <a:xfrm>
            <a:off x="228600" y="3986784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Backdoor</a:t>
            </a:r>
          </a:p>
        </p:txBody>
      </p:sp>
      <p:sp>
        <p:nvSpPr>
          <p:cNvPr id="49" name="S49"/>
          <p:cNvSpPr>
            <a:spLocks noGrp="1"/>
          </p:cNvSpPr>
          <p:nvPr/>
        </p:nvSpPr>
        <p:spPr>
          <a:xfrm>
            <a:off x="1508760" y="3986784"/>
            <a:ext cx="1792938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7B2FBE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9,866</a:t>
            </a:r>
          </a:p>
        </p:txBody>
      </p:sp>
      <p:sp>
        <p:nvSpPr>
          <p:cNvPr id="30" name="S30"/>
          <p:cNvSpPr>
            <a:spLocks noGrp="1"/>
          </p:cNvSpPr>
          <p:nvPr/>
        </p:nvSpPr>
        <p:spPr>
          <a:xfrm>
            <a:off x="228600" y="4297680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Ransomware</a:t>
            </a:r>
          </a:p>
        </p:txBody>
      </p:sp>
      <p:sp>
        <p:nvSpPr>
          <p:cNvPr id="50" name="S50"/>
          <p:cNvSpPr>
            <a:spLocks noGrp="1"/>
          </p:cNvSpPr>
          <p:nvPr/>
        </p:nvSpPr>
        <p:spPr>
          <a:xfrm>
            <a:off x="1508760" y="4297680"/>
            <a:ext cx="1760954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7B2FBE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9,690</a:t>
            </a:r>
          </a:p>
        </p:txBody>
      </p:sp>
      <p:sp>
        <p:nvSpPr>
          <p:cNvPr id="31" name="S31"/>
          <p:cNvSpPr>
            <a:spLocks noGrp="1"/>
          </p:cNvSpPr>
          <p:nvPr/>
        </p:nvSpPr>
        <p:spPr>
          <a:xfrm>
            <a:off x="228600" y="4608576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XSS*</a:t>
            </a:r>
          </a:p>
        </p:txBody>
      </p:sp>
      <p:sp>
        <p:nvSpPr>
          <p:cNvPr id="51" name="S51"/>
          <p:cNvSpPr>
            <a:spLocks noGrp="1"/>
          </p:cNvSpPr>
          <p:nvPr/>
        </p:nvSpPr>
        <p:spPr>
          <a:xfrm>
            <a:off x="1508760" y="4608576"/>
            <a:ext cx="1735512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FF6B35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9,550</a:t>
            </a:r>
          </a:p>
        </p:txBody>
      </p:sp>
      <p:sp>
        <p:nvSpPr>
          <p:cNvPr id="32" name="S32"/>
          <p:cNvSpPr>
            <a:spLocks noGrp="1"/>
          </p:cNvSpPr>
          <p:nvPr/>
        </p:nvSpPr>
        <p:spPr>
          <a:xfrm>
            <a:off x="228600" y="4919472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Port_Scanning</a:t>
            </a:r>
          </a:p>
        </p:txBody>
      </p:sp>
      <p:sp>
        <p:nvSpPr>
          <p:cNvPr id="52" name="S52"/>
          <p:cNvSpPr>
            <a:spLocks noGrp="1"/>
          </p:cNvSpPr>
          <p:nvPr/>
        </p:nvSpPr>
        <p:spPr>
          <a:xfrm>
            <a:off x="1508760" y="4919472"/>
            <a:ext cx="1621204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7B2FBE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8,921</a:t>
            </a:r>
          </a:p>
        </p:txBody>
      </p:sp>
      <p:sp>
        <p:nvSpPr>
          <p:cNvPr id="33" name="S33"/>
          <p:cNvSpPr>
            <a:spLocks noGrp="1"/>
          </p:cNvSpPr>
          <p:nvPr/>
        </p:nvSpPr>
        <p:spPr>
          <a:xfrm>
            <a:off x="228600" y="5230368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Fingerprinting*</a:t>
            </a:r>
          </a:p>
        </p:txBody>
      </p:sp>
      <p:sp>
        <p:nvSpPr>
          <p:cNvPr id="53" name="S53"/>
          <p:cNvSpPr>
            <a:spLocks noGrp="1"/>
          </p:cNvSpPr>
          <p:nvPr/>
        </p:nvSpPr>
        <p:spPr>
          <a:xfrm>
            <a:off x="1508760" y="5230368"/>
            <a:ext cx="155014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FF1744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853</a:t>
            </a:r>
          </a:p>
        </p:txBody>
      </p:sp>
      <p:sp>
        <p:nvSpPr>
          <p:cNvPr id="34" name="S34"/>
          <p:cNvSpPr>
            <a:spLocks noGrp="1"/>
          </p:cNvSpPr>
          <p:nvPr/>
        </p:nvSpPr>
        <p:spPr>
          <a:xfrm>
            <a:off x="228600" y="5541264"/>
            <a:ext cx="1234440" cy="25603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MITM*</a:t>
            </a:r>
          </a:p>
        </p:txBody>
      </p:sp>
      <p:sp>
        <p:nvSpPr>
          <p:cNvPr id="54" name="S54"/>
          <p:cNvSpPr>
            <a:spLocks noGrp="1"/>
          </p:cNvSpPr>
          <p:nvPr/>
        </p:nvSpPr>
        <p:spPr>
          <a:xfrm>
            <a:off x="1508760" y="5541264"/>
            <a:ext cx="137160" cy="24688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FF1744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950" b="0" i="0" dirty="0">
                <a:solidFill>
                  <a:srgbClr val="FFFFFF"/>
                </a:solidFill>
                <a:latin typeface="Calibri"/>
              </a:rPr>
              <a:t>394</a:t>
            </a:r>
          </a:p>
        </p:txBody>
      </p:sp>
      <p:sp>
        <p:nvSpPr>
          <p:cNvPr id="60" name="S60"/>
          <p:cNvSpPr>
            <a:spLocks noGrp="1"/>
          </p:cNvSpPr>
          <p:nvPr/>
        </p:nvSpPr>
        <p:spPr>
          <a:xfrm>
            <a:off x="6172200" y="804672"/>
            <a:ext cx="4754880" cy="52578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FFD600"/>
                </a:solidFill>
                <a:latin typeface="Calibri"/>
              </a:rPr>
              <a:t>Key Observations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[~]  84% attacks    16% normal (class imbalance)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   --&gt; Accuracy alone is a misleading metric.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[S]  DDoS_UDP (14,498) vs MITM (394)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   --&gt; 37:1 ratio — models struggle on rare classes.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C6FF"/>
                </a:solidFill>
                <a:latin typeface="Calibri"/>
              </a:rPr>
              <a:t>[&gt;&gt;]  Critical Design Decision: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   5 zero-day classes chosen to represent diverse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   attack vectors: web attacks (XSS), recon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   (Fingerprinting, Vuln.Scan), exfiltration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   (Uploading), interception (MITM).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150" b="0" i="1" dirty="0">
                <a:solidFill>
                  <a:srgbClr val="B0BEC5"/>
                </a:solidFill>
                <a:latin typeface="Calibri"/>
              </a:rPr>
              <a:t>[!]  If even one zero-day sample were included</a:t>
            </a:r>
          </a:p>
          <a:p>
            <a:pPr algn="l">
              <a:lnSpc>
                <a:spcPct val="100000"/>
              </a:lnSpc>
            </a:pPr>
            <a:r>
              <a:rPr lang="en-US" sz="1150" b="0" i="1" dirty="0">
                <a:solidFill>
                  <a:srgbClr val="B0BEC5"/>
                </a:solidFill>
                <a:latin typeface="Calibri"/>
              </a:rPr>
              <a:t>   in training, the evaluation would be invalid.</a:t>
            </a:r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8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[P]️  Data Preprocessing Pipeline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41248"/>
            <a:ext cx="2011680" cy="169164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00C6FF"/>
                </a:solidFill>
                <a:latin typeface="Calibri"/>
              </a:rPr>
              <a:t>① Load Raw CSV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157,800 x 63 cols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ML-EdgeIIoT-dataset.csv</a:t>
            </a:r>
          </a:p>
        </p:txBody>
      </p:sp>
      <p:sp>
        <p:nvSpPr>
          <p:cNvPr id="20" name="L20"/>
          <p:cNvSpPr/>
          <p:nvPr/>
        </p:nvSpPr>
        <p:spPr>
          <a:xfrm flipH="0" flipV="0">
            <a:off x="2240280" y="1682496"/>
            <a:ext cx="365760" cy="1"/>
          </a:xfrm>
          <a:prstGeom prst="line">
            <a:avLst/>
          </a:prstGeom>
          <a:noFill/>
          <a:ln w="34925">
            <a:solidFill>
              <a:srgbClr val="00C6FF"/>
            </a:solidFill>
          </a:ln>
        </p:spPr>
        <p:txBody>
          <a:bodyPr/>
          <a:lstStyle/>
          <a:p/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2377440" y="841248"/>
            <a:ext cx="2011680" cy="169164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7B2FBE"/>
                </a:solidFill>
                <a:latin typeface="Calibri"/>
              </a:rPr>
              <a:t>② Drop Columns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63 --&gt; 53 features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Remove IPs    timestamps    URIs</a:t>
            </a:r>
          </a:p>
        </p:txBody>
      </p:sp>
      <p:sp>
        <p:nvSpPr>
          <p:cNvPr id="21" name="L21"/>
          <p:cNvSpPr/>
          <p:nvPr/>
        </p:nvSpPr>
        <p:spPr>
          <a:xfrm flipH="0" flipV="0">
            <a:off x="4389120" y="1682496"/>
            <a:ext cx="365760" cy="1"/>
          </a:xfrm>
          <a:prstGeom prst="line">
            <a:avLst/>
          </a:prstGeom>
          <a:noFill/>
          <a:ln w="34925">
            <a:solidFill>
              <a:srgbClr val="7B2FBE"/>
            </a:solidFill>
          </a:ln>
        </p:spPr>
        <p:txBody>
          <a:bodyPr/>
          <a:lstStyle/>
          <a:p/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4526280" y="841248"/>
            <a:ext cx="2011680" cy="169164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FF6B35"/>
                </a:solidFill>
                <a:latin typeface="Calibri"/>
              </a:rPr>
              <a:t>③ Clean Data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157,800 --&gt; 152,389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Drop nulls &amp; duplicates</a:t>
            </a:r>
          </a:p>
        </p:txBody>
      </p:sp>
      <p:sp>
        <p:nvSpPr>
          <p:cNvPr id="22" name="L22"/>
          <p:cNvSpPr/>
          <p:nvPr/>
        </p:nvSpPr>
        <p:spPr>
          <a:xfrm flipH="0" flipV="0">
            <a:off x="6537960" y="1682496"/>
            <a:ext cx="365760" cy="1"/>
          </a:xfrm>
          <a:prstGeom prst="line">
            <a:avLst/>
          </a:prstGeom>
          <a:noFill/>
          <a:ln w="34925">
            <a:solidFill>
              <a:srgbClr val="FF6B35"/>
            </a:solidFill>
          </a:ln>
        </p:spPr>
        <p:txBody>
          <a:bodyPr/>
          <a:lstStyle/>
          <a:p/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6675120" y="841248"/>
            <a:ext cx="2011680" cy="169164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00E676"/>
                </a:solidFill>
                <a:latin typeface="Calibri"/>
              </a:rPr>
              <a:t>④ Encode &amp; Optimise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Label-encode text cols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float64--&gt;float32 (-50% RAM)</a:t>
            </a:r>
          </a:p>
        </p:txBody>
      </p:sp>
      <p:sp>
        <p:nvSpPr>
          <p:cNvPr id="23" name="L23"/>
          <p:cNvSpPr/>
          <p:nvPr/>
        </p:nvSpPr>
        <p:spPr>
          <a:xfrm flipH="0" flipV="0">
            <a:off x="8686800" y="1682496"/>
            <a:ext cx="365760" cy="1"/>
          </a:xfrm>
          <a:prstGeom prst="line">
            <a:avLst/>
          </a:prstGeom>
          <a:noFill/>
          <a:ln w="34925">
            <a:solidFill>
              <a:srgbClr val="00E676"/>
            </a:solidFill>
          </a:ln>
        </p:spPr>
        <p:txBody>
          <a:bodyPr/>
          <a:lstStyle/>
          <a:p/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8823960" y="841248"/>
            <a:ext cx="2011680" cy="169164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FFD600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FFD600"/>
                </a:solidFill>
                <a:latin typeface="Calibri"/>
              </a:rPr>
              <a:t>⑤ Split Dataset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Known: 121,293 rows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Zero-day: 31,096 rows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228600" y="2715768"/>
            <a:ext cx="11734800" cy="1371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2137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C6FF"/>
                </a:solidFill>
                <a:latin typeface="Calibri"/>
              </a:rPr>
              <a:t>⑥ StandardScaler  — Fitted ONLY on Normal Traffic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Formula:  z = (x − mean) / std_dev   --&gt;   All 51 features scaled to ~[-3, +3]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Why normal-only? Contaminating with attack stats would corrupt the Autoencoder's normalcy baseline.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Saved as scaler.pkl — shared by ALL subsequent notebooks to ensure pipeline consistency.</a:t>
            </a:r>
          </a:p>
        </p:txBody>
      </p:sp>
      <p:sp>
        <p:nvSpPr>
          <p:cNvPr id="16" name="S16"/>
          <p:cNvSpPr>
            <a:spLocks noGrp="1"/>
          </p:cNvSpPr>
          <p:nvPr/>
        </p:nvSpPr>
        <p:spPr>
          <a:xfrm>
            <a:off x="228600" y="4224528"/>
            <a:ext cx="6537960" cy="18288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7001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450" b="1" i="0" dirty="0">
                <a:solidFill>
                  <a:srgbClr val="7B2FBE"/>
                </a:solidFill>
                <a:latin typeface="Calibri"/>
              </a:rPr>
              <a:t>Why These Columns Were Dropped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ip.src/dst_host --&gt; IP addresses encode identity, not behaviour. Model would overfit to attacker IPs.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frame.time --&gt; Timestamps encode when, not what. A new attack at a different time would be missed.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http.file_data / request.full_uri --&gt; Raw free-text fields need NLP — beyond project scope.</a:t>
            </a:r>
          </a:p>
        </p:txBody>
      </p:sp>
      <p:sp>
        <p:nvSpPr>
          <p:cNvPr id="17" name="S17"/>
          <p:cNvSpPr>
            <a:spLocks noGrp="1"/>
          </p:cNvSpPr>
          <p:nvPr/>
        </p:nvSpPr>
        <p:spPr>
          <a:xfrm>
            <a:off x="6903720" y="4224528"/>
            <a:ext cx="4023360" cy="18288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450" b="1" i="0" dirty="0">
                <a:solidFill>
                  <a:srgbClr val="00E676"/>
                </a:solidFill>
                <a:latin typeface="Calibri"/>
              </a:rPr>
              <a:t>Outputs (Parquet — 10x smaller than CSV)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master_clean.parquet      known_train.parquet      zero_day_test.parquet      scaler.pkl</a:t>
            </a:r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9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[D]️  System Architecture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914400"/>
            <a:ext cx="1965960" cy="105156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00C6FF"/>
                </a:solidFill>
                <a:latin typeface="Calibri"/>
              </a:rPr>
              <a:t>RAW IoT TRAFFIC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157,800 packets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228600" y="2240280"/>
            <a:ext cx="1965960" cy="105156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7B2FBE"/>
                </a:solidFill>
                <a:latin typeface="Calibri"/>
              </a:rPr>
              <a:t>PREPROCESSING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Clean  Encode  Scale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2468880" y="1417320"/>
            <a:ext cx="2194560" cy="237744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00E676"/>
                </a:solidFill>
                <a:latin typeface="Calibri"/>
              </a:rPr>
              <a:t>LightGBM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Known Attacks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10 classes    99.99%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4846320" y="1417320"/>
            <a:ext cx="2194560" cy="237744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7B2FBE"/>
                </a:solidFill>
                <a:latin typeface="Calibri"/>
              </a:rPr>
              <a:t>Autoencoder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Zero-Day Detector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Recon error    99.19%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7223760" y="1417320"/>
            <a:ext cx="1965960" cy="237744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FF6B35"/>
                </a:solidFill>
                <a:latin typeface="Calibri"/>
              </a:rPr>
              <a:t>FUSION MODEL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Confidence routing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96.82% accuracy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9418320" y="1828800"/>
            <a:ext cx="1508760" cy="15544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7780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00C6FF"/>
                </a:solidFill>
                <a:latin typeface="Calibri"/>
              </a:rPr>
              <a:t>OUTPUT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Normal / Attack</a:t>
            </a:r>
          </a:p>
        </p:txBody>
      </p:sp>
      <p:sp>
        <p:nvSpPr>
          <p:cNvPr id="30" name="L30"/>
          <p:cNvSpPr/>
          <p:nvPr/>
        </p:nvSpPr>
        <p:spPr>
          <a:xfrm flipH="0" flipV="0">
            <a:off x="1216152" y="1965960"/>
            <a:ext cx="1" cy="274320"/>
          </a:xfrm>
          <a:prstGeom prst="line">
            <a:avLst/>
          </a:prstGeom>
          <a:noFill/>
          <a:ln w="34925">
            <a:solidFill>
              <a:srgbClr val="00C6FF"/>
            </a:solidFill>
          </a:ln>
        </p:spPr>
        <p:txBody>
          <a:bodyPr/>
          <a:lstStyle/>
          <a:p/>
        </p:txBody>
      </p:sp>
      <p:sp>
        <p:nvSpPr>
          <p:cNvPr id="31" name="L31"/>
          <p:cNvSpPr/>
          <p:nvPr/>
        </p:nvSpPr>
        <p:spPr>
          <a:xfrm flipH="0" flipV="1">
            <a:off x="2194560" y="2606040"/>
            <a:ext cx="274320" cy="155448"/>
          </a:xfrm>
          <a:prstGeom prst="line">
            <a:avLst/>
          </a:prstGeom>
          <a:noFill/>
          <a:ln w="22225">
            <a:solidFill>
              <a:srgbClr val="00C6FF"/>
            </a:solidFill>
          </a:ln>
        </p:spPr>
        <p:txBody>
          <a:bodyPr/>
          <a:lstStyle/>
          <a:p/>
        </p:txBody>
      </p:sp>
      <p:sp>
        <p:nvSpPr>
          <p:cNvPr id="32" name="L32"/>
          <p:cNvSpPr/>
          <p:nvPr/>
        </p:nvSpPr>
        <p:spPr>
          <a:xfrm flipH="0" flipV="1">
            <a:off x="2194560" y="2606040"/>
            <a:ext cx="2651760" cy="155448"/>
          </a:xfrm>
          <a:prstGeom prst="line">
            <a:avLst/>
          </a:prstGeom>
          <a:noFill/>
          <a:ln w="22225">
            <a:solidFill>
              <a:srgbClr val="7B2FBE"/>
            </a:solidFill>
          </a:ln>
        </p:spPr>
        <p:txBody>
          <a:bodyPr/>
          <a:lstStyle/>
          <a:p/>
        </p:txBody>
      </p:sp>
      <p:sp>
        <p:nvSpPr>
          <p:cNvPr id="33" name="L33"/>
          <p:cNvSpPr/>
          <p:nvPr/>
        </p:nvSpPr>
        <p:spPr>
          <a:xfrm flipH="0" flipV="0">
            <a:off x="4663440" y="2606040"/>
            <a:ext cx="2560320" cy="1"/>
          </a:xfrm>
          <a:prstGeom prst="line">
            <a:avLst/>
          </a:prstGeom>
          <a:noFill/>
          <a:ln w="22225">
            <a:solidFill>
              <a:srgbClr val="00E676"/>
            </a:solidFill>
          </a:ln>
        </p:spPr>
        <p:txBody>
          <a:bodyPr/>
          <a:lstStyle/>
          <a:p/>
        </p:txBody>
      </p:sp>
      <p:sp>
        <p:nvSpPr>
          <p:cNvPr id="34" name="L34"/>
          <p:cNvSpPr/>
          <p:nvPr/>
        </p:nvSpPr>
        <p:spPr>
          <a:xfrm flipH="0" flipV="0">
            <a:off x="7040880" y="2606040"/>
            <a:ext cx="182880" cy="1"/>
          </a:xfrm>
          <a:prstGeom prst="line">
            <a:avLst/>
          </a:prstGeom>
          <a:noFill/>
          <a:ln w="22225">
            <a:solidFill>
              <a:srgbClr val="7B2FBE"/>
            </a:solidFill>
          </a:ln>
        </p:spPr>
        <p:txBody>
          <a:bodyPr/>
          <a:lstStyle/>
          <a:p/>
        </p:txBody>
      </p:sp>
      <p:sp>
        <p:nvSpPr>
          <p:cNvPr id="35" name="L35"/>
          <p:cNvSpPr/>
          <p:nvPr/>
        </p:nvSpPr>
        <p:spPr>
          <a:xfrm flipH="0" flipV="0">
            <a:off x="9189720" y="2606040"/>
            <a:ext cx="228600" cy="1"/>
          </a:xfrm>
          <a:prstGeom prst="line">
            <a:avLst/>
          </a:prstGeom>
          <a:noFill/>
          <a:ln w="22225">
            <a:solidFill>
              <a:srgbClr val="FF6B35"/>
            </a:solidFill>
          </a:ln>
        </p:spPr>
        <p:txBody>
          <a:bodyPr/>
          <a:lstStyle/>
          <a:p/>
        </p:txBody>
      </p:sp>
      <p:sp>
        <p:nvSpPr>
          <p:cNvPr id="36" name="S36"/>
          <p:cNvSpPr>
            <a:spLocks noGrp="1"/>
          </p:cNvSpPr>
          <p:nvPr/>
        </p:nvSpPr>
        <p:spPr>
          <a:xfrm>
            <a:off x="228600" y="3977639"/>
            <a:ext cx="11734800" cy="11887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0800"/>
              </a:gs>
              <a:gs pos="100000">
                <a:srgbClr val="0D1B2A"/>
              </a:gs>
            </a:gsLst>
            <a:lin ang="5400000" scaled="0"/>
          </a:gradFill>
          <a:ln w="17780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FF6B35"/>
                </a:solidFill>
                <a:latin typeface="Calibri"/>
              </a:rPr>
              <a:t>Fusion Decision Logic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IF  LightGBM(confidence for Normal) &gt;= 90%  --&gt;  Label = Normal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ELSE  --&gt;  Compute Autoencoder reconstruction error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B0BEC5"/>
                </a:solidFill>
                <a:latin typeface="Calibri"/>
              </a:rPr>
              <a:t>         IF  error &gt; 0.0122  --&gt;  Label = Attack  ELSE  --&gt;  Label = Normal</a:t>
            </a:r>
          </a:p>
        </p:txBody>
      </p:sp>
      <p:sp>
        <p:nvSpPr>
          <p:cNvPr id="37" name="S37"/>
          <p:cNvSpPr>
            <a:spLocks noGrp="1"/>
          </p:cNvSpPr>
          <p:nvPr/>
        </p:nvSpPr>
        <p:spPr>
          <a:xfrm>
            <a:off x="228600" y="5303520"/>
            <a:ext cx="11734800" cy="713232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0A001A"/>
              </a:gs>
              <a:gs pos="100000">
                <a:srgbClr val="060B18"/>
              </a:gs>
            </a:gsLst>
            <a:lin ang="5400000" scaled="0"/>
          </a:gradFill>
          <a:ln w="9525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50" b="0" i="0" dirty="0">
                <a:solidFill>
                  <a:srgbClr val="00C6FF"/>
                </a:solidFill>
                <a:latin typeface="Calibri"/>
              </a:rPr>
              <a:t>[i]  Three-layer defence: Supervised precision + Unsupervised zero-day coverage + Intelligent routing</a:t>
            </a:r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10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[T]  LightGBM — Model &amp; Training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22960"/>
            <a:ext cx="5029200" cy="52578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00E676"/>
                </a:solidFill>
                <a:latin typeface="Calibri"/>
              </a:rPr>
              <a:t>What is LightGBM?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Gradient Boosted Decision Tree by Microsoft Research (2017).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Grows trees leaf-by-leaf (not level-by-level) — better accuracy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for the same num of leaves. Histogram binning for fast splits.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>Why for IoT IDS?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[v]  Trains 300 trees on 97k rows in ~35 seconds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[v]  Handles class imbalance natively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[v]  Feature importance output for interpretability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[v]  Millisecond inference — suitable for real-time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[v]  No feature scaling required (tree-invariant)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5394960" y="822960"/>
            <a:ext cx="2743200" cy="52578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C6FF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00C6FF"/>
                </a:solidFill>
                <a:latin typeface="Calibri"/>
              </a:rPr>
              <a:t>Hyperparameters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n_estimators:  300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learning_rate:  0.05  (stable convergence)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max_depth:  10  (up to 1,024 leaf nodes)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num_leaves:  50  (leaf-wise growth cap)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objective:  multiclass  (softmax output)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subsample:  0.8  (row bagging)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colsample_bytree:  0.8  (feature bagging)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random_state:  42  (reproducibility)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8275320" y="822960"/>
            <a:ext cx="2743200" cy="52578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7001A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7B2FBE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7B2FBE"/>
                </a:solidFill>
                <a:latin typeface="Calibri"/>
              </a:rPr>
              <a:t>Training Data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Train: 97,034 samples (80%)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Test:  24,259 samples (20%)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Features: 51 network packet fields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Classes: 10 (Normal + 9 attack types)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Stratified split ensures each class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appears in same proportion in train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and test sets (essential for rare classes).</a:t>
            </a:r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11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[S]  LightGBM — Results &amp; Per-Class F1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04672"/>
            <a:ext cx="237744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E676"/>
                </a:solidFill>
                <a:latin typeface="Calibri"/>
              </a:rPr>
              <a:t>99.99%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Overall Accuracy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2788920" y="804672"/>
            <a:ext cx="237744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C6FF"/>
                </a:solidFill>
                <a:latin typeface="Calibri"/>
              </a:rPr>
              <a:t>99.98%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Macro Precision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5349240" y="804672"/>
            <a:ext cx="237744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7B2FBE"/>
                </a:solidFill>
                <a:latin typeface="Calibri"/>
              </a:rPr>
              <a:t>99.99%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Macro Recall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7909560" y="804672"/>
            <a:ext cx="301752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FF6B35"/>
                </a:solidFill>
                <a:latin typeface="Calibri"/>
              </a:rPr>
              <a:t>~3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Total Misclassifications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228600" y="2286000"/>
            <a:ext cx="11734800" cy="37033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200" b="1" i="0" dirty="0">
                <a:solidFill>
                  <a:srgbClr val="00C6FF"/>
                </a:solidFill>
                <a:latin typeface="Calibri"/>
              </a:rPr>
              <a:t>Class               Support   Prec.   Recall   F1</a:t>
            </a:r>
          </a:p>
          <p:sp>
            <p:nvSpPr>
              <p:cNvPr id="30" name="L30"/>
              <p:cNvSpPr/>
              <p:nvPr/>
            </p:nvSpPr>
            <p:spPr>
              <a:xfrm flipH="0" flipV="0">
                <a:off x="228600" y="3383280"/>
                <a:ext cx="10652760" cy="1"/>
              </a:xfrm>
              <a:prstGeom prst="line">
                <a:avLst/>
              </a:prstGeom>
              <a:noFill/>
              <a:ln w="9525">
                <a:solidFill>
                  <a:srgbClr val="00C6FF"/>
                </a:solidFill>
              </a:ln>
            </p:spPr>
            <p:txBody>
              <a:bodyPr/>
              <a:lstStyle/>
              <a:p/>
            </p:txBody>
          </p:s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E676"/>
                </a:solidFill>
                <a:latin typeface="Calibri"/>
              </a:rPr>
              <a:t>  Backdoor                1973   1.0000   0.9995   0.9997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E676"/>
                </a:solidFill>
                <a:latin typeface="Calibri"/>
              </a:rPr>
              <a:t>  DDoS_HTTP               2112   1.0000   1.0000   1.0000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E676"/>
                </a:solidFill>
                <a:latin typeface="Calibri"/>
              </a:rPr>
              <a:t>  DDoS_ICMP               2619   1.0000   1.0000   1.0000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E676"/>
                </a:solidFill>
                <a:latin typeface="Calibri"/>
              </a:rPr>
              <a:t>  DDoS_TCP                2049   1.0000   1.0000   1.0000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E676"/>
                </a:solidFill>
                <a:latin typeface="Calibri"/>
              </a:rPr>
              <a:t>  DDoS_UDP                2900   1.0000   1.0000   1.0000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E676"/>
                </a:solidFill>
                <a:latin typeface="Calibri"/>
              </a:rPr>
              <a:t>  Normal                  4831   1.0000   1.0000   1.0000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C6FF"/>
                </a:solidFill>
                <a:latin typeface="Calibri"/>
              </a:rPr>
              <a:t>  Password                1996   0.9995   1.0000   0.9997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C6FF"/>
                </a:solidFill>
                <a:latin typeface="Calibri"/>
              </a:rPr>
              <a:t>  Port_Scanning           1784   0.9994   1.0000   0.9997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C6FF"/>
                </a:solidFill>
                <a:latin typeface="Calibri"/>
              </a:rPr>
              <a:t>  Ransomware              1938   0.9995   1.0000   0.9997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C6FF"/>
                </a:solidFill>
                <a:latin typeface="Calibri"/>
              </a:rPr>
              <a:t>  SQL_Injection           2057   1.0000   0.9995   0.9997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228600" y="6108192"/>
            <a:ext cx="11734800" cy="658368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001A00"/>
              </a:gs>
              <a:gs pos="100000">
                <a:srgbClr val="060B18"/>
              </a:gs>
            </a:gsLst>
            <a:lin ang="5400000" scaled="0"/>
          </a:gradFill>
          <a:ln w="9525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[i]  Training warning 'No further splits with positive gain' = model converged perfectly. Not an error — the data is cleanly separable.</a:t>
            </a:r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12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[A]  Autoencoder — Architecture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365760" y="868680"/>
            <a:ext cx="1005840" cy="15544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4288">
            <a:solidFill>
              <a:srgbClr val="B0BEC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1" i="0" dirty="0">
                <a:solidFill>
                  <a:srgbClr val="B0BEC5"/>
                </a:solidFill>
                <a:latin typeface="Calibri"/>
              </a:rPr>
              <a:t>Input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51 neurons</a:t>
            </a:r>
          </a:p>
          <a:p>
            <a:pPr algn="ctr">
              <a:lnSpc>
                <a:spcPct val="100000"/>
              </a:lnSpc>
            </a:pPr>
            <a:r>
              <a:rPr lang="en-US" sz="950" b="0" i="0" dirty="0">
                <a:solidFill>
                  <a:srgbClr val="B0BEC5"/>
                </a:solidFill>
                <a:latin typeface="Calibri"/>
              </a:rPr>
              <a:t>One per feature</a:t>
            </a:r>
          </a:p>
        </p:txBody>
      </p:sp>
      <p:sp>
        <p:nvSpPr>
          <p:cNvPr id="30" name="L30"/>
          <p:cNvSpPr/>
          <p:nvPr/>
        </p:nvSpPr>
        <p:spPr>
          <a:xfrm flipH="0" flipV="0">
            <a:off x="1371600" y="1645920"/>
            <a:ext cx="137160" cy="1"/>
          </a:xfrm>
          <a:prstGeom prst="line">
            <a:avLst/>
          </a:prstGeom>
          <a:noFill/>
          <a:ln w="22225">
            <a:solidFill>
              <a:srgbClr val="B0BEC5"/>
            </a:solidFill>
          </a:ln>
        </p:spPr>
        <p:txBody>
          <a:bodyPr/>
          <a:lstStyle/>
          <a:p/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1508760" y="868680"/>
            <a:ext cx="1005840" cy="15544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4288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1" i="0" dirty="0">
                <a:solidFill>
                  <a:srgbClr val="00C6FF"/>
                </a:solidFill>
                <a:latin typeface="Calibri"/>
              </a:rPr>
              <a:t>Dense(64)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64 neurons</a:t>
            </a:r>
          </a:p>
          <a:p>
            <a:pPr algn="ctr">
              <a:lnSpc>
                <a:spcPct val="100000"/>
              </a:lnSpc>
            </a:pPr>
            <a:r>
              <a:rPr lang="en-US" sz="950" b="0" i="0" dirty="0">
                <a:solidFill>
                  <a:srgbClr val="B0BEC5"/>
                </a:solidFill>
                <a:latin typeface="Calibri"/>
              </a:rPr>
              <a:t>Encoder expands</a:t>
            </a:r>
          </a:p>
        </p:txBody>
      </p:sp>
      <p:sp>
        <p:nvSpPr>
          <p:cNvPr id="31" name="L31"/>
          <p:cNvSpPr/>
          <p:nvPr/>
        </p:nvSpPr>
        <p:spPr>
          <a:xfrm flipH="0" flipV="0">
            <a:off x="2514600" y="1645920"/>
            <a:ext cx="137160" cy="1"/>
          </a:xfrm>
          <a:prstGeom prst="line">
            <a:avLst/>
          </a:prstGeom>
          <a:noFill/>
          <a:ln w="22225">
            <a:solidFill>
              <a:srgbClr val="00C6FF"/>
            </a:solidFill>
          </a:ln>
        </p:spPr>
        <p:txBody>
          <a:bodyPr/>
          <a:lstStyle/>
          <a:p/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2651760" y="868680"/>
            <a:ext cx="1005840" cy="15544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4288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1" i="0" dirty="0">
                <a:solidFill>
                  <a:srgbClr val="00C6FF"/>
                </a:solidFill>
                <a:latin typeface="Calibri"/>
              </a:rPr>
              <a:t>Dense(32)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32 neurons</a:t>
            </a:r>
          </a:p>
          <a:p>
            <a:pPr algn="ctr">
              <a:lnSpc>
                <a:spcPct val="100000"/>
              </a:lnSpc>
            </a:pPr>
            <a:r>
              <a:rPr lang="en-US" sz="950" b="0" i="0" dirty="0">
                <a:solidFill>
                  <a:srgbClr val="B0BEC5"/>
                </a:solidFill>
                <a:latin typeface="Calibri"/>
              </a:rPr>
              <a:t>Compression</a:t>
            </a:r>
          </a:p>
        </p:txBody>
      </p:sp>
      <p:sp>
        <p:nvSpPr>
          <p:cNvPr id="32" name="L32"/>
          <p:cNvSpPr/>
          <p:nvPr/>
        </p:nvSpPr>
        <p:spPr>
          <a:xfrm flipH="0" flipV="0">
            <a:off x="3657600" y="1645920"/>
            <a:ext cx="137160" cy="1"/>
          </a:xfrm>
          <a:prstGeom prst="line">
            <a:avLst/>
          </a:prstGeom>
          <a:noFill/>
          <a:ln w="22225">
            <a:solidFill>
              <a:srgbClr val="00C6FF"/>
            </a:solidFill>
          </a:ln>
        </p:spPr>
        <p:txBody>
          <a:bodyPr/>
          <a:lstStyle/>
          <a:p/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3794760" y="868680"/>
            <a:ext cx="1005840" cy="15544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4288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1" i="0" dirty="0">
                <a:solidFill>
                  <a:srgbClr val="7B2FBE"/>
                </a:solidFill>
                <a:latin typeface="Calibri"/>
              </a:rPr>
              <a:t>Bottleneck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16 neurons</a:t>
            </a:r>
          </a:p>
          <a:p>
            <a:pPr algn="ctr">
              <a:lnSpc>
                <a:spcPct val="100000"/>
              </a:lnSpc>
            </a:pPr>
            <a:r>
              <a:rPr lang="en-US" sz="950" b="0" i="0" dirty="0">
                <a:solidFill>
                  <a:srgbClr val="B0BEC5"/>
                </a:solidFill>
                <a:latin typeface="Calibri"/>
              </a:rPr>
              <a:t>Max compression 3:1</a:t>
            </a:r>
          </a:p>
        </p:txBody>
      </p:sp>
      <p:sp>
        <p:nvSpPr>
          <p:cNvPr id="33" name="L33"/>
          <p:cNvSpPr/>
          <p:nvPr/>
        </p:nvSpPr>
        <p:spPr>
          <a:xfrm flipH="0" flipV="0">
            <a:off x="4800600" y="1645920"/>
            <a:ext cx="137160" cy="1"/>
          </a:xfrm>
          <a:prstGeom prst="line">
            <a:avLst/>
          </a:prstGeom>
          <a:noFill/>
          <a:ln w="22225">
            <a:solidFill>
              <a:srgbClr val="7B2FBE"/>
            </a:solidFill>
          </a:ln>
        </p:spPr>
        <p:txBody>
          <a:bodyPr/>
          <a:lstStyle/>
          <a:p/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4937760" y="868680"/>
            <a:ext cx="1005840" cy="15544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4288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1" i="0" dirty="0">
                <a:solidFill>
                  <a:srgbClr val="FF6B35"/>
                </a:solidFill>
                <a:latin typeface="Calibri"/>
              </a:rPr>
              <a:t>Dense(32)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32 neurons</a:t>
            </a:r>
          </a:p>
          <a:p>
            <a:pPr algn="ctr">
              <a:lnSpc>
                <a:spcPct val="100000"/>
              </a:lnSpc>
            </a:pPr>
            <a:r>
              <a:rPr lang="en-US" sz="950" b="0" i="0" dirty="0">
                <a:solidFill>
                  <a:srgbClr val="B0BEC5"/>
                </a:solidFill>
                <a:latin typeface="Calibri"/>
              </a:rPr>
              <a:t>Decoder expands</a:t>
            </a:r>
          </a:p>
        </p:txBody>
      </p:sp>
      <p:sp>
        <p:nvSpPr>
          <p:cNvPr id="34" name="L34"/>
          <p:cNvSpPr/>
          <p:nvPr/>
        </p:nvSpPr>
        <p:spPr>
          <a:xfrm flipH="0" flipV="0">
            <a:off x="5943600" y="1645920"/>
            <a:ext cx="137160" cy="1"/>
          </a:xfrm>
          <a:prstGeom prst="line">
            <a:avLst/>
          </a:prstGeom>
          <a:noFill/>
          <a:ln w="22225">
            <a:solidFill>
              <a:srgbClr val="FF6B35"/>
            </a:solidFill>
          </a:ln>
        </p:spPr>
        <p:txBody>
          <a:bodyPr/>
          <a:lstStyle/>
          <a:p/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6080760" y="868680"/>
            <a:ext cx="1005840" cy="15544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4288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1" i="0" dirty="0">
                <a:solidFill>
                  <a:srgbClr val="FF6B35"/>
                </a:solidFill>
                <a:latin typeface="Calibri"/>
              </a:rPr>
              <a:t>Dense(64)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64 neurons</a:t>
            </a:r>
          </a:p>
          <a:p>
            <a:pPr algn="ctr">
              <a:lnSpc>
                <a:spcPct val="100000"/>
              </a:lnSpc>
            </a:pPr>
            <a:r>
              <a:rPr lang="en-US" sz="950" b="0" i="0" dirty="0">
                <a:solidFill>
                  <a:srgbClr val="B0BEC5"/>
                </a:solidFill>
                <a:latin typeface="Calibri"/>
              </a:rPr>
              <a:t>Further expansion</a:t>
            </a:r>
          </a:p>
        </p:txBody>
      </p:sp>
      <p:sp>
        <p:nvSpPr>
          <p:cNvPr id="35" name="L35"/>
          <p:cNvSpPr/>
          <p:nvPr/>
        </p:nvSpPr>
        <p:spPr>
          <a:xfrm flipH="0" flipV="0">
            <a:off x="7086600" y="1645920"/>
            <a:ext cx="137160" cy="1"/>
          </a:xfrm>
          <a:prstGeom prst="line">
            <a:avLst/>
          </a:prstGeom>
          <a:noFill/>
          <a:ln w="22225">
            <a:solidFill>
              <a:srgbClr val="FF6B35"/>
            </a:solidFill>
          </a:ln>
        </p:spPr>
        <p:txBody>
          <a:bodyPr/>
          <a:lstStyle/>
          <a:p/>
        </p:txBody>
      </p:sp>
      <p:sp>
        <p:nvSpPr>
          <p:cNvPr id="16" name="S16"/>
          <p:cNvSpPr>
            <a:spLocks noGrp="1"/>
          </p:cNvSpPr>
          <p:nvPr/>
        </p:nvSpPr>
        <p:spPr>
          <a:xfrm>
            <a:off x="7223760" y="868680"/>
            <a:ext cx="1005840" cy="15544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4288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1" i="0" dirty="0">
                <a:solidFill>
                  <a:srgbClr val="00E676"/>
                </a:solidFill>
                <a:latin typeface="Calibri"/>
              </a:rPr>
              <a:t>Output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51 neurons</a:t>
            </a:r>
          </a:p>
          <a:p>
            <a:pPr algn="ctr">
              <a:lnSpc>
                <a:spcPct val="100000"/>
              </a:lnSpc>
            </a:pPr>
            <a:r>
              <a:rPr lang="en-US" sz="950" b="0" i="0" dirty="0">
                <a:solidFill>
                  <a:srgbClr val="B0BEC5"/>
                </a:solidFill>
                <a:latin typeface="Calibri"/>
              </a:rPr>
              <a:t>Reconstruction</a:t>
            </a:r>
          </a:p>
        </p:txBody>
      </p:sp>
      <p:sp>
        <p:nvSpPr>
          <p:cNvPr id="17" name="S17"/>
          <p:cNvSpPr>
            <a:spLocks noGrp="1"/>
          </p:cNvSpPr>
          <p:nvPr/>
        </p:nvSpPr>
        <p:spPr>
          <a:xfrm>
            <a:off x="228600" y="2606040"/>
            <a:ext cx="5394960" cy="34747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7001A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7B2FBE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7B2FBE"/>
                </a:solidFill>
                <a:latin typeface="Calibri"/>
              </a:rPr>
              <a:t>Architecture Details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Total Parameters:  11,907  (ultra-lightweight!)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Activation (hidden):  ReLU — f(x)=max(0,x), avoids vanishing gradient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Activation (output):  Linear — allows any real number reconstruction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Loss Function:  MSE — penalises large errors more heavily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Optimizer:  Adam — adaptive learning rate per parameter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Bottleneck:  16 neurons from 51 inputs = 3.1:1 compression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Why 16 neurons? Tested 8 (too tight, high FP) and 32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(no improvement). 16 gave best precision/recall balance.</a:t>
            </a:r>
          </a:p>
        </p:txBody>
      </p:sp>
      <p:sp>
        <p:nvSpPr>
          <p:cNvPr id="18" name="S18"/>
          <p:cNvSpPr>
            <a:spLocks noGrp="1"/>
          </p:cNvSpPr>
          <p:nvPr/>
        </p:nvSpPr>
        <p:spPr>
          <a:xfrm>
            <a:off x="5760720" y="2606040"/>
            <a:ext cx="5166360" cy="34747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00E676"/>
                </a:solidFill>
                <a:latin typeface="Calibri"/>
              </a:rPr>
              <a:t>Core Principle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Train ONLY on normal traffic (24,152 rows).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The model learns to compress &amp; reconstruct normal.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For attacks: the bottleneck creates a poor encoding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using normal-traffic patterns. The decoder outputs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something that resembles normal traffic, not the attack.</a:t>
            </a:r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C6FF"/>
                </a:solidFill>
                <a:latin typeface="Calibri"/>
              </a:rPr>
              <a:t>The mismatch (high MSE) = anomaly signal.</a:t>
            </a:r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13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[A]  Autoencoder — Training &amp; Threshold Calibration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04672"/>
            <a:ext cx="2468880" cy="128016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E676"/>
                </a:solidFill>
                <a:latin typeface="Calibri"/>
              </a:rPr>
              <a:t>99.19%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Overall Accuracy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2834640" y="804672"/>
            <a:ext cx="2468880" cy="128016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7B2FBE"/>
                </a:solidFill>
                <a:latin typeface="Calibri"/>
              </a:rPr>
              <a:t>100%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Attack Recall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5440680" y="804672"/>
            <a:ext cx="2468880" cy="128016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FFD600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FFD600"/>
                </a:solidFill>
                <a:latin typeface="Calibri"/>
              </a:rPr>
              <a:t>0.0122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Anomaly Threshold tau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8046720" y="804672"/>
            <a:ext cx="2834640" cy="128016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C6FF"/>
                </a:solidFill>
                <a:latin typeface="Calibri"/>
              </a:rPr>
              <a:t>11,907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Parameters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228600" y="2240280"/>
            <a:ext cx="3474720" cy="38404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7001A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7B2FBE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550" b="1" i="0" dirty="0">
                <a:solidFill>
                  <a:srgbClr val="7B2FBE"/>
                </a:solidFill>
                <a:latin typeface="Calibri"/>
              </a:rPr>
              <a:t>Training Details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Training samples:  19,321 normal rows (80%)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Validation samples:  4,831 normal rows (20%)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Epochs:  Up to 50 — stopped at Epoch 45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Batch size:  256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Early stopping:  patience=5, restore_best_weights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00C6FF"/>
                </a:solidFill>
                <a:latin typeface="Calibri"/>
              </a:rPr>
              <a:t>Training progress (val_loss):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Epoch  1: 0.5692 --&gt; 0.3141  (learning fast)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Epoch 10: 0.0698 --&gt; 0.0585  (converging)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E676"/>
                </a:solidFill>
                <a:latin typeface="Calibri"/>
              </a:rPr>
              <a:t>Epoch 40: 0.0141 --&gt; 0.0139  (best epoch *)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6B35"/>
                </a:solidFill>
                <a:latin typeface="Calibri"/>
              </a:rPr>
              <a:t>Epoch 45: early stopped (5 no-improve epochs)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3840480" y="2240280"/>
            <a:ext cx="3474720" cy="38404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14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FFD600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D60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550" b="1" i="0" dirty="0">
                <a:solidFill>
                  <a:srgbClr val="FFD600"/>
                </a:solidFill>
                <a:latin typeface="Calibri"/>
              </a:rPr>
              <a:t>Threshold Calibration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After training, run all 4,831 validation normal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samples through the AE. Compute per-sample MSE.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FFD600"/>
                </a:solidFill>
                <a:latin typeface="Calibri"/>
              </a:rPr>
              <a:t>tau = Percentile₉₅(val_errors) = 0.01218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FFFFFF"/>
                </a:solidFill>
                <a:latin typeface="Calibri"/>
              </a:rPr>
              <a:t>95th percentile means: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00E676"/>
                </a:solidFill>
                <a:latin typeface="Calibri"/>
              </a:rPr>
              <a:t>* 95% of normal traffic --&gt; error &lt; tau --&gt; NORMAL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6B35"/>
                </a:solidFill>
                <a:latin typeface="Calibri"/>
              </a:rPr>
              <a:t>* 5% of normal traffic --&gt; error &gt; tau --&gt; false alarm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Trade-off: Lower tau = fewer missed attacks,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more false alarms. 95th percentile is standard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practice in anomaly detection literature.</a:t>
            </a:r>
          </a:p>
        </p:txBody>
      </p:sp>
      <p:sp>
        <p:nvSpPr>
          <p:cNvPr id="16" name="S16"/>
          <p:cNvSpPr>
            <a:spLocks noGrp="1"/>
          </p:cNvSpPr>
          <p:nvPr/>
        </p:nvSpPr>
        <p:spPr>
          <a:xfrm>
            <a:off x="7452360" y="2240280"/>
            <a:ext cx="3474720" cy="38404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550" b="1" i="0" dirty="0">
                <a:solidFill>
                  <a:srgbClr val="00E676"/>
                </a:solidFill>
                <a:latin typeface="Calibri"/>
              </a:rPr>
              <a:t>Autoencoder Results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Tested on full 152,389-row dataset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FFFFFF"/>
                </a:solidFill>
                <a:latin typeface="Calibri"/>
              </a:rPr>
              <a:t>Class 0 (Normal):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  Precision: 100%  Recall: 94.87%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6B35"/>
                </a:solidFill>
                <a:latin typeface="Calibri"/>
              </a:rPr>
              <a:t>  1,239 false positives (5.13%)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FFFFFF"/>
                </a:solidFill>
                <a:latin typeface="Calibri"/>
              </a:rPr>
              <a:t>Class 1 (Attack):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00E676"/>
                </a:solidFill>
                <a:latin typeface="Calibri"/>
              </a:rPr>
              <a:t>  Precision: 99.04%  Recall: 100%</a:t>
            </a:r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E676"/>
                </a:solidFill>
                <a:latin typeface="Calibri"/>
              </a:rPr>
              <a:t>  0 false negatives — ALL 128,237</a:t>
            </a:r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E676"/>
                </a:solidFill>
                <a:latin typeface="Calibri"/>
              </a:rPr>
              <a:t>  attack samples detected!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7B2FBE"/>
                </a:solidFill>
                <a:latin typeface="Calibri"/>
              </a:rPr>
              <a:t>Includes ALL 5 zero-day attack types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7B2FBE"/>
                </a:solidFill>
                <a:latin typeface="Calibri"/>
              </a:rPr>
              <a:t>never seen during training.</a:t>
            </a:r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14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[~]  Fusion Model — Logic &amp; Routing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22960"/>
            <a:ext cx="3337560" cy="53035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08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FF6B35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6B35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FF6B35"/>
                </a:solidFill>
                <a:latin typeface="Calibri"/>
              </a:rPr>
              <a:t>Why a Fusion Model?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LightGBM alone: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00E676"/>
                </a:solidFill>
                <a:latin typeface="Calibri"/>
              </a:rPr>
              <a:t>  [OK] 99.99% on known attacks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1744"/>
                </a:solidFill>
                <a:latin typeface="Calibri"/>
              </a:rPr>
              <a:t>  [X] 0% on zero-day attacks — forces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1744"/>
                </a:solidFill>
                <a:latin typeface="Calibri"/>
              </a:rPr>
              <a:t>     every input into a known class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Autoencoder alone: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00E676"/>
                </a:solidFill>
                <a:latin typeface="Calibri"/>
              </a:rPr>
              <a:t>  [OK] 100% attack recall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1744"/>
                </a:solidFill>
                <a:latin typeface="Calibri"/>
              </a:rPr>
              <a:t>  [X] 5.13% false positive rate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1744"/>
                </a:solidFill>
                <a:latin typeface="Calibri"/>
              </a:rPr>
              <a:t>  [X] Cannot name the attack type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FFD600"/>
                </a:solidFill>
                <a:latin typeface="Calibri"/>
              </a:rPr>
              <a:t>Fusion: Best of Both Worlds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00E676"/>
                </a:solidFill>
                <a:latin typeface="Calibri"/>
              </a:rPr>
              <a:t>  [OK] Known attacks handled precisely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00E676"/>
                </a:solidFill>
                <a:latin typeface="Calibri"/>
              </a:rPr>
              <a:t>  [OK] Zero-day attacks caught by AE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00E676"/>
                </a:solidFill>
                <a:latin typeface="Calibri"/>
              </a:rPr>
              <a:t>  [OK] Reduced false positives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3749039" y="822960"/>
            <a:ext cx="3794760" cy="53035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C6FF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00C6FF"/>
                </a:solidFill>
                <a:latin typeface="Calibri"/>
              </a:rPr>
              <a:t>Decision Logic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Step 1:  Run LightGBM on input sample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Step 2:  Get predict_proba() — confidence vector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E676"/>
                </a:solidFill>
                <a:latin typeface="Calibri"/>
              </a:rPr>
              <a:t>IF  P(Normal) &gt;= 0.90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00E676"/>
                </a:solidFill>
                <a:latin typeface="Calibri"/>
              </a:rPr>
              <a:t>  --&gt; Label = Normal  (trust LightGBM)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FF6B35"/>
                </a:solidFill>
                <a:latin typeface="Calibri"/>
              </a:rPr>
              <a:t>ELSE  (LightGBM uncertain)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  --&gt; Compute AE reconstruction error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  --&gt; IF  error &gt; 0.0122</a:t>
            </a:r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6B35"/>
                </a:solidFill>
                <a:latin typeface="Calibri"/>
              </a:rPr>
              <a:t>       Label = ATTACK</a:t>
            </a:r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E676"/>
                </a:solidFill>
                <a:latin typeface="Calibri"/>
              </a:rPr>
              <a:t>  --&gt; ELSE  Label = Normal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Genuine normals: LightGBM &gt;=95% confident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Zero-day attacks: LightGBM 60-85% confident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--&gt; 90% threshold cleanly separates them.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726679" y="822960"/>
            <a:ext cx="3200400" cy="53035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14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FFD600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D60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FFD600"/>
                </a:solidFill>
                <a:latin typeface="Calibri"/>
              </a:rPr>
              <a:t>Why 0.90?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Tested: 0.70    0.80    0.90    0.95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6B35"/>
                </a:solidFill>
                <a:latin typeface="Calibri"/>
              </a:rPr>
              <a:t>0.70 --&gt; too many AE checks --&gt; high FP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6B35"/>
                </a:solidFill>
                <a:latin typeface="Calibri"/>
              </a:rPr>
              <a:t>0.80 --&gt; borderline normal re-evaluated</a:t>
            </a:r>
          </a:p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00E676"/>
                </a:solidFill>
                <a:latin typeface="Calibri"/>
              </a:rPr>
              <a:t>0.90 --&gt; sweet spot  [OK]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6B35"/>
                </a:solidFill>
                <a:latin typeface="Calibri"/>
              </a:rPr>
              <a:t>0.95 --&gt; zero-day slips past LightGBM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Security principle: false negatives (missed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attacks) more dangerous than false positives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(false alarms). Err on side of caution.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00C6FF"/>
                </a:solidFill>
                <a:latin typeface="Calibri"/>
              </a:rPr>
              <a:t>Note: AE only runs on uncertain samples.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00C6FF"/>
                </a:solidFill>
                <a:latin typeface="Calibri"/>
              </a:rPr>
              <a:t>LightGBM handles &gt;90% of traffic alone.</a:t>
            </a:r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15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[~]  Fusion — Results &amp; Confusion Matrix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04672"/>
            <a:ext cx="260604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E676"/>
                </a:solidFill>
                <a:latin typeface="Calibri"/>
              </a:rPr>
              <a:t>96.82%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Fusion Accuracy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3017520" y="804672"/>
            <a:ext cx="260604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C6FF"/>
                </a:solidFill>
                <a:latin typeface="Calibri"/>
              </a:rPr>
              <a:t>97.78%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Precision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5806440" y="804672"/>
            <a:ext cx="260604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7B2FBE"/>
                </a:solidFill>
                <a:latin typeface="Calibri"/>
              </a:rPr>
              <a:t>98.33%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Recall (Attacks)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8595360" y="804672"/>
            <a:ext cx="233172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FF6B35"/>
                </a:solidFill>
                <a:latin typeface="Calibri"/>
              </a:rPr>
              <a:t>+47.8pp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vs Baseline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2103120" y="2331720"/>
            <a:ext cx="8229600" cy="36576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200" b="1" i="0" dirty="0">
                <a:solidFill>
                  <a:srgbClr val="B0BEC5"/>
                </a:solidFill>
                <a:latin typeface="Calibri"/>
              </a:rPr>
              <a:t>                         Predicted Normal      Predicted Attack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2103120" y="2743200"/>
            <a:ext cx="3931920" cy="1325880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001A00"/>
              </a:gs>
              <a:gs pos="100000">
                <a:srgbClr val="003300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0E676"/>
                </a:solidFill>
                <a:latin typeface="Calibri"/>
              </a:rPr>
              <a:t>22,913</a:t>
            </a:r>
          </a:p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True Negatives [OK]</a:t>
            </a:r>
          </a:p>
        </p:txBody>
      </p:sp>
      <p:sp>
        <p:nvSpPr>
          <p:cNvPr id="16" name="S16"/>
          <p:cNvSpPr>
            <a:spLocks noGrp="1"/>
          </p:cNvSpPr>
          <p:nvPr/>
        </p:nvSpPr>
        <p:spPr>
          <a:xfrm>
            <a:off x="6172200" y="2743200"/>
            <a:ext cx="3931920" cy="1325880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1A0800"/>
              </a:gs>
              <a:gs pos="100000">
                <a:srgbClr val="330800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FF6B35"/>
                </a:solidFill>
                <a:latin typeface="Calibri"/>
              </a:rPr>
              <a:t>1,239</a:t>
            </a:r>
          </a:p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False Positives [!]</a:t>
            </a:r>
          </a:p>
        </p:txBody>
      </p:sp>
      <p:sp>
        <p:nvSpPr>
          <p:cNvPr id="17" name="S17"/>
          <p:cNvSpPr>
            <a:spLocks noGrp="1"/>
          </p:cNvSpPr>
          <p:nvPr/>
        </p:nvSpPr>
        <p:spPr>
          <a:xfrm>
            <a:off x="2103120" y="4160520"/>
            <a:ext cx="3931920" cy="1325880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1A0000"/>
              </a:gs>
              <a:gs pos="100000">
                <a:srgbClr val="330000"/>
              </a:gs>
            </a:gsLst>
            <a:lin ang="5400000" scaled="0"/>
          </a:gradFill>
          <a:ln w="19050">
            <a:solidFill>
              <a:srgbClr val="FF1744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FF1744"/>
                </a:solidFill>
                <a:latin typeface="Calibri"/>
              </a:rPr>
              <a:t>520</a:t>
            </a:r>
          </a:p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False Negatives [X]</a:t>
            </a:r>
          </a:p>
        </p:txBody>
      </p:sp>
      <p:sp>
        <p:nvSpPr>
          <p:cNvPr id="18" name="S18"/>
          <p:cNvSpPr>
            <a:spLocks noGrp="1"/>
          </p:cNvSpPr>
          <p:nvPr/>
        </p:nvSpPr>
        <p:spPr>
          <a:xfrm>
            <a:off x="6172200" y="4160520"/>
            <a:ext cx="3931920" cy="1325880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001A10"/>
              </a:gs>
              <a:gs pos="100000">
                <a:srgbClr val="003320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200" b="1" i="0" dirty="0">
                <a:solidFill>
                  <a:srgbClr val="00E676"/>
                </a:solidFill>
                <a:latin typeface="Calibri"/>
              </a:rPr>
              <a:t>30,576</a:t>
            </a:r>
          </a:p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True Positives [OK]</a:t>
            </a:r>
          </a:p>
        </p:txBody>
      </p:sp>
      <p:sp>
        <p:nvSpPr>
          <p:cNvPr id="19" name="S19"/>
          <p:cNvSpPr>
            <a:spLocks noGrp="1"/>
          </p:cNvSpPr>
          <p:nvPr/>
        </p:nvSpPr>
        <p:spPr>
          <a:xfrm>
            <a:off x="228600" y="2743200"/>
            <a:ext cx="1783080" cy="132588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Actual Normal</a:t>
            </a:r>
          </a:p>
        </p:txBody>
      </p:sp>
      <p:sp>
        <p:nvSpPr>
          <p:cNvPr id="20" name="S20"/>
          <p:cNvSpPr>
            <a:spLocks noGrp="1"/>
          </p:cNvSpPr>
          <p:nvPr/>
        </p:nvSpPr>
        <p:spPr>
          <a:xfrm>
            <a:off x="228600" y="4160520"/>
            <a:ext cx="1783080" cy="132588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Actual Attack</a:t>
            </a:r>
          </a:p>
        </p:txBody>
      </p:sp>
      <p:sp>
        <p:nvSpPr>
          <p:cNvPr id="21" name="S21"/>
          <p:cNvSpPr>
            <a:spLocks noGrp="1"/>
          </p:cNvSpPr>
          <p:nvPr/>
        </p:nvSpPr>
        <p:spPr>
          <a:xfrm>
            <a:off x="228600" y="5577840"/>
            <a:ext cx="1783080" cy="347472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" b="0" i="0" dirty="0">
                <a:solidFill>
                  <a:srgbClr val="00000000"/>
                </a:solidFill>
                <a:latin typeface="Calibri"/>
              </a:rPr>
              <a:t>cm_title_placeholder</a:t>
            </a:r>
          </a:p>
        </p:txBody>
      </p:sp>
      <p:sp>
        <p:nvSpPr>
          <p:cNvPr id="22" name="S22"/>
          <p:cNvSpPr>
            <a:spLocks noGrp="1"/>
          </p:cNvSpPr>
          <p:nvPr/>
        </p:nvSpPr>
        <p:spPr>
          <a:xfrm>
            <a:off x="228600" y="2331720"/>
            <a:ext cx="1737360" cy="32004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C6FF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Actual  ↓  Predicted --&gt;</a:t>
            </a:r>
          </a:p>
        </p:txBody>
      </p:sp>
      <p:sp>
        <p:nvSpPr>
          <p:cNvPr id="23" name="S23"/>
          <p:cNvSpPr>
            <a:spLocks noGrp="1"/>
          </p:cNvSpPr>
          <p:nvPr/>
        </p:nvSpPr>
        <p:spPr>
          <a:xfrm>
            <a:off x="228600" y="5577840"/>
            <a:ext cx="11734800" cy="14630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14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FFD600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D60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D600"/>
                </a:solidFill>
                <a:latin typeface="Calibri"/>
              </a:rPr>
              <a:t>Key Findings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1744"/>
                </a:solidFill>
                <a:latin typeface="Calibri"/>
              </a:rPr>
              <a:t>520 missed attacks (1.67%):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Mostly Fingerprinting &amp; Port Scanning.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Low-volume, slow-paced — each packet looks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like routine traffic. No temporal context.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6B35"/>
                </a:solidFill>
                <a:latin typeface="Calibri"/>
              </a:rPr>
              <a:t>1,239 false positives (5.13%):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Unusual-but-benign normal traffic patterns.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Inherent cost of 95th-percentile threshold.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Test set = 24,152 normal + 31,096 zero-day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= 55,248 total (no known attacks included).</a:t>
            </a:r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16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[F]  Feature Importance Analysis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04672"/>
            <a:ext cx="5120640" cy="38404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C6FF"/>
                </a:solidFill>
                <a:latin typeface="Calibri"/>
              </a:rPr>
              <a:t>Top 10 Feature Importances  (LightGBM, 300 trees)</a:t>
            </a:r>
          </a:p>
        </p:txBody>
      </p:sp>
      <p:sp>
        <p:nvSpPr>
          <p:cNvPr id="20" name="S20"/>
          <p:cNvSpPr>
            <a:spLocks noGrp="1"/>
          </p:cNvSpPr>
          <p:nvPr/>
        </p:nvSpPr>
        <p:spPr>
          <a:xfrm>
            <a:off x="228600" y="1298448"/>
            <a:ext cx="1417320" cy="310896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b="0" i="0" dirty="0">
                <a:solidFill>
                  <a:srgbClr val="FFFFFF"/>
                </a:solidFill>
                <a:latin typeface="Calibri"/>
              </a:rPr>
              <a:t>tcp.srcport</a:t>
            </a:r>
          </a:p>
        </p:txBody>
      </p:sp>
      <p:sp>
        <p:nvSpPr>
          <p:cNvPr id="30" name="S30"/>
          <p:cNvSpPr>
            <a:spLocks noGrp="1"/>
          </p:cNvSpPr>
          <p:nvPr/>
        </p:nvSpPr>
        <p:spPr>
          <a:xfrm>
            <a:off x="1691640" y="1298448"/>
            <a:ext cx="4526280" cy="29260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0C6FF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13,467</a:t>
            </a:r>
          </a:p>
        </p:txBody>
      </p:sp>
      <p:sp>
        <p:nvSpPr>
          <p:cNvPr id="21" name="S21"/>
          <p:cNvSpPr>
            <a:spLocks noGrp="1"/>
          </p:cNvSpPr>
          <p:nvPr/>
        </p:nvSpPr>
        <p:spPr>
          <a:xfrm>
            <a:off x="228600" y="1682496"/>
            <a:ext cx="1417320" cy="310896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b="0" i="0" dirty="0">
                <a:solidFill>
                  <a:srgbClr val="FFFFFF"/>
                </a:solidFill>
                <a:latin typeface="Calibri"/>
              </a:rPr>
              <a:t>tcp.options</a:t>
            </a:r>
          </a:p>
        </p:txBody>
      </p:sp>
      <p:sp>
        <p:nvSpPr>
          <p:cNvPr id="31" name="S31"/>
          <p:cNvSpPr>
            <a:spLocks noGrp="1"/>
          </p:cNvSpPr>
          <p:nvPr/>
        </p:nvSpPr>
        <p:spPr>
          <a:xfrm>
            <a:off x="1691640" y="1682496"/>
            <a:ext cx="4294369" cy="29260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7B2FBE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12,777</a:t>
            </a:r>
          </a:p>
        </p:txBody>
      </p:sp>
      <p:sp>
        <p:nvSpPr>
          <p:cNvPr id="22" name="S22"/>
          <p:cNvSpPr>
            <a:spLocks noGrp="1"/>
          </p:cNvSpPr>
          <p:nvPr/>
        </p:nvSpPr>
        <p:spPr>
          <a:xfrm>
            <a:off x="228600" y="2066544"/>
            <a:ext cx="1417320" cy="310896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b="0" i="0" dirty="0">
                <a:solidFill>
                  <a:srgbClr val="FFFFFF"/>
                </a:solidFill>
                <a:latin typeface="Calibri"/>
              </a:rPr>
              <a:t>tcp.dstport</a:t>
            </a:r>
          </a:p>
        </p:txBody>
      </p:sp>
      <p:sp>
        <p:nvSpPr>
          <p:cNvPr id="32" name="S32"/>
          <p:cNvSpPr>
            <a:spLocks noGrp="1"/>
          </p:cNvSpPr>
          <p:nvPr/>
        </p:nvSpPr>
        <p:spPr>
          <a:xfrm>
            <a:off x="1691640" y="2066544"/>
            <a:ext cx="2974162" cy="29260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0E676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8,849</a:t>
            </a:r>
          </a:p>
        </p:txBody>
      </p:sp>
      <p:sp>
        <p:nvSpPr>
          <p:cNvPr id="23" name="S23"/>
          <p:cNvSpPr>
            <a:spLocks noGrp="1"/>
          </p:cNvSpPr>
          <p:nvPr/>
        </p:nvSpPr>
        <p:spPr>
          <a:xfrm>
            <a:off x="228600" y="2450592"/>
            <a:ext cx="1417320" cy="310896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b="0" i="0" dirty="0">
                <a:solidFill>
                  <a:srgbClr val="FFFFFF"/>
                </a:solidFill>
                <a:latin typeface="Calibri"/>
              </a:rPr>
              <a:t>tcp.ack</a:t>
            </a:r>
          </a:p>
        </p:txBody>
      </p:sp>
      <p:sp>
        <p:nvSpPr>
          <p:cNvPr id="33" name="S33"/>
          <p:cNvSpPr>
            <a:spLocks noGrp="1"/>
          </p:cNvSpPr>
          <p:nvPr/>
        </p:nvSpPr>
        <p:spPr>
          <a:xfrm>
            <a:off x="1691640" y="2450592"/>
            <a:ext cx="2638061" cy="29260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FF6B35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7,849</a:t>
            </a:r>
          </a:p>
        </p:txBody>
      </p:sp>
      <p:sp>
        <p:nvSpPr>
          <p:cNvPr id="24" name="S24"/>
          <p:cNvSpPr>
            <a:spLocks noGrp="1"/>
          </p:cNvSpPr>
          <p:nvPr/>
        </p:nvSpPr>
        <p:spPr>
          <a:xfrm>
            <a:off x="228600" y="2834640"/>
            <a:ext cx="1417320" cy="310896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b="0" i="0" dirty="0">
                <a:solidFill>
                  <a:srgbClr val="FFFFFF"/>
                </a:solidFill>
                <a:latin typeface="Calibri"/>
              </a:rPr>
              <a:t>tcp.ack_raw</a:t>
            </a:r>
          </a:p>
        </p:txBody>
      </p:sp>
      <p:sp>
        <p:nvSpPr>
          <p:cNvPr id="34" name="S34"/>
          <p:cNvSpPr>
            <a:spLocks noGrp="1"/>
          </p:cNvSpPr>
          <p:nvPr/>
        </p:nvSpPr>
        <p:spPr>
          <a:xfrm>
            <a:off x="1691640" y="2834640"/>
            <a:ext cx="2156763" cy="29260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FFD600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6,417</a:t>
            </a:r>
          </a:p>
        </p:txBody>
      </p:sp>
      <p:sp>
        <p:nvSpPr>
          <p:cNvPr id="25" name="S25"/>
          <p:cNvSpPr>
            <a:spLocks noGrp="1"/>
          </p:cNvSpPr>
          <p:nvPr/>
        </p:nvSpPr>
        <p:spPr>
          <a:xfrm>
            <a:off x="228600" y="3218688"/>
            <a:ext cx="1417320" cy="310896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b="0" i="0" dirty="0">
                <a:solidFill>
                  <a:srgbClr val="FFFFFF"/>
                </a:solidFill>
                <a:latin typeface="Calibri"/>
              </a:rPr>
              <a:t>tcp.checksum</a:t>
            </a:r>
          </a:p>
        </p:txBody>
      </p:sp>
      <p:sp>
        <p:nvSpPr>
          <p:cNvPr id="35" name="S35"/>
          <p:cNvSpPr>
            <a:spLocks noGrp="1"/>
          </p:cNvSpPr>
          <p:nvPr/>
        </p:nvSpPr>
        <p:spPr>
          <a:xfrm>
            <a:off x="1691640" y="3218688"/>
            <a:ext cx="2053244" cy="29260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0C6FF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6,109</a:t>
            </a:r>
          </a:p>
        </p:txBody>
      </p:sp>
      <p:sp>
        <p:nvSpPr>
          <p:cNvPr id="26" name="S26"/>
          <p:cNvSpPr>
            <a:spLocks noGrp="1"/>
          </p:cNvSpPr>
          <p:nvPr/>
        </p:nvSpPr>
        <p:spPr>
          <a:xfrm>
            <a:off x="228600" y="3602736"/>
            <a:ext cx="1417320" cy="310896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b="0" i="0" dirty="0">
                <a:solidFill>
                  <a:srgbClr val="FFFFFF"/>
                </a:solidFill>
                <a:latin typeface="Calibri"/>
              </a:rPr>
              <a:t>tcp.seq</a:t>
            </a:r>
          </a:p>
        </p:txBody>
      </p:sp>
      <p:sp>
        <p:nvSpPr>
          <p:cNvPr id="36" name="S36"/>
          <p:cNvSpPr>
            <a:spLocks noGrp="1"/>
          </p:cNvSpPr>
          <p:nvPr/>
        </p:nvSpPr>
        <p:spPr>
          <a:xfrm>
            <a:off x="1691640" y="3602736"/>
            <a:ext cx="1420365" cy="29260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7B2FBE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4,226</a:t>
            </a:r>
          </a:p>
        </p:txBody>
      </p:sp>
      <p:sp>
        <p:nvSpPr>
          <p:cNvPr id="27" name="S27"/>
          <p:cNvSpPr>
            <a:spLocks noGrp="1"/>
          </p:cNvSpPr>
          <p:nvPr/>
        </p:nvSpPr>
        <p:spPr>
          <a:xfrm>
            <a:off x="228600" y="3986784"/>
            <a:ext cx="1417320" cy="310896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b="0" i="0" dirty="0">
                <a:solidFill>
                  <a:srgbClr val="FFFFFF"/>
                </a:solidFill>
                <a:latin typeface="Calibri"/>
              </a:rPr>
              <a:t>http.request.method</a:t>
            </a:r>
          </a:p>
        </p:txBody>
      </p:sp>
      <p:sp>
        <p:nvSpPr>
          <p:cNvPr id="37" name="S37"/>
          <p:cNvSpPr>
            <a:spLocks noGrp="1"/>
          </p:cNvSpPr>
          <p:nvPr/>
        </p:nvSpPr>
        <p:spPr>
          <a:xfrm>
            <a:off x="1691640" y="3986784"/>
            <a:ext cx="743792" cy="29260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00E676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2,213</a:t>
            </a:r>
          </a:p>
        </p:txBody>
      </p:sp>
      <p:sp>
        <p:nvSpPr>
          <p:cNvPr id="28" name="S28"/>
          <p:cNvSpPr>
            <a:spLocks noGrp="1"/>
          </p:cNvSpPr>
          <p:nvPr/>
        </p:nvSpPr>
        <p:spPr>
          <a:xfrm>
            <a:off x="228600" y="4370832"/>
            <a:ext cx="1417320" cy="310896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b="0" i="0" dirty="0">
                <a:solidFill>
                  <a:srgbClr val="FFFFFF"/>
                </a:solidFill>
                <a:latin typeface="Calibri"/>
              </a:rPr>
              <a:t>tcp.len</a:t>
            </a:r>
          </a:p>
        </p:txBody>
      </p:sp>
      <p:sp>
        <p:nvSpPr>
          <p:cNvPr id="38" name="S38"/>
          <p:cNvSpPr>
            <a:spLocks noGrp="1"/>
          </p:cNvSpPr>
          <p:nvPr/>
        </p:nvSpPr>
        <p:spPr>
          <a:xfrm>
            <a:off x="1691640" y="4370832"/>
            <a:ext cx="733037" cy="29260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FF6B35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2,181</a:t>
            </a:r>
          </a:p>
        </p:txBody>
      </p:sp>
      <p:sp>
        <p:nvSpPr>
          <p:cNvPr id="29" name="S29"/>
          <p:cNvSpPr>
            <a:spLocks noGrp="1"/>
          </p:cNvSpPr>
          <p:nvPr/>
        </p:nvSpPr>
        <p:spPr>
          <a:xfrm>
            <a:off x="228600" y="4754880"/>
            <a:ext cx="1417320" cy="310896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050" b="0" i="0" dirty="0">
                <a:solidFill>
                  <a:srgbClr val="FFFFFF"/>
                </a:solidFill>
                <a:latin typeface="Calibri"/>
              </a:rPr>
              <a:t>udp.stream</a:t>
            </a:r>
          </a:p>
        </p:txBody>
      </p:sp>
      <p:sp>
        <p:nvSpPr>
          <p:cNvPr id="39" name="S39"/>
          <p:cNvSpPr>
            <a:spLocks noGrp="1"/>
          </p:cNvSpPr>
          <p:nvPr/>
        </p:nvSpPr>
        <p:spPr>
          <a:xfrm>
            <a:off x="1691640" y="4754880"/>
            <a:ext cx="675228" cy="292608"/>
          </a:xfrm>
          <a:prstGeom prst="roundRect">
            <a:avLst>
              <a:gd name="adj" fmla="val 4000"/>
            </a:avLst>
          </a:prstGeom>
          <a:gradFill>
            <a:gsLst>
              <a:gs pos="0">
                <a:srgbClr val="FFD600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2,009</a:t>
            </a:r>
          </a:p>
        </p:txBody>
      </p:sp>
      <p:sp>
        <p:nvSpPr>
          <p:cNvPr id="40" name="S40"/>
          <p:cNvSpPr>
            <a:spLocks noGrp="1"/>
          </p:cNvSpPr>
          <p:nvPr/>
        </p:nvSpPr>
        <p:spPr>
          <a:xfrm>
            <a:off x="6492240" y="804672"/>
            <a:ext cx="4434840" cy="53492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C6FF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00C6FF"/>
                </a:solidFill>
                <a:latin typeface="Calibri"/>
              </a:rPr>
              <a:t>Key Insights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* TCP port features dominate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Different attacks use specific port patterns.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DDoS targets port 80; backdoors use odd ports.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* TCP control fields critical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ACK, SEQ, checksum, options — fingerprint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connection behaviour uniquely per attack type.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* HTTP method separates web attacks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GET/POST patterns distinguish SQL injection,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XSS, and upload attacks.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6B35"/>
                </a:solidFill>
                <a:latin typeface="Calibri"/>
              </a:rPr>
              <a:t>* 14 features scored exactly ZERO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ARP metadata, some MQTT &amp; DNS fields,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http.tls_port. Could prune to reduce model.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D600"/>
                </a:solidFill>
                <a:latin typeface="Calibri"/>
              </a:rPr>
              <a:t>Top 11 features carry 90%+ of signal.</a:t>
            </a:r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17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[^]  Model Comparison &amp; Baselines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04672"/>
            <a:ext cx="246888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E676"/>
                </a:solidFill>
                <a:latin typeface="Calibri"/>
              </a:rPr>
              <a:t>99.99%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LightGBM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2880360" y="804672"/>
            <a:ext cx="246888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7B2FBE"/>
                </a:solidFill>
                <a:latin typeface="Calibri"/>
              </a:rPr>
              <a:t>99.19%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Autoencoder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5532120" y="804672"/>
            <a:ext cx="246888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C6FF"/>
                </a:solidFill>
                <a:latin typeface="Calibri"/>
              </a:rPr>
              <a:t>96.82%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Fusion Model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8229600" y="804672"/>
            <a:ext cx="2697480" cy="132588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FF6B35"/>
                </a:solidFill>
                <a:latin typeface="Calibri"/>
              </a:rPr>
              <a:t>49.00%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Isolation Forest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228600" y="2331720"/>
            <a:ext cx="11734800" cy="21488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200" b="1" i="0" dirty="0">
                <a:solidFill>
                  <a:srgbClr val="00C6FF"/>
                </a:solidFill>
                <a:latin typeface="Calibri"/>
              </a:rPr>
              <a:t>MODEL              ACCURACY   PRECISION  RECALL    F1    ZERO-DAY?</a:t>
            </a:r>
          </a:p>
          <p:sp>
            <p:nvSpPr>
              <p:cNvPr id="20" name="L20"/>
              <p:cNvSpPr/>
              <p:nvPr/>
            </p:nvSpPr>
            <p:spPr>
              <a:xfrm flipH="0" flipV="0">
                <a:off x="228600" y="3749039"/>
                <a:ext cx="10652760" cy="1"/>
              </a:xfrm>
              <a:prstGeom prst="line">
                <a:avLst/>
              </a:prstGeom>
              <a:noFill/>
              <a:ln w="9525">
                <a:solidFill>
                  <a:srgbClr val="00C6FF"/>
                </a:solidFill>
              </a:ln>
            </p:spPr>
            <p:txBody>
              <a:bodyPr/>
              <a:lstStyle/>
              <a:p/>
            </p:txBody>
          </p:s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Isolation Forest   49.00%     ~50%       ~50%     ~50%    Yes (poor)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00E676"/>
                </a:solidFill>
                <a:latin typeface="Calibri"/>
              </a:rPr>
              <a:t>LightGBM           99.99%     99.98%    99.99%   99.99%   NO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7B2FBE"/>
                </a:solidFill>
                <a:latin typeface="Calibri"/>
              </a:rPr>
              <a:t>Autoencoder        99.19%     99.04%    99.19%   99.18%   Yes [OK]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00C6FF"/>
                </a:solidFill>
                <a:latin typeface="Calibri"/>
              </a:rPr>
              <a:t>Fusion Model       96.82%     97.78%    98.33%   97.20%   Yes [OK]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228600" y="4617720"/>
            <a:ext cx="5349240" cy="242316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08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FF6B35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6B35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6B35"/>
                </a:solidFill>
                <a:latin typeface="Calibri"/>
              </a:rPr>
              <a:t>Why Isolation Forest Failed (49%)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Works by randomly partitioning the feature space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and scoring easily-isolated points as anomalies.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Problems on this dataset: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* 84% attacks — majority class is anomaly --&gt; bias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* High-dimensional (51 features) — partitioning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dominated by most common features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* Multi-modal attack distribution — clusters spread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00C6FF"/>
                </a:solidFill>
                <a:latin typeface="Calibri"/>
              </a:rPr>
              <a:t>Validates: deep learning AE needed for IoT traffic.</a:t>
            </a:r>
          </a:p>
        </p:txBody>
      </p:sp>
      <p:sp>
        <p:nvSpPr>
          <p:cNvPr id="16" name="S16"/>
          <p:cNvSpPr>
            <a:spLocks noGrp="1"/>
          </p:cNvSpPr>
          <p:nvPr/>
        </p:nvSpPr>
        <p:spPr>
          <a:xfrm>
            <a:off x="5669280" y="4617720"/>
            <a:ext cx="5257800" cy="242316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14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FFD600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D60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D600"/>
                </a:solidFill>
                <a:latin typeface="Calibri"/>
              </a:rPr>
              <a:t>Interpreting 96.82% Correctly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Fusion 96.82% vs LightGBM 99.99%: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NOT a fair comparison — they test different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scenarios! LightGBM tested on attacks it was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trained on. Fusion tested on UNSEEN zero-days.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1744"/>
                </a:solidFill>
                <a:latin typeface="Calibri"/>
              </a:rPr>
              <a:t>LightGBM on zero-day scenario: ~0%</a:t>
            </a:r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E676"/>
                </a:solidFill>
                <a:latin typeface="Calibri"/>
              </a:rPr>
              <a:t>Fusion on zero-day scenario: 96.82%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E676"/>
                </a:solidFill>
                <a:latin typeface="Calibri"/>
              </a:rPr>
              <a:t>+47.82 percentage points above baseline.</a:t>
            </a:r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18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[C]  Tech Stack &amp; Implementation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22960"/>
            <a:ext cx="4389120" cy="53492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C6FF"/>
                </a:solidFill>
                <a:latin typeface="Calibri"/>
              </a:rPr>
              <a:t>Tech Stack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C6FF"/>
                </a:solidFill>
                <a:latin typeface="Calibri"/>
              </a:rPr>
              <a:t>  Python 3.10+             Core language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C6FF"/>
                </a:solidFill>
                <a:latin typeface="Calibri"/>
              </a:rPr>
              <a:t>  Pandas / NumPy           Data loading, manipulation, maths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7B2FBE"/>
                </a:solidFill>
                <a:latin typeface="Calibri"/>
              </a:rPr>
              <a:t>  Scikit-learn             Preprocessing, metrics, IF baseline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E676"/>
                </a:solidFill>
                <a:latin typeface="Calibri"/>
              </a:rPr>
              <a:t>  LightGBM 4.x             Gradient boosted classifier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7B2FBE"/>
                </a:solidFill>
                <a:latin typeface="Calibri"/>
              </a:rPr>
              <a:t>  TensorFlow / Keras       Autoencoder neural network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6B35"/>
                </a:solidFill>
                <a:latin typeface="Calibri"/>
              </a:rPr>
              <a:t>  Matplotlib / Seaborn     Visualisation &amp; confusion matrices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6B35"/>
                </a:solidFill>
                <a:latin typeface="Calibri"/>
              </a:rPr>
              <a:t>  KaggleHub                Automated dataset download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D600"/>
                </a:solidFill>
                <a:latin typeface="Calibri"/>
              </a:rPr>
              <a:t>  joblib                   Model serialisation (.pkl files)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C6FF"/>
                </a:solidFill>
                <a:latin typeface="Calibri"/>
              </a:rPr>
              <a:t>  Google Colab + T4 GPU    Training environment (12GB VRAM)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E676"/>
                </a:solidFill>
                <a:latin typeface="Calibri"/>
              </a:rPr>
              <a:t>  Parquet (PyArrow)        10x smaller than CSV, type-safe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4754880" y="822960"/>
            <a:ext cx="3291840" cy="53492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7001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7B2FBE"/>
                </a:solidFill>
                <a:latin typeface="Calibri"/>
              </a:rPr>
              <a:t>Notebook Pipeline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C6FF"/>
                </a:solidFill>
                <a:latin typeface="Calibri"/>
              </a:rPr>
              <a:t>  NB 01  Preprocessing Master     Downloads, cleans, encodes, splits, scales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00E676"/>
                </a:solidFill>
                <a:latin typeface="Calibri"/>
              </a:rPr>
              <a:t>  NB 02  Known Attack LightGBM    Trains &amp; evaluates LightGBM on 10 classes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7B2FBE"/>
                </a:solidFill>
                <a:latin typeface="Calibri"/>
              </a:rPr>
              <a:t>  NB 03  Zero-Day Autoencoder     Trains AE on normal only, calibrates tau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6B35"/>
                </a:solidFill>
                <a:latin typeface="Calibri"/>
              </a:rPr>
              <a:t>  NB 04  Fusion Model             Confidence-based fusion evaluation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D600"/>
                </a:solidFill>
                <a:latin typeface="Calibri"/>
              </a:rPr>
              <a:t>  NB 05  Visualisation            Comparative plots and summary charts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8183879" y="822960"/>
            <a:ext cx="2743200" cy="53492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>Saved Model Artifacts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lightgbm_known.pkl   — 300-tree LightGBM classifier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autoencoder.keras    — AE weights &amp; architecture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scaler.pkl           — StandardScaler (normal-traffic fitted)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ae_threshold.pkl     — tau = 0.01218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C6FF"/>
                </a:solidFill>
                <a:latin typeface="Calibri"/>
              </a:rPr>
              <a:t>Shared Scaler Design: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All notebooks use the SAME scaler.pkl.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Different scalers --&gt; inconsistent feature ranges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--&gt; AE trained on scale A gets data at scale B --&gt; fail.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7B2FBE"/>
                </a:solidFill>
                <a:latin typeface="Calibri"/>
              </a:rPr>
              <a:t>NB01 --&gt; NB02 &amp; NB03 (parallel) --&gt; NB04 --&gt; NB05</a:t>
            </a:r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19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[!]️  Limitations &amp; Discussion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2296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FF1744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50" b="1" i="0" dirty="0">
                <a:solidFill>
                  <a:srgbClr val="FF1744"/>
                </a:solidFill>
                <a:latin typeface="Calibri"/>
              </a:rPr>
              <a:t>Binary Output Only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System outputs Normal/Attack — cannot identify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WHICH zero-day attack type occurred.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Critical for SOC triage and incident response.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3886200" y="82296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FF6B35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50" b="1" i="0" dirty="0">
                <a:solidFill>
                  <a:srgbClr val="FF6B35"/>
                </a:solidFill>
                <a:latin typeface="Calibri"/>
              </a:rPr>
              <a:t>Sample-by-Sample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No temporal context — each packet evaluated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independently. Slow/stealthy attacks (Fingerprinting,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Port Scanning) may look normal per packet.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543800" y="82296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FFD600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50" b="1" i="0" dirty="0">
                <a:solidFill>
                  <a:srgbClr val="FFD600"/>
                </a:solidFill>
                <a:latin typeface="Calibri"/>
              </a:rPr>
              <a:t>Static Threshold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tau = 0.0122 fixed post-training. Real deployments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have drifting 'normal' patterns as devices are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added or firmware updates change traffic.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228600" y="352044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50" b="1" i="0" dirty="0">
                <a:solidFill>
                  <a:srgbClr val="7B2FBE"/>
                </a:solidFill>
                <a:latin typeface="Calibri"/>
              </a:rPr>
              <a:t>Lab Dataset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Edge-IIoTset collected in a controlled testbed.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Real-world IoT traffic distribution may differ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— model may need retraining for each deployment.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3886200" y="352044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B0BEC5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50" b="1" i="0" dirty="0">
                <a:solidFill>
                  <a:srgbClr val="B0BEC5"/>
                </a:solidFill>
                <a:latin typeface="Calibri"/>
              </a:rPr>
              <a:t>Hardcoded Paths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Notebooks use Google Drive absolute paths.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Reproduction requires manual path updates.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Production code should use config files.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7543800" y="352044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50" b="1" i="0" dirty="0">
                <a:solidFill>
                  <a:srgbClr val="00C6FF"/>
                </a:solidFill>
                <a:latin typeface="Calibri"/>
              </a:rPr>
              <a:t>Zero-Importance Features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14 features (ARP metadata, MQTT fields)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scored exactly 0 in LightGBM. Dead weight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that could be pruned without accuracy loss.</a:t>
            </a:r>
          </a:p>
        </p:txBody>
      </p:sp>
      <p:sp>
        <p:nvSpPr>
          <p:cNvPr id="16" name="S16"/>
          <p:cNvSpPr>
            <a:spLocks noGrp="1"/>
          </p:cNvSpPr>
          <p:nvPr/>
        </p:nvSpPr>
        <p:spPr>
          <a:xfrm>
            <a:off x="228600" y="6108192"/>
            <a:ext cx="11734800" cy="621792"/>
          </a:xfrm>
          <a:prstGeom prst="roundRect">
            <a:avLst>
              <a:gd name="adj" fmla="val 8000"/>
            </a:avLst>
          </a:prstGeom>
          <a:gradFill>
            <a:gsLst>
              <a:gs pos="0">
                <a:srgbClr val="0A001A"/>
              </a:gs>
              <a:gs pos="100000">
                <a:srgbClr val="060B18"/>
              </a:gs>
            </a:gsLst>
            <a:lin ang="5400000" scaled="0"/>
          </a:gradFill>
          <a:ln w="9525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[.]  vs Related Work: Khraisat et al. survey reports top hybrid IDS at 97-99% on mixed known+unknown datasets. Our Fusion Model at 96.82% on strictly zero-shot evaluation is competitive — stronger test protocol than most published papers apply.</a:t>
            </a:r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20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[OK]  Conclusions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04672"/>
            <a:ext cx="2606040" cy="128016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E676"/>
                </a:solidFill>
                <a:latin typeface="Calibri"/>
              </a:rPr>
              <a:t>99.99%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LightGBM Known Attacks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3017520" y="804672"/>
            <a:ext cx="2606040" cy="128016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7B2FBE"/>
                </a:solidFill>
                <a:latin typeface="Calibri"/>
              </a:rPr>
              <a:t>99.19%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Autoencoder (All Traffic)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5806440" y="804672"/>
            <a:ext cx="2606040" cy="128016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00C6FF"/>
                </a:solidFill>
                <a:latin typeface="Calibri"/>
              </a:rPr>
              <a:t>96.82%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Fusion Zero-Day Scenario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8595360" y="804672"/>
            <a:ext cx="2331720" cy="128016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800" b="1" i="0" dirty="0">
                <a:solidFill>
                  <a:srgbClr val="FF6B35"/>
                </a:solidFill>
                <a:latin typeface="Calibri"/>
              </a:rPr>
              <a:t>+47.8pp</a:t>
            </a:r>
          </a:p>
          <a:p>
            <a:pPr algn="ctr">
              <a:lnSpc>
                <a:spcPct val="100000"/>
              </a:lnSpc>
            </a:pPr>
            <a:r>
              <a:rPr lang="en-US" sz="1050" b="0" i="0" dirty="0">
                <a:solidFill>
                  <a:srgbClr val="B0BEC5"/>
                </a:solidFill>
                <a:latin typeface="Calibri"/>
              </a:rPr>
              <a:t>Above IF Baseline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228600" y="2286000"/>
            <a:ext cx="5349240" cy="38862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700" b="1" i="0" dirty="0">
                <a:solidFill>
                  <a:srgbClr val="00E676"/>
                </a:solidFill>
                <a:latin typeface="Calibri"/>
              </a:rPr>
              <a:t>Research Contributions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[OK]  Hybrid IDS simultaneously handles known attacks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   AND zero-day threats — both in one system.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[OK]  LightGBM: 99.99% accuracy, 10 known classes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   Only ~3 misclassifications on 24,259 samples.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[OK]  Autoencoder: 100% attack recall, 0 missed attacks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   Across ALL 15 attack types including 5 zero-days.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[OK]  Fusion Model: 96.82% on 5 unseen attack types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   vs 49% Isolation Forest — +47.82pp improvement.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[OK]  Ultra-lightweight: 11,907 parameters in AE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   Deployable on IoT edge gateways.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5715000" y="2286000"/>
            <a:ext cx="5212080" cy="38862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5875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C6FF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lang="en-US" sz="1700" b="1" i="0" dirty="0">
                <a:solidFill>
                  <a:srgbClr val="00C6FF"/>
                </a:solidFill>
                <a:latin typeface="Calibri"/>
              </a:rPr>
              <a:t>Structural Insight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Supervised and unsupervised methods solve DIFFERENT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sub-problems — they complement, not compete.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E676"/>
                </a:solidFill>
                <a:latin typeface="Calibri"/>
              </a:rPr>
              <a:t>LightGBM answer: 'What IS this attack?'</a:t>
            </a:r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7B2FBE"/>
                </a:solidFill>
                <a:latin typeface="Calibri"/>
              </a:rPr>
              <a:t>Autoencoder asks: 'Is this NORMAL traffic?'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Combining them intelligently — giving LightGBM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dominance on confident decisions and AE coverage</a:t>
            </a:r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on uncertain ones — is the key design insight.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Dataset matters: Edge-IIoTset is one of the few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IoT-specific datasets with realistic protocols.</a:t>
            </a:r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C6FF"/>
                </a:solidFill>
                <a:latin typeface="Calibri"/>
              </a:rPr>
              <a:t>Our 99.99% exceeds dataset authors' own 95-98%.</a:t>
            </a:r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21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[?]  Future Work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22960"/>
            <a:ext cx="2606040" cy="25603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7B2FBE"/>
                </a:solidFill>
                <a:latin typeface="Calibri"/>
              </a:rPr>
              <a:t>Zero-Day Attack Categorisation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Cluster anomalies by similarity to assign attack family labels.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Semi-supervised step after binary detection.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2971800" y="822960"/>
            <a:ext cx="2606040" cy="25603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C6FF"/>
                </a:solidFill>
                <a:latin typeface="Calibri"/>
              </a:rPr>
              <a:t>Sequence-Aware Detection (LSTM)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Replace per-packet evaluation with sliding-window LSTM.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Captures temporal patterns — fixes Port Scanning misses.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5715000" y="822960"/>
            <a:ext cx="2606040" cy="25603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FFD600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D600"/>
                </a:solidFill>
                <a:latin typeface="Calibri"/>
              </a:rPr>
              <a:t>Adaptive Threshold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Rolling 95th percentile over recent normal traffic buffer.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Threshold updates as device fleet evolves over time.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8458200" y="822960"/>
            <a:ext cx="2606040" cy="25603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7B2FBE"/>
                </a:solidFill>
                <a:latin typeface="Calibri"/>
              </a:rPr>
              <a:t>Variational Autoencoder (VAE)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Probabilistic latent representation — reconstruction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probability instead of raw MSE — better calibrated.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228600" y="3566160"/>
            <a:ext cx="2606040" cy="25603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E676"/>
                </a:solidFill>
                <a:latin typeface="Calibri"/>
              </a:rPr>
              <a:t>Feature Pruning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Remove 14 zero-importance features. Reduce dimensionality,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potentially improve AE generalisation and speed.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2971800" y="3566160"/>
            <a:ext cx="2606040" cy="25603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FF6B35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6B35"/>
                </a:solidFill>
                <a:latin typeface="Calibri"/>
              </a:rPr>
              <a:t>Real Hardware Deployment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Profile and quantise models for Raspberry Pi gateway.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LightGBM is already lightweight. AE has only 11,907 params.</a:t>
            </a:r>
          </a:p>
        </p:txBody>
      </p:sp>
      <p:sp>
        <p:nvSpPr>
          <p:cNvPr id="16" name="S16"/>
          <p:cNvSpPr>
            <a:spLocks noGrp="1"/>
          </p:cNvSpPr>
          <p:nvPr/>
        </p:nvSpPr>
        <p:spPr>
          <a:xfrm>
            <a:off x="5715000" y="3566160"/>
            <a:ext cx="2606040" cy="25603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C6FF"/>
                </a:solidFill>
                <a:latin typeface="Calibri"/>
              </a:rPr>
              <a:t>Federated Learning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Train on distributed IoT gateways without centralising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private traffic data. Privacy-preserving IDS.</a:t>
            </a:r>
          </a:p>
        </p:txBody>
      </p:sp>
      <p:sp>
        <p:nvSpPr>
          <p:cNvPr id="17" name="S17"/>
          <p:cNvSpPr>
            <a:spLocks noGrp="1"/>
          </p:cNvSpPr>
          <p:nvPr/>
        </p:nvSpPr>
        <p:spPr>
          <a:xfrm>
            <a:off x="8458200" y="3566160"/>
            <a:ext cx="2606040" cy="25603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7B2FBE"/>
                </a:solidFill>
                <a:latin typeface="Calibri"/>
              </a:rPr>
              <a:t>GAN-Based Anomaly Detection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GAN discriminator provides richer anomaly signal than</a:t>
            </a:r>
          </a:p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plain MSE. More powerful but harder to train stably.</a:t>
            </a:r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749808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749808"/>
            <a:ext cx="50292" cy="610819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6793992"/>
            <a:ext cx="12192000" cy="64008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597640" y="6446520"/>
            <a:ext cx="502920" cy="329184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22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201168" y="54864"/>
            <a:ext cx="1178052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[G]  Key Viva Q&amp;A Preparation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228600" y="82296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7B2FBE"/>
                </a:solidFill>
                <a:latin typeface="Calibri"/>
              </a:rPr>
              <a:t>Q: Why fit scaler on normal traffic only?</a:t>
            </a:r>
          </a:p>
          <a:p>
            <a:pPr algn="l">
              <a:lnSpc>
                <a:spcPct val="100000"/>
              </a:lnSpc>
            </a:pPr>
            <a:r>
              <a:rPr lang="en-US" sz="1200" b="1" i="0" dirty="0">
                <a:solidFill>
                  <a:srgbClr val="00C6FF"/>
                </a:solidFill>
                <a:latin typeface="Calibri"/>
              </a:rPr>
              <a:t>A: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Contaminating with attack stats corrupts the AE's normalcy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baseline — it would learn to tolerate attack features.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3886200" y="82296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C6FF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00C6FF"/>
                </a:solidFill>
                <a:latin typeface="Calibri"/>
              </a:rPr>
              <a:t>Q: Why 90% confidence threshold?</a:t>
            </a:r>
          </a:p>
          <a:p>
            <a:pPr algn="l">
              <a:lnSpc>
                <a:spcPct val="100000"/>
              </a:lnSpc>
            </a:pPr>
            <a:r>
              <a:rPr lang="en-US" sz="1200" b="1" i="0" dirty="0">
                <a:solidFill>
                  <a:srgbClr val="00C6FF"/>
                </a:solidFill>
                <a:latin typeface="Calibri"/>
              </a:rPr>
              <a:t>A: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Genuine normals: LightGBM &gt;=95% confident. Zero-day attacks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misclassified as Normal: 60-85% confident. Clean separation.</a:t>
            </a:r>
          </a:p>
        </p:txBody>
      </p:sp>
      <p:sp>
        <p:nvSpPr>
          <p:cNvPr id="12" name="S12"/>
          <p:cNvSpPr>
            <a:spLocks noGrp="1"/>
          </p:cNvSpPr>
          <p:nvPr/>
        </p:nvSpPr>
        <p:spPr>
          <a:xfrm>
            <a:off x="7543800" y="82296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FF6B35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FF6B35"/>
                </a:solidFill>
                <a:latin typeface="Calibri"/>
              </a:rPr>
              <a:t>Q: Why can't LightGBM detect zero-day?</a:t>
            </a:r>
          </a:p>
          <a:p>
            <a:pPr algn="l">
              <a:lnSpc>
                <a:spcPct val="100000"/>
              </a:lnSpc>
            </a:pPr>
            <a:r>
              <a:rPr lang="en-US" sz="1200" b="1" i="0" dirty="0">
                <a:solidFill>
                  <a:srgbClr val="00C6FF"/>
                </a:solidFill>
                <a:latin typeface="Calibri"/>
              </a:rPr>
              <a:t>A: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Supervised classifier — forces every input into one of its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10 trained classes. Cannot output 'unknown class'.</a:t>
            </a:r>
          </a:p>
        </p:txBody>
      </p:sp>
      <p:sp>
        <p:nvSpPr>
          <p:cNvPr id="13" name="S13"/>
          <p:cNvSpPr>
            <a:spLocks noGrp="1"/>
          </p:cNvSpPr>
          <p:nvPr/>
        </p:nvSpPr>
        <p:spPr>
          <a:xfrm>
            <a:off x="228600" y="352044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7B2FBE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7B2FBE"/>
                </a:solidFill>
                <a:latin typeface="Calibri"/>
              </a:rPr>
              <a:t>Q: Why train AE on normal traffic only?</a:t>
            </a:r>
          </a:p>
          <a:p>
            <a:pPr algn="l">
              <a:lnSpc>
                <a:spcPct val="100000"/>
              </a:lnSpc>
            </a:pPr>
            <a:r>
              <a:rPr lang="en-US" sz="1200" b="1" i="0" dirty="0">
                <a:solidFill>
                  <a:srgbClr val="00C6FF"/>
                </a:solidFill>
                <a:latin typeface="Calibri"/>
              </a:rPr>
              <a:t>A: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AE trained on attacks would reconstruct attacks well too —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losing the anomaly detection capability entirely.</a:t>
            </a:r>
          </a:p>
        </p:txBody>
      </p:sp>
      <p:sp>
        <p:nvSpPr>
          <p:cNvPr id="14" name="S14"/>
          <p:cNvSpPr>
            <a:spLocks noGrp="1"/>
          </p:cNvSpPr>
          <p:nvPr/>
        </p:nvSpPr>
        <p:spPr>
          <a:xfrm>
            <a:off x="3886200" y="352044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E676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00E676"/>
                </a:solidFill>
                <a:latin typeface="Calibri"/>
              </a:rPr>
              <a:t>Q: Why Parquet not CSV?</a:t>
            </a:r>
          </a:p>
          <a:p>
            <a:pPr algn="l">
              <a:lnSpc>
                <a:spcPct val="100000"/>
              </a:lnSpc>
            </a:pPr>
            <a:r>
              <a:rPr lang="en-US" sz="1200" b="1" i="0" dirty="0">
                <a:solidFill>
                  <a:srgbClr val="00C6FF"/>
                </a:solidFill>
                <a:latin typeface="Calibri"/>
              </a:rPr>
              <a:t>A: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10x smaller, binary (instant load), preserves data types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(float32/int32 saved from preprocessing are maintained).</a:t>
            </a:r>
          </a:p>
        </p:txBody>
      </p:sp>
      <p:sp>
        <p:nvSpPr>
          <p:cNvPr id="15" name="S15"/>
          <p:cNvSpPr>
            <a:spLocks noGrp="1"/>
          </p:cNvSpPr>
          <p:nvPr/>
        </p:nvSpPr>
        <p:spPr>
          <a:xfrm>
            <a:off x="7543800" y="3520440"/>
            <a:ext cx="3520440" cy="25146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FF1744"/>
            </a:solidFill>
          </a:ln>
          <a:effectLst/>
        </p:spPr>
        <p:txBody>
          <a:bodyPr anchor="t"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250" b="1" i="0" dirty="0">
                <a:solidFill>
                  <a:srgbClr val="FF1744"/>
                </a:solidFill>
                <a:latin typeface="Calibri"/>
              </a:rPr>
              <a:t>Q: What are the 520 missed attacks?</a:t>
            </a:r>
          </a:p>
          <a:p>
            <a:pPr algn="l">
              <a:lnSpc>
                <a:spcPct val="100000"/>
              </a:lnSpc>
            </a:pPr>
            <a:r>
              <a:rPr lang="en-US" sz="1200" b="1" i="0" dirty="0">
                <a:solidFill>
                  <a:srgbClr val="00C6FF"/>
                </a:solidFill>
                <a:latin typeface="Calibri"/>
              </a:rPr>
              <a:t>A: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Fingerprinting &amp; Port Scanning. Low-volume, slow-paced traffic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FFFFFF"/>
                </a:solidFill>
                <a:latin typeface="Calibri"/>
              </a:rPr>
              <a:t>   looks like routine packets — no temporal context in our model.</a:t>
            </a:r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3" name="S3"/>
          <p:cNvSpPr>
            <a:spLocks noGrp="1"/>
          </p:cNvSpPr>
          <p:nvPr/>
        </p:nvSpPr>
        <p:spPr>
          <a:xfrm>
            <a:off x="0" y="0"/>
            <a:ext cx="12192000" cy="100584"/>
          </a:xfrm>
          <a:prstGeom prst="rect">
            <a:avLst/>
          </a:prstGeom>
          <a:gradFill>
            <a:gsLst>
              <a:gs pos="0">
                <a:srgbClr val="00C6FF"/>
              </a:gs>
              <a:gs pos="100000">
                <a:srgbClr val="7B2FBE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4" name="S4"/>
          <p:cNvSpPr>
            <a:spLocks noGrp="1"/>
          </p:cNvSpPr>
          <p:nvPr/>
        </p:nvSpPr>
        <p:spPr>
          <a:xfrm>
            <a:off x="0" y="6757416"/>
            <a:ext cx="12192000" cy="100584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5" name="S5"/>
          <p:cNvSpPr>
            <a:spLocks noGrp="1"/>
          </p:cNvSpPr>
          <p:nvPr/>
        </p:nvSpPr>
        <p:spPr>
          <a:xfrm>
            <a:off x="0" y="100584"/>
            <a:ext cx="50292" cy="6656832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>
            <a:normAutofit/>
          </a:bodyPr>
          <a:lstStyle/>
          <a:p>
            <a:endParaRPr lang="en-US" dirty="0"/>
          </a:p>
        </p:txBody>
      </p:sp>
      <p:sp>
        <p:nvSpPr>
          <p:cNvPr id="6" name="S6"/>
          <p:cNvSpPr>
            <a:spLocks noGrp="1"/>
          </p:cNvSpPr>
          <p:nvPr/>
        </p:nvSpPr>
        <p:spPr>
          <a:xfrm>
            <a:off x="1188720" y="640080"/>
            <a:ext cx="8778240" cy="1463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5800" b="1" i="0" dirty="0">
                <a:solidFill>
                  <a:srgbClr val="00C6FF"/>
                </a:solidFill>
                <a:latin typeface="Calibri"/>
              </a:rPr>
              <a:t>Thank You!</a:t>
            </a:r>
          </a:p>
        </p:txBody>
      </p:sp>
      <p:sp>
        <p:nvSpPr>
          <p:cNvPr id="7" name="S7"/>
          <p:cNvSpPr>
            <a:spLocks noGrp="1"/>
          </p:cNvSpPr>
          <p:nvPr/>
        </p:nvSpPr>
        <p:spPr>
          <a:xfrm>
            <a:off x="1828800" y="2148840"/>
            <a:ext cx="7498079" cy="45720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500" b="0" i="0" dirty="0">
                <a:solidFill>
                  <a:srgbClr val="B0BEC5"/>
                </a:solidFill>
                <a:latin typeface="Calibri"/>
              </a:rPr>
              <a:t>Zero-Day IoT Attack Detection Using a Hybrid Machine Learning Approach</a:t>
            </a:r>
          </a:p>
        </p:txBody>
      </p:sp>
      <p:sp>
        <p:nvSpPr>
          <p:cNvPr id="8" name="S8"/>
          <p:cNvSpPr>
            <a:spLocks noGrp="1"/>
          </p:cNvSpPr>
          <p:nvPr/>
        </p:nvSpPr>
        <p:spPr>
          <a:xfrm>
            <a:off x="457200" y="2788920"/>
            <a:ext cx="11277600" cy="6400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E676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450" b="1" i="0" dirty="0">
                <a:solidFill>
                  <a:srgbClr val="00E676"/>
                </a:solidFill>
                <a:latin typeface="Calibri"/>
              </a:rPr>
              <a:t>99.99% LightGBM      99.19% Autoencoder      96.82% Fusion Model      +47.8pp vs Baseline</a:t>
            </a:r>
          </a:p>
        </p:txBody>
      </p:sp>
      <p:sp>
        <p:nvSpPr>
          <p:cNvPr id="9" name="S9"/>
          <p:cNvSpPr>
            <a:spLocks noGrp="1"/>
          </p:cNvSpPr>
          <p:nvPr/>
        </p:nvSpPr>
        <p:spPr>
          <a:xfrm>
            <a:off x="457200" y="3611880"/>
            <a:ext cx="11277600" cy="18288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D2137"/>
              </a:gs>
              <a:gs pos="100000">
                <a:srgbClr val="071020"/>
              </a:gs>
            </a:gsLst>
            <a:lin ang="5400000" scaled="0"/>
          </a:gradFill>
          <a:ln w="19050">
            <a:solidFill>
              <a:srgbClr val="7B2FBE"/>
            </a:solidFill>
          </a:ln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00C6FF"/>
                </a:solidFill>
                <a:latin typeface="Calibri"/>
              </a:rPr>
              <a:t>PROJECT TEAM      B.Tech CSE      MAY 2026</a:t>
            </a:r>
          </a:p>
          <a:p>
            <a:endParaRPr lang="en-US" dirty="0"/>
          </a:p>
          <a:p>
            <a:pPr algn="ctr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Shahil Ahmed  (202202021046)        Jagriti Shivam  (202202022091)</a:t>
            </a:r>
          </a:p>
          <a:p>
            <a:pPr algn="ctr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Khushi Das  (202202022113)        Babul Hoque  (202202021020)</a:t>
            </a:r>
          </a:p>
          <a:p>
            <a:endParaRPr lang="en-US" dirty="0"/>
          </a:p>
          <a:p>
            <a:pPr algn="ctr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Supervisor: Mr. Bikramjit Choudhury  |  Asst. Professor, Dept. of CSE</a:t>
            </a:r>
          </a:p>
        </p:txBody>
      </p:sp>
      <p:sp>
        <p:nvSpPr>
          <p:cNvPr id="10" name="S10"/>
          <p:cNvSpPr>
            <a:spLocks noGrp="1"/>
          </p:cNvSpPr>
          <p:nvPr/>
        </p:nvSpPr>
        <p:spPr>
          <a:xfrm>
            <a:off x="1371600" y="5596128"/>
            <a:ext cx="8412480" cy="50292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1" i="0" dirty="0">
                <a:solidFill>
                  <a:srgbClr val="FFD600"/>
                </a:solidFill>
                <a:latin typeface="Calibri"/>
              </a:rPr>
              <a:t>CENTRAL INSTITUTE OF TECHNOLOGY KOKRAJHAR, ASSAM      www.cit.ac.in</a:t>
            </a:r>
          </a:p>
        </p:txBody>
      </p:sp>
      <p:sp>
        <p:nvSpPr>
          <p:cNvPr id="11" name="S11"/>
          <p:cNvSpPr>
            <a:spLocks noGrp="1"/>
          </p:cNvSpPr>
          <p:nvPr/>
        </p:nvSpPr>
        <p:spPr>
          <a:xfrm>
            <a:off x="3474720" y="6199632"/>
            <a:ext cx="4206240" cy="50292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i="0" dirty="0">
                <a:solidFill>
                  <a:srgbClr val="00E676"/>
                </a:solidFill>
                <a:latin typeface="Calibri"/>
              </a:rPr>
              <a:t>Questions &amp; Discussion Welcome [&gt;&gt;]</a:t>
            </a:r>
          </a:p>
        </p:txBody>
      </p:sp>
    </p:spTree>
  </p:cSld>
</p:sld>
</file>

<file path=docProps/app.xml><?xml version="1.0" encoding="utf-8"?>
<Properties xmlns="http://schemas.openxmlformats.org/officeDocument/2006/extended-properties">
  <Application>Microsoft Office PowerPoint</Application>
  <Slides>23</Slides>
</Properties>
</file>

<file path=docProps/core.xml><?xml version="1.0" encoding="utf-8"?>
<cp:coreProperties xmlns:cp="http://schemas.openxmlformats.org/package/2006/metadata/core-properties" xmlns:dc="http://purl.org/dc/elements/1.1/">
  <dc:title>Zero-Day IoT Attack Detection Using Hybrid ML</dc:title>
  <dc:creator>Shahil Ahmed, Jagriti Shivam, Khushi Das, Babul Hoque</dc:creator>
  <dc:subject>CIT Kokrajhar B.Tech Final Year Project 2026</dc:subject>
</cp:coreProperties>
</file>