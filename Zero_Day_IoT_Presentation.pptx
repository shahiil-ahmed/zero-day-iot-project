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
    Type="http://schemas.openxmlformats.org/officeDocument/2006/relationships/officeDocument"
    Target="ppt/presentation.xml"/>
  <Relationship Id="rId2"
    Type="http://schemas.openxmlformats.org/package/2006/relationships/metadata/core-properties"
    Target="docProps/core.xml"/>
  <Relationship Id="rId3"
    Type="http://schemas.openxmlformats.org/officeDocument/2006/relationships/extended-properties"
    Target="docProps/app.xml"/>
</Relationships>
</file>

<file path=ppt/presentation.xml><?xml version="1.0" encoding="utf-8"?>
<p:prs xmlns:p="http://schemas.openxmlformats.org/presentationml/2006/main" xmlns:a="http://schemas.openxmlformats.org/drawingml/2006/main" xmlns:r="http://schemas.openxmlformats.org/officeDocument/2006/relationships" saveSubsetFonts="1">
  <p:sldMasterIdLst>
    <p:sldMasterId id="2147483648" r:id="rId0"/>
  </p:sld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</p:sldIdLst>
  <p:sldSz cx="12192000" cy="6858000" type="custom"/>
  <p:defaultTextStyle/>
</p:prs>
</file>

<file path=ppt/_rels/presentation.xml.rels><?xml version="1.0" encoding="UTF-8" standalone="yes"?>
<Relationships xmlns="http://schemas.openxmlformats.org/package/2006/relationships">
  <Relationship Id="rId0" Type="http://schemas.openxmlformats.org/officeDocument/2006/relationships/slideMaster" Target="slideMasters/slideMaster1.xml"/>
  <Relationship Id="rId1" Type="http://schemas.openxmlformats.org/officeDocument/2006/relationships/slide" Target="slides/slide1.xml"/>
  <Relationship Id="rId2" Type="http://schemas.openxmlformats.org/officeDocument/2006/relationships/slide" Target="slides/slide2.xml"/>
  <Relationship Id="rId3" Type="http://schemas.openxmlformats.org/officeDocument/2006/relationships/slide" Target="slides/slide3.xml"/>
  <Relationship Id="rId4" Type="http://schemas.openxmlformats.org/officeDocument/2006/relationships/slide" Target="slides/slide4.xml"/>
  <Relationship Id="rId5" Type="http://schemas.openxmlformats.org/officeDocument/2006/relationships/slide" Target="slides/slide5.xml"/>
  <Relationship Id="rId6" Type="http://schemas.openxmlformats.org/officeDocument/2006/relationships/slide" Target="slides/slide6.xml"/>
  <Relationship Id="rId7" Type="http://schemas.openxmlformats.org/officeDocument/2006/relationships/slide" Target="slides/slide7.xml"/>
  <Relationship Id="rId8" Type="http://schemas.openxmlformats.org/officeDocument/2006/relationships/slide" Target="slides/slide8.xml"/>
  <Relationship Id="rId9" Type="http://schemas.openxmlformats.org/officeDocument/2006/relationships/slide" Target="slides/slide9.xml"/>
  <Relationship Id="rId10" Type="http://schemas.openxmlformats.org/officeDocument/2006/relationships/slide" Target="slides/slide10.xml"/>
  <Relationship Id="rId11" Type="http://schemas.openxmlformats.org/officeDocument/2006/relationships/slide" Target="slides/slide11.xml"/>
  <Relationship Id="rId12" Type="http://schemas.openxmlformats.org/officeDocument/2006/relationships/slide" Target="slides/slide12.xml"/>
  <Relationship Id="rId13" Type="http://schemas.openxmlformats.org/officeDocument/2006/relationships/slide" Target="slides/slide13.xml"/>
</Relationships>
</file>

<file path=ppt/slideLayouts/_rels/slideLayout1.xml.rels><?xml version="1.0" encoding="UTF-8" standalone="yes"?>
<Relationships xmlns="http://schemas.openxmlformats.org/package/2006/relationships">
  <Relationship Id="rId1"
    Type="http://schemas.openxmlformats.org/officeDocument/2006/relationships/slideMaster"
    Target="../slideMasters/slideMaster1.xml"/>
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
    Type="http://schemas.openxmlformats.org/officeDocument/2006/relationships/slideLayout"
    Target="../slideLayouts/slideLayout1.xml"/>
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
  <Relationship Id="rId1"
    Type="http://schemas.openxmlformats.org/officeDocument/2006/relationships/slideLayout"
   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
    Type="http://schemas.openxmlformats.org/officeDocument/2006/relationships/slideLayout"
    Target="../slideLayouts/slideLayout1.xml"/>
</Relationships>
</file>

<file path=ppt/slides/_rels/slide3.xml.rels><?xml version="1.0" encoding="UTF-8" standalone="yes"?>
<Relationships xmlns="http://schemas.openxmlformats.org/package/2006/relationships">
  <Relationship Id="rId1"
    Type="http://schemas.openxmlformats.org/officeDocument/2006/relationships/slideLayout"
    Target="../slideLayouts/slideLayout1.xml"/>
</Relationships>
</file>

<file path=ppt/slides/_rels/slide4.xml.rels><?xml version="1.0" encoding="UTF-8" standalone="yes"?>
<Relationships xmlns="http://schemas.openxmlformats.org/package/2006/relationships">
  <Relationship Id="rId1"
    Type="http://schemas.openxmlformats.org/officeDocument/2006/relationships/slideLayout"
    Target="../slideLayouts/slideLayout1.xml"/>
</Relationships>
</file>

<file path=ppt/slides/_rels/slide5.xml.rels><?xml version="1.0" encoding="UTF-8" standalone="yes"?>
<Relationships xmlns="http://schemas.openxmlformats.org/package/2006/relationships">
  <Relationship Id="rId1"
    Type="http://schemas.openxmlformats.org/officeDocument/2006/relationships/slideLayout"
    Target="../slideLayouts/slideLayout1.xml"/>
</Relationships>
</file>

<file path=ppt/slides/_rels/slide6.xml.rels><?xml version="1.0" encoding="UTF-8" standalone="yes"?>
<Relationships xmlns="http://schemas.openxmlformats.org/package/2006/relationships">
  <Relationship Id="rId1"
    Type="http://schemas.openxmlformats.org/officeDocument/2006/relationships/slideLayout"
    Target="../slideLayouts/slideLayout1.xml"/>
</Relationships>
</file>

<file path=ppt/slides/_rels/slide7.xml.rels><?xml version="1.0" encoding="UTF-8" standalone="yes"?>
<Relationships xmlns="http://schemas.openxmlformats.org/package/2006/relationships">
  <Relationship Id="rId1"
    Type="http://schemas.openxmlformats.org/officeDocument/2006/relationships/slideLayout"
    Target="../slideLayouts/slideLayout1.xml"/>
</Relationships>
</file>

<file path=ppt/slides/_rels/slide8.xml.rels><?xml version="1.0" encoding="UTF-8" standalone="yes"?>
<Relationships xmlns="http://schemas.openxmlformats.org/package/2006/relationships">
  <Relationship Id="rId1"
    Type="http://schemas.openxmlformats.org/officeDocument/2006/relationships/slideLayout"
    Target="../slideLayouts/slideLayout1.xml"/>
</Relationships>
</file>

<file path=ppt/slides/_rels/slide9.xml.rels><?xml version="1.0" encoding="UTF-8" standalone="yes"?>
<Relationships xmlns="http://schemas.openxmlformats.org/package/2006/relationships">
  <Relationship Id="rId1"
    Type="http://schemas.openxmlformats.org/officeDocument/2006/relationships/slideLayout"
    Target="../slideLayouts/slideLayout1.xml"/>
</Relationships>
</file>

<file path=ppt/slides/_rels/slide10.xml.rels><?xml version="1.0" encoding="UTF-8" standalone="yes"?>
<Relationships xmlns="http://schemas.openxmlformats.org/package/2006/relationships">
  <Relationship Id="rId1"
    Type="http://schemas.openxmlformats.org/officeDocument/2006/relationships/slideLayout"
    Target="../slideLayouts/slideLayout1.xml"/>
</Relationships>
</file>

<file path=ppt/slides/_rels/slide11.xml.rels><?xml version="1.0" encoding="UTF-8" standalone="yes"?>
<Relationships xmlns="http://schemas.openxmlformats.org/package/2006/relationships">
  <Relationship Id="rId1"
    Type="http://schemas.openxmlformats.org/officeDocument/2006/relationships/slideLayout"
    Target="../slideLayouts/slideLayout1.xml"/>
</Relationships>
</file>

<file path=ppt/slides/_rels/slide12.xml.rels><?xml version="1.0" encoding="UTF-8" standalone="yes"?>
<Relationships xmlns="http://schemas.openxmlformats.org/package/2006/relationships">
  <Relationship Id="rId1"
    Type="http://schemas.openxmlformats.org/officeDocument/2006/relationships/slideLayout"
    Target="../slideLayouts/slideLayout1.xml"/>
</Relationships>
</file>

<file path=ppt/slides/_rels/slide13.xml.rels><?xml version="1.0" encoding="UTF-8" standalone="yes"?>
<Relationships xmlns="http://schemas.openxmlformats.org/package/2006/relationships">
  <Relationship Id="rId1"
    Type="http://schemas.openxmlformats.org/officeDocument/2006/relationships/slideLayout"
    Target="../slideLayouts/slideLayout1.xml"/>
</Relationships>
</file>

<file path=ppt/slides/slide1.xml><?xml version="1.0" encoding="UTF-8" standalone="yes"?>
<p:sld xmlns:p="http://schemas.openxmlformats.org/presentationml/2006/main"
       xmlns:a="http://schemas.openxmlformats.org/drawingml/2006/main"
       xmlns:r="http://schemas.openxmlformats.org/officeDocument/2006/relationships">
  <p:cSld>
    <p:spTree>
      <p:nvGrpSpPr>
        <p:cNvPr id="1" name=""/>
        <p:cNvGrpSpPr/>
        <p:nvPr/>
      </p:nvGrpSpPr>
      <p:grpSpPr>
        <a:xfrm><a:off x="0" y="0"/><a:ext cx="12192000" cy="6858000"/>
        <a:chOff x="0" y="0"/><a:chExt cx="12192000" cy="6858000"/></a:xfrm>
      </p:grpSpPr>
      <p:sp>
  <p:nvSpPr>
    <p:cNvPr id="2" name="Shape2"/>
    <p:cNvSpPr><a:spLocks noGrp="1"/></p:cNvSpPr>
    <p:nvPr/>
  </p:nvSpPr>
  <p:spPr>
  <a:xfrm><a:off x="0" y="0"/><a:ext cx="12192000" cy="6858000"/></a:xfrm>
  <a:prstGeom prst="rect"><a:avLst/></a:prstGeom>
  <a:gradFill><a:gsLst>
      <a:gs pos="0"><a:srgbClr val="060B18"/></a:gs>
      <a:gs pos="100000"><a:srgbClr val="0D1B2A"/></a:gs>
    </a:gsLst><a:lin ang="5400000" scaled="0"/></a:gradFill>
  
  <a:effectLst/>
</p:spPr>
  <p:txBody>
  <a:bodyPr anchor="ctr" wrap="square" vert="horz">
    <a:normAutofit/>
  </a:bodyPr>
  <a:lstStyle/>
  <a:p><a:endParaRPr lang="en-US" dirty="0"/></a:p>
</p:txBody>
</p:sp>
<p:sp>
  <p:nvSpPr>
    <p:cNvPr id="3" name="Shape3"/>
    <p:cNvSpPr><a:spLocks noGrp="1"/></p:cNvSpPr>
    <p:nvPr/>
  </p:nvSpPr>
  <p:spPr>
  <a:xfrm><a:off x="0" y="0"/><a:ext cx="12192000" cy="109728"/></a:xfrm>
  <a:prstGeom prst="rect"><a:avLst/></a:prstGeom>
  <a:gradFill><a:gsLst>
      <a:gs pos="0"><a:srgbClr val="00C6FF"/></a:gs>
      <a:gs pos="100000"><a:srgbClr val="7B2FBE"/></a:gs>
    </a:gsLst><a:lin ang="0" scaled="0"/></a:gradFill>
  
  <a:effectLst/>
</p:spPr>
  <p:txBody>
  <a:bodyPr anchor="ctr" wrap="square" vert="horz">
    <a:normAutofit/>
  </a:bodyPr>
  <a:lstStyle/>
  <a:p><a:endParaRPr lang="en-US" dirty="0"/></a:p>
</p:txBody>
</p:sp>
<p:sp>
  <p:nvSpPr>
    <p:cNvPr id="4" name="Shape4"/>
    <p:cNvSpPr><a:spLocks noGrp="1"/></p:cNvSpPr>
    <p:nvPr/>
  </p:nvSpPr>
  <p:spPr>
  <a:xfrm><a:off x="0" y="6748272"/><a:ext cx="12192000" cy="109728"/></a:xfrm>
  <a:prstGeom prst="rect"><a:avLst/></a:prstGeom>
  <a:gradFill><a:gsLst>
      <a:gs pos="0"><a:srgbClr val="7B2FBE"/></a:gs>
      <a:gs pos="100000"><a:srgbClr val="00C6FF"/></a:gs>
    </a:gsLst><a:lin ang="0" scaled="0"/></a:gradFill>
  
  <a:effectLst/>
</p:spPr>
  <p:txBody>
  <a:bodyPr anchor="ctr" wrap="square" vert="horz">
    <a:normAutofit/>
  </a:bodyPr>
  <a:lstStyle/>
  <a:p><a:endParaRPr lang="en-US" dirty="0"/></a:p>
</p:txBody>
</p:sp>
<p:sp>
  <p:nvSpPr>
    <p:cNvPr id="5" name="Shape5"/>
    <p:cNvSpPr><a:spLocks noGrp="1"/></p:cNvSpPr>
    <p:nvPr/>
  </p:nvSpPr>
  <p:spPr>
  <a:xfrm><a:off x="0" y="109728"/><a:ext cx="54864" cy="6638544"/></a:xfrm>
  <a:prstGeom prst="rect"><a:avLst/></a:prstGeom>
  <a:solidFill><a:srgbClr val="00C6FF"/></a:solidFill>
  
  <a:effectLst/>
</p:spPr>
  <p:txBody>
  <a:bodyPr anchor="ctr" wrap="square" vert="horz">
    <a:normAutofit/>
  </a:bodyPr>
  <a:lstStyle/>
  <a:p><a:endParaRPr lang="en-US" dirty="0"/></a:p>
</p:txBody>
</p:sp>
<p:sp>
  <p:nvSpPr>
    <p:cNvPr id="6" name="Shape6"/>
    <p:cNvSpPr><a:spLocks noGrp="1"/></p:cNvSpPr>
    <p:nvPr/>
  </p:nvSpPr>
  <p:spPr>
  <a:xfrm><a:off x="457200" y="822960"/><a:ext cx="10241280" cy="1737360"/></a:xfrm>
  <a:prstGeom prst="roundRect"><a:avLst><a:gd name="adj" fmla="val 20000"/></a:avLst></a:prstGeom>
  <a:gradFill><a:gsLst>
      <a:gs pos="0"><a:srgbClr val="0D2137"/></a:gs>
      <a:gs pos="100000"><a:srgbClr val="0A1628"/></a:gs>
    </a:gsLst><a:lin ang="5400000" scaled="0"/></a:gradFill>
  <a:ln w="19050"><a:solidFill><a:srgbClr val="00C6FF"/></a:solidFill></a:ln>
  <a:effectLst/>
</p:spPr>
  <p:txBody>
  <a:bodyPr anchor="ctr" wrap="square" vert="horz">
    <a:normAutofit/>
  </a:bodyPr>
  <a:lstStyle/>
  <a:p>
  <a:pPr algn="ctr"><a:lnSpc><a:spcPct val="100000"/></a:lnSpc></a:pPr>
  <a:r><a:rPr lang="en-US" sz="3600" b="1" i="0" dirty="0">
    <a:solidFill><a:srgbClr val="00C6FF"/></a:solidFill>
    <a:latin typeface="Calibri"/>
  </a:rPr><a:t>Zero-Day IoT Attack Detection</a:t></a:r>
</a:p><a:p>
  <a:pPr algn="ctr"><a:lnSpc><a:spcPct val="100000"/></a:lnSpc></a:pPr>
  <a:r><a:rPr lang="en-US" sz="2400" b="0" i="0" dirty="0">
    <a:solidFill><a:srgbClr val="FFFFFF"/></a:solidFill>
    <a:latin typeface="Calibri"/>
  </a:rPr><a:t>Using a Hybrid Machine Learning Approach</a:t></a:r>
</a:p>
</p:txBody>
</p:sp>
<p:sp>
  <p:nvSpPr>
    <p:cNvPr id="7" name="Shape7"/>
    <p:cNvSpPr><a:spLocks noGrp="1"/></p:cNvSpPr>
    <p:nvPr/>
  </p:nvSpPr>
  <p:spPr>
  <a:xfrm><a:off x="1828800" y="2788920"/><a:ext cx="7498079" cy="457200"/></a:xfrm>
  <a:prstGeom prst="rect"><a:avLst/></a:prstGeom>
  <a:solidFill><a:srgbClr val="00000000"/></a:solidFill>
  
  <a:effectLst/>
</p:spPr>
  <p:txBody>
  <a:bodyPr anchor="ctr" wrap="square" vert="horz">
    <a:normAutofit/>
  </a:bodyPr>
  <a:lstStyle/>
  <a:p>
  <a:pPr algn="ctr"><a:lnSpc><a:spcPct val="100000"/></a:lnSpc></a:pPr>
  <a:r><a:rPr lang="en-US" sz="1600" b="0" i="0" dirty="0">
    <a:solidFill><a:srgbClr val="B0BEC5"/></a:solidFill>
    <a:latin typeface="Calibri"/>
  </a:rPr><a:t>B.Tech Final Year Project  ·  Computer Science & Engineering</a:t></a:r>
</a:p>
</p:txBody>
</p:sp>
<p:sp>
  <p:nvSpPr>
    <p:cNvPr id="8" name="Shape8"/>
    <p:cNvSpPr><a:spLocks noGrp="1"/></p:cNvSpPr>
    <p:nvPr/>
  </p:nvSpPr>
  <p:spPr>
  <a:xfrm><a:off x="548640" y="3383280"/><a:ext cx="4572000" cy="2286000"/></a:xfrm>
  <a:prstGeom prst="roundRect"><a:avLst><a:gd name="adj" fmla="val 12000"/></a:avLst></a:prstGeom>
  <a:gradFill><a:gsLst>
      <a:gs pos="0"><a:srgbClr val="0D2137"/></a:gs>
      <a:gs pos="100000"><a:srgbClr val="071020"/></a:gs>
    </a:gsLst><a:lin ang="5400000" scaled="0"/></a:gradFill>
  <a:ln w="19050"><a:solidFill><a:srgbClr val="7B2FBE"/></a:solidFill></a:ln>
  <a:effectLst/>
</p:spPr>
  <p:txBody>
  <a:bodyPr anchor="ctr" wrap="square" vert="horz">
    <a:normAutofit/>
  </a:bodyPr>
  <a:lstStyle/>
  <a:p>
  <a:pPr algn="ctr"><a:lnSpc><a:spcPct val="100000"/></a:lnSpc></a:pPr>
  <a:r><a:rPr lang="en-US" sz="1400" b="1" i="0" dirty="0">
    <a:solidFill><a:srgbClr val="00C6FF"/></a:solidFill>
    <a:latin typeface="Calibri"/>
  </a:rPr><a:t>PROJECT TEAM</a:t></a:r>
</a:p><a:p>
  <a:pPr algn="ctr"><a:lnSpc><a:spcPct val="100000"/></a:lnSpc></a:pPr>
  <a:r><a:rPr lang="en-US" sz="1300" b="0" i="0" dirty="0">
    <a:solidFill><a:srgbClr val="FFFFFF"/></a:solidFill>
    <a:latin typeface="Calibri"/>
  </a:rPr><a:t>Shahil Ahmed  ·  Roll No. 202202021046</a:t></a:r>
</a:p><a:p>
  <a:pPr algn="ctr"><a:lnSpc><a:spcPct val="100000"/></a:lnSpc></a:pPr>
  <a:r><a:rPr lang="en-US" sz="1300" b="0" i="0" dirty="0">
    <a:solidFill><a:srgbClr val="FFFFFF"/></a:solidFill>
    <a:latin typeface="Calibri"/>
  </a:rPr><a:t>Jagriti Shivam  ·  Roll No. 202202022091</a:t></a:r>
</a:p><a:p>
  <a:pPr algn="ctr"><a:lnSpc><a:spcPct val="100000"/></a:lnSpc></a:pPr>
  <a:r><a:rPr lang="en-US" sz="1300" b="0" i="0" dirty="0">
    <a:solidFill><a:srgbClr val="FFFFFF"/></a:solidFill>
    <a:latin typeface="Calibri"/>
  </a:rPr><a:t>Khushi Das  ·  Roll No. 202202022113</a:t></a:r>
</a:p><a:p>
  <a:pPr algn="ctr"><a:lnSpc><a:spcPct val="100000"/></a:lnSpc></a:pPr>
  <a:r><a:rPr lang="en-US" sz="1300" b="0" i="0" dirty="0">
    <a:solidFill><a:srgbClr val="FFFFFF"/></a:solidFill>
    <a:latin typeface="Calibri"/>
  </a:rPr><a:t>Babul Hoque  ·  Roll No. 202202021020</a:t></a:r>
</a:p>
</p:txBody>
</p:sp>
<p:sp>
  <p:nvSpPr>
    <p:cNvPr id="9" name="Shape9"/>
    <p:cNvSpPr><a:spLocks noGrp="1"/></p:cNvSpPr>
    <p:nvPr/>
  </p:nvSpPr>
  <p:spPr>
  <a:xfrm><a:off x="5394960" y="3383280"/><a:ext cx="5394960" cy="2286000"/></a:xfrm>
  <a:prstGeom prst="roundRect"><a:avLst><a:gd name="adj" fmla="val 12000"/></a:avLst></a:prstGeom>
  <a:gradFill><a:gsLst>
      <a:gs pos="0"><a:srgbClr val="0D2137"/></a:gs>
      <a:gs pos="100000"><a:srgbClr val="071020"/></a:gs>
    </a:gsLst><a:lin ang="5400000" scaled="0"/></a:gradFill>
  <a:ln w="19050"><a:solidFill><a:srgbClr val="FF6B35"/></a:solidFill></a:ln>
  <a:effectLst/>
</p:spPr>
  <p:txBody>
  <a:bodyPr anchor="ctr" wrap="square" vert="horz">
    <a:normAutofit/>
  </a:bodyPr>
  <a:lstStyle/>
  <a:p>
  <a:pPr algn="ctr"><a:lnSpc><a:spcPct val="100000"/></a:lnSpc></a:pPr>
  <a:r><a:rPr lang="en-US" sz="1400" b="1" i="0" dirty="0">
    <a:solidFill><a:srgbClr val="7B2FBE"/></a:solidFill>
    <a:latin typeface="Calibri"/>
  </a:rPr><a:t>SUPERVISOR</a:t></a:r>
</a:p><a:p>
  <a:pPr algn="ctr"><a:lnSpc><a:spcPct val="100000"/></a:lnSpc></a:pPr>
  <a:r><a:rPr lang="en-US" sz="1300" b="1" i="0" dirty="0">
    <a:solidFill><a:srgbClr val="FFFFFF"/></a:solidFill>
    <a:latin typeface="Calibri"/>
  </a:rPr><a:t>Mr. Bikramjit Choudhury</a:t></a:r>
</a:p><a:p>
  <a:pPr algn="ctr"><a:lnSpc><a:spcPct val="100000"/></a:lnSpc></a:pPr>
  <a:r><a:rPr lang="en-US" sz="1100" b="0" i="0" dirty="0">
    <a:solidFill><a:srgbClr val="B0BEC5"/></a:solidFill>
    <a:latin typeface="Calibri"/>
  </a:rPr><a:t>Assistant Professor, Dept. of CSE</a:t></a:r>
</a:p><a:p><a:endParaRPr lang="en-US" dirty="0"/></a:p><a:p>
  <a:pPr algn="ctr"><a:lnSpc><a:spcPct val="100000"/></a:lnSpc></a:pPr>
  <a:r><a:rPr lang="en-US" sz="1200" b="1" i="0" dirty="0">
    <a:solidFill><a:srgbClr val="FFD600"/></a:solidFill>
    <a:latin typeface="Calibri"/>
  </a:rPr><a:t>CENTRAL INSTITUTE OF TECHNOLOGY</a:t></a:r>
</a:p><a:p>
  <a:pPr algn="ctr"><a:lnSpc><a:spcPct val="100000"/></a:lnSpc></a:pPr>
  <a:r><a:rPr lang="en-US" sz="1100" b="0" i="0" dirty="0">
    <a:solidFill><a:srgbClr val="B0BEC5"/></a:solidFill>
    <a:latin typeface="Calibri"/>
  </a:rPr><a:t>KOKRAJHAR, ASSAM — MAY 2026</a:t></a:r>
</a:p>
</p:txBody>
</p:sp>
<p:sp>
  <p:nvSpPr>
    <p:cNvPr id="20" name="Shape20"/>
    <p:cNvSpPr><a:spLocks noGrp="1"/></p:cNvSpPr>
    <p:nvPr/>
  </p:nvSpPr>
  <p:spPr>
  <a:xfrm><a:off x="109728" y="932688"/><a:ext cx="146304" cy="146304"/></a:xfrm>
  <a:prstGeom prst="roundRect"><a:avLst><a:gd name="adj" fmla="val 50000"/></a:avLst></a:prstGeom>
  <a:solidFill><a:srgbClr val="00C6FF"/></a:solidFill>
  
  <a:effectLst/>
</p:spPr>
  <p:txBody>
  <a:bodyPr anchor="ctr" wrap="square" vert="horz">
    <a:normAutofit/>
  </a:bodyPr>
  <a:lstStyle/>
  <a:p><a:endParaRPr lang="en-US" dirty="0"/></a:p>
</p:txBody>
</p:sp>
<p:sp>
  <p:nvSpPr>
    <p:cNvPr id="21" name="Shape21"/>
    <p:cNvSpPr><a:spLocks noGrp="1"/></p:cNvSpPr>
    <p:nvPr/>
  </p:nvSpPr>
  <p:spPr>
  <a:xfrm><a:off x="109728" y="4956048"/><a:ext cx="146304" cy="146304"/></a:xfrm>
  <a:prstGeom prst="roundRect"><a:avLst><a:gd name="adj" fmla="val 50000"/></a:avLst></a:prstGeom>
  <a:solidFill><a:srgbClr val="00C6FF"/></a:solidFill>
  
  <a:effectLst/>
</p:spPr>
  <p:txBody>
  <a:bodyPr anchor="ctr" wrap="square" vert="horz">
    <a:normAutofit/>
  </a:bodyPr>
  <a:lstStyle/>
  <a:p><a:endParaRPr lang="en-US" dirty="0"/></a:p>
</p:txBody>
</p:sp>
<p:sp>
  <p:nvSpPr>
    <p:cNvPr id="22" name="Shape22"/>
    <p:cNvSpPr><a:spLocks noGrp="1"/></p:cNvSpPr>
    <p:nvPr/>
  </p:nvSpPr>
  <p:spPr>
  <a:xfrm><a:off x="10808208" y="932688"/><a:ext cx="146304" cy="146304"/></a:xfrm>
  <a:prstGeom prst="roundRect"><a:avLst><a:gd name="adj" fmla="val 50000"/></a:avLst></a:prstGeom>
  <a:solidFill><a:srgbClr val="00C6FF"/></a:solidFill>
  
  <a:effectLst/>
</p:spPr>
  <p:txBody>
  <a:bodyPr anchor="ctr" wrap="square" vert="horz">
    <a:normAutofit/>
  </a:bodyPr>
  <a:lstStyle/>
  <a:p><a:endParaRPr lang="en-US" dirty="0"/></a:p>
</p:txBody>
</p:sp>
<p:sp>
  <p:nvSpPr>
    <p:cNvPr id="23" name="Shape23"/>
    <p:cNvSpPr><a:spLocks noGrp="1"/></p:cNvSpPr>
    <p:nvPr/>
  </p:nvSpPr>
  <p:spPr>
  <a:xfrm><a:off x="10808208" y="4956048"/><a:ext cx="146304" cy="146304"/></a:xfrm>
  <a:prstGeom prst="roundRect"><a:avLst><a:gd name="adj" fmla="val 50000"/></a:avLst></a:prstGeom>
  <a:solidFill><a:srgbClr val="00C6FF"/></a:solidFill>
  
  <a:effectLst/>
</p:spPr>
  <p:txBody>
  <a:bodyPr anchor="ctr" wrap="square" vert="horz">
    <a:normAutofit/>
  </a:bodyPr>
  <a:lstStyle/>
  <a:p><a:endParaRPr lang="en-US" dirty="0"/></a:p>
</p:txBody>
</p:sp>
    </p:spTree>
  </p:cSld>
</p:sld>
</file>

<file path=ppt/slides/slide2.xml><?xml version="1.0" encoding="UTF-8" standalone="yes"?>
<p:sld xmlns:p="http://schemas.openxmlformats.org/presentationml/2006/main"
       xmlns:a="http://schemas.openxmlformats.org/drawingml/2006/main"
       xmlns:r="http://schemas.openxmlformats.org/officeDocument/2006/relationships">
  <p:cSld>
    <p:spTree>
      <p:nvGrpSpPr>
        <p:cNvPr id="1" name=""/>
        <p:cNvGrpSpPr/>
        <p:nvPr/>
      </p:nvGrpSpPr>
      <p:grpSpPr>
        <a:xfrm><a:off x="0" y="0"/><a:ext cx="12192000" cy="6858000"/>
        <a:chOff x="0" y="0"/><a:chExt cx="12192000" cy="6858000"/></a:xfrm>
      </p:grpSpPr>
      <p:sp>
  <p:nvSpPr>
    <p:cNvPr id="2" name="Shape2"/>
    <p:cNvSpPr><a:spLocks noGrp="1"/></p:cNvSpPr>
    <p:nvPr/>
  </p:nvSpPr>
  <p:spPr>
  <a:xfrm><a:off x="0" y="0"/><a:ext cx="12192000" cy="6858000"/></a:xfrm>
  <a:prstGeom prst="rect"><a:avLst/></a:prstGeom>
  <a:gradFill><a:gsLst>
      <a:gs pos="0"><a:srgbClr val="060B18"/></a:gs>
      <a:gs pos="100000"><a:srgbClr val="0D1B2A"/></a:gs>
    </a:gsLst><a:lin ang="5400000" scaled="0"/></a:gradFill>
  
  <a:effectLst/>
</p:spPr>
  <p:txBody>
  <a:bodyPr anchor="ctr" wrap="square" vert="horz">
    <a:normAutofit/>
  </a:bodyPr>
  <a:lstStyle/>
  <a:p><a:endParaRPr lang="en-US" dirty="0"/></a:p>
</p:txBody>
</p:sp>
<p:sp>
  <p:nvSpPr>
    <p:cNvPr id="3" name="Shape3"/>
    <p:cNvSpPr><a:spLocks noGrp="1"/></p:cNvSpPr>
    <p:nvPr/>
  </p:nvSpPr>
  <p:spPr>
  <a:xfrm><a:off x="0" y="0"/><a:ext cx="12192000" cy="777240"/></a:xfrm>
  <a:prstGeom prst="rect"><a:avLst/></a:prstGeom>
  <a:gradFill><a:gsLst>
      <a:gs pos="0"><a:srgbClr val="7B2FBE"/></a:gs>
      <a:gs pos="100000"><a:srgbClr val="00C6FF"/></a:gs>
    </a:gsLst><a:lin ang="0" scaled="0"/></a:gradFill>
  
  <a:effectLst/>
</p:spPr>
  <p:txBody>
  <a:bodyPr anchor="ctr" wrap="square" vert="horz">
    <a:normAutofit/>
  </a:bodyPr>
  <a:lstStyle/>
  <a:p><a:endParaRPr lang="en-US" dirty="0"/></a:p>
</p:txBody>
</p:sp>
<p:sp>
  <p:nvSpPr>
    <p:cNvPr id="4" name="Shape4"/>
    <p:cNvSpPr><a:spLocks noGrp="1"/></p:cNvSpPr>
    <p:nvPr/>
  </p:nvSpPr>
  <p:spPr>
  <a:xfrm><a:off x="0" y="777240"/><a:ext cx="54864" cy="6080760"/></a:xfrm>
  <a:prstGeom prst="rect"><a:avLst/></a:prstGeom>
  <a:solidFill><a:srgbClr val="00C6FF"/></a:solidFill>
  
  <a:effectLst/>
</p:spPr>
  <p:txBody>
  <a:bodyPr anchor="ctr" wrap="square" vert="horz">
    <a:normAutofit/>
  </a:bodyPr>
  <a:lstStyle/>
  <a:p><a:endParaRPr lang="en-US" dirty="0"/></a:p>
</p:txBody>
</p:sp>
<p:sp>
  <p:nvSpPr>
    <p:cNvPr id="5" name="Shape5"/>
    <p:cNvSpPr><a:spLocks noGrp="1"/></p:cNvSpPr>
    <p:nvPr/>
  </p:nvSpPr>
  <p:spPr>
  <a:xfrm><a:off x="0" y="6784848"/><a:ext cx="12192000" cy="73152"/></a:xfrm>
  <a:prstGeom prst="rect"><a:avLst/></a:prstGeom>
  <a:solidFill><a:srgbClr val="7B2FBE"/></a:solidFill>
  
  <a:effectLst/>
</p:spPr>
  <p:txBody>
  <a:bodyPr anchor="ctr" wrap="square" vert="horz">
    <a:normAutofit/>
  </a:bodyPr>
  <a:lstStyle/>
  <a:p><a:endParaRPr lang="en-US" dirty="0"/></a:p>
</p:txBody>
</p:sp>
<p:sp>
  <p:nvSpPr>
    <p:cNvPr id="6" name="Shape6"/>
    <p:cNvSpPr><a:spLocks noGrp="1"/></p:cNvSpPr>
    <p:nvPr/>
  </p:nvSpPr>
  <p:spPr>
  <a:xfrm><a:off x="11643360" y="6446520"/><a:ext cx="457200" cy="320040"/></a:xfrm>
  <a:prstGeom prst="rect"><a:avLst/></a:prstGeom>
  <a:solidFill><a:srgbClr val="00000000"/></a:solidFill>
  
  <a:effectLst/>
</p:spPr>
  <p:txBody>
  <a:bodyPr anchor="ctr" wrap="square" vert="horz">
    <a:normAutofit/>
  </a:bodyPr>
  <a:lstStyle/>
  <a:p>
  <a:pPr algn="r"><a:lnSpc><a:spcPct val="100000"/></a:lnSpc></a:pPr>
  <a:r><a:rPr lang="en-US" sz="1100" b="0" i="0" dirty="0">
    <a:solidFill><a:srgbClr val="B0BEC5"/></a:solidFill>
    <a:latin typeface="Calibri"/>
  </a:rPr><a:t>2</a:t></a:r>
</a:p>
</p:txBody>
</p:sp>
<p:sp>
  <p:nvSpPr>
    <p:cNvPr id="7" name="Shape7"/>
    <p:cNvSpPr><a:spLocks noGrp="1"/></p:cNvSpPr>
    <p:nvPr/>
  </p:nvSpPr>
  <p:spPr>
  <a:xfrm><a:off x="228600" y="73152"/><a:ext cx="11734800" cy="658368"/></a:xfrm>
  <a:prstGeom prst="rect"><a:avLst/></a:prstGeom>
  <a:solidFill><a:srgbClr val="00000000"/></a:solidFill>
  
  <a:effectLst/>
</p:spPr>
  <p:txBody>
  <a:bodyPr anchor="ctr" wrap="square" vert="horz">
    <a:normAutofit/>
  </a:bodyPr>
  <a:lstStyle/>
  <a:p>
  <a:pPr algn="l"><a:lnSpc><a:spcPct val="100000"/></a:lnSpc></a:pPr>
  <a:r><a:rPr lang="en-US" sz="2400" b="1" i="0" dirty="0">
    <a:solidFill><a:srgbClr val="FFFFFF"/></a:solidFill>
    <a:latin typeface="Calibri"/>
  </a:rPr><a:t>📋  Agenda</a:t></a:r>
</a:p>
</p:txBody>
</p:sp>
<p:sp>
  <p:nvSpPr>
    <p:cNvPr id="10" name="Shape10"/>
    <p:cNvSpPr><a:spLocks noGrp="1"/></p:cNvSpPr>
    <p:nvPr/>
  </p:nvSpPr>
  <p:spPr>
  <a:xfrm><a:off x="274320" y="914400"/><a:ext cx="5212080" cy="5029200"/></a:xfrm>
  <a:prstGeom prst="roundRect"><a:avLst><a:gd name="adj" fmla="val 10000"/></a:avLst></a:prstGeom>
  <a:gradFill><a:gsLst>
      <a:gs pos="0"><a:srgbClr val="0D2137"/></a:gs>
      <a:gs pos="100000"><a:srgbClr val="060B18"/></a:gs>
    </a:gsLst><a:lin ang="5400000" scaled="0"/></a:gradFill>
  <a:ln w="12700"><a:solidFill><a:srgbClr val="7B2FBE"/></a:solidFill></a:ln>
  <a:effectLst/>
</p:spPr>
  <p:txBody>
  <a:bodyPr anchor="t" wrap="square" vert="horz">
    <a:normAutofit/>
  </a:bodyPr>
  <a:lstStyle/>
  <a:p>
  <a:pPr algn="l"><a:lnSpc><a:spcPct val="100000"/></a:lnSpc></a:pPr>
  <a:r><a:rPr lang="en-US" sz="1500" b="0" i="0" dirty="0">
    <a:solidFill><a:srgbClr val="00C6FF"/></a:solidFill>
    <a:latin typeface="Calibri"/>
  </a:rPr><a:t>  01   Problem Statement & Motivation</a:t></a:r>
</a:p><a:p><a:endParaRPr lang="en-US" dirty="0"/></a:p><a:p>
  <a:pPr algn="l"><a:lnSpc><a:spcPct val="100000"/></a:lnSpc></a:pPr>
  <a:r><a:rPr lang="en-US" sz="1500" b="0" i="0" dirty="0">
    <a:solidFill><a:srgbClr val="FFFFFF"/></a:solidFill>
    <a:latin typeface="Calibri"/>
  </a:rPr><a:t>  02   IoT Security Landscape</a:t></a:r>
</a:p><a:p><a:endParaRPr lang="en-US" dirty="0"/></a:p><a:p>
  <a:pPr algn="l"><a:lnSpc><a:spcPct val="100000"/></a:lnSpc></a:pPr>
  <a:r><a:rPr lang="en-US" sz="1500" b="0" i="0" dirty="0">
    <a:solidFill><a:srgbClr val="00C6FF"/></a:solidFill>
    <a:latin typeface="Calibri"/>
  </a:rPr><a:t>  03   Dataset Overview</a:t></a:r>
</a:p><a:p><a:endParaRPr lang="en-US" dirty="0"/></a:p><a:p>
  <a:pPr algn="l"><a:lnSpc><a:spcPct val="100000"/></a:lnSpc></a:pPr>
  <a:r><a:rPr lang="en-US" sz="1500" b="0" i="0" dirty="0">
    <a:solidFill><a:srgbClr val="FFFFFF"/></a:solidFill>
    <a:latin typeface="Calibri"/>
  </a:rPr><a:t>  04   System Architecture</a:t></a:r>
</a:p><a:p><a:endParaRPr lang="en-US" dirty="0"/></a:p><a:p>
  <a:pPr algn="l"><a:lnSpc><a:spcPct val="100000"/></a:lnSpc></a:pPr>
  <a:r><a:rPr lang="en-US" sz="1500" b="0" i="0" dirty="0">
    <a:solidFill><a:srgbClr val="00C6FF"/></a:solidFill>
    <a:latin typeface="Calibri"/>
  </a:rPr><a:t>  05   LightGBM — Known Attack Classifier</a:t></a:r>
</a:p><a:p><a:endParaRPr lang="en-US" dirty="0"/></a:p>
</p:txBody>
</p:sp><p:sp>
  <p:nvSpPr>
    <p:cNvPr id="11" name="Shape11"/>
    <p:cNvSpPr><a:spLocks noGrp="1"/></p:cNvSpPr>
    <p:nvPr/>
  </p:nvSpPr>
  <p:spPr>
  <a:xfrm><a:off x="5669280" y="914400"/><a:ext cx="5212080" cy="5029200"/></a:xfrm>
  <a:prstGeom prst="roundRect"><a:avLst><a:gd name="adj" fmla="val 10000"/></a:avLst></a:prstGeom>
  <a:gradFill><a:gsLst>
      <a:gs pos="0"><a:srgbClr val="0D2137"/></a:gs>
      <a:gs pos="100000"><a:srgbClr val="060B18"/></a:gs>
    </a:gsLst><a:lin ang="5400000" scaled="0"/></a:gradFill>
  <a:ln w="12700"><a:solidFill><a:srgbClr val="00C6FF"/></a:solidFill></a:ln>
  <a:effectLst/>
</p:spPr>
  <p:txBody>
  <a:bodyPr anchor="t" wrap="square" vert="horz">
    <a:normAutofit/>
  </a:bodyPr>
  <a:lstStyle/>
  <a:p>
  <a:pPr algn="l"><a:lnSpc><a:spcPct val="100000"/></a:lnSpc></a:pPr>
  <a:r><a:rPr lang="en-US" sz="1500" b="0" i="0" dirty="0">
    <a:solidFill><a:srgbClr val="FFFFFF"/></a:solidFill>
    <a:latin typeface="Calibri"/>
  </a:rPr><a:t>  06   Autoencoder — Zero-Day Detector</a:t></a:r>
</a:p><a:p><a:endParaRPr lang="en-US" dirty="0"/></a:p><a:p>
  <a:pPr algn="l"><a:lnSpc><a:spcPct val="100000"/></a:lnSpc></a:pPr>
  <a:r><a:rPr lang="en-US" sz="1500" b="0" i="0" dirty="0">
    <a:solidFill><a:srgbClr val="00C6FF"/></a:solidFill>
    <a:latin typeface="Calibri"/>
  </a:rPr><a:t>  07   Fusion Model</a:t></a:r>
</a:p><a:p><a:endParaRPr lang="en-US" dirty="0"/></a:p><a:p>
  <a:pPr algn="l"><a:lnSpc><a:spcPct val="100000"/></a:lnSpc></a:pPr>
  <a:r><a:rPr lang="en-US" sz="1500" b="0" i="0" dirty="0">
    <a:solidFill><a:srgbClr val="FFFFFF"/></a:solidFill>
    <a:latin typeface="Calibri"/>
  </a:rPr><a:t>  08   Results & Model Comparison</a:t></a:r>
</a:p><a:p><a:endParaRPr lang="en-US" dirty="0"/></a:p><a:p>
  <a:pPr algn="l"><a:lnSpc><a:spcPct val="100000"/></a:lnSpc></a:pPr>
  <a:r><a:rPr lang="en-US" sz="1500" b="0" i="0" dirty="0">
    <a:solidFill><a:srgbClr val="00C6FF"/></a:solidFill>
    <a:latin typeface="Calibri"/>
  </a:rPr><a:t>  09   Conclusions & Future Work</a:t></a:r>
</a:p><a:p><a:endParaRPr lang="en-US" dirty="0"/></a:p>
</p:txBody>
</p:sp>
    </p:spTree>
  </p:cSld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Shape2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60B18"/>
              </a:gs>
              <a:gs pos="100000">
                <a:srgbClr val="0D1B2A"/>
              </a:gs>
            </a:gsLst>
            <a:lin ang="5400000" scaled="0"/>
          </a:gradFill>
          <a:effectLst/>
        </p:spPr>
        <p:txBody>
          <a:bodyPr anchor="ctr" wrap="square" vert="horz">
            <a:normAutofit/>
          </a:bodyPr>
          <a:lstStyle/>
          <a:p>
            <a:endParaRPr lang="en-US" dirty="0"/>
          </a:p>
        </p:txBody>
      </p:sp>
      <p:sp>
        <p:nvSpPr>
          <p:cNvPr id="3" name="Shape3"/>
          <p:cNvSpPr>
            <a:spLocks noGrp="1"/>
          </p:cNvSpPr>
          <p:nvPr/>
        </p:nvSpPr>
        <p:spPr>
          <a:xfrm>
            <a:off x="0" y="0"/>
            <a:ext cx="12192000" cy="777240"/>
          </a:xfrm>
          <a:prstGeom prst="rect">
            <a:avLst/>
          </a:prstGeom>
          <a:gradFill>
            <a:gsLst>
              <a:gs pos="0">
                <a:srgbClr val="7B2FBE"/>
              </a:gs>
              <a:gs pos="100000">
                <a:srgbClr val="00C6FF"/>
              </a:gs>
            </a:gsLst>
            <a:lin ang="0" scaled="0"/>
          </a:gradFill>
          <a:effectLst/>
        </p:spPr>
        <p:txBody>
          <a:bodyPr anchor="ctr" wrap="square" vert="horz">
            <a:normAutofit/>
          </a:bodyPr>
          <a:lstStyle/>
          <a:p>
            <a:endParaRPr lang="en-US" dirty="0"/>
          </a:p>
        </p:txBody>
      </p:sp>
      <p:sp>
        <p:nvSpPr>
          <p:cNvPr id="4" name="Shape4"/>
          <p:cNvSpPr>
            <a:spLocks noGrp="1"/>
          </p:cNvSpPr>
          <p:nvPr/>
        </p:nvSpPr>
        <p:spPr>
          <a:xfrm>
            <a:off x="0" y="777240"/>
            <a:ext cx="54864" cy="6080760"/>
          </a:xfrm>
          <a:prstGeom prst="rect">
            <a:avLst/>
          </a:prstGeom>
          <a:solidFill>
            <a:srgbClr val="00C6FF"/>
          </a:solidFill>
          <a:effectLst/>
        </p:spPr>
        <p:txBody>
          <a:bodyPr anchor="ctr" wrap="square" vert="horz">
            <a:normAutofit/>
          </a:bodyPr>
          <a:lstStyle/>
          <a:p>
            <a:endParaRPr lang="en-US" dirty="0"/>
          </a:p>
        </p:txBody>
      </p:sp>
      <p:sp>
        <p:nvSpPr>
          <p:cNvPr id="5" name="Shape5"/>
          <p:cNvSpPr>
            <a:spLocks noGrp="1"/>
          </p:cNvSpPr>
          <p:nvPr/>
        </p:nvSpPr>
        <p:spPr>
          <a:xfrm>
            <a:off x="0" y="6784848"/>
            <a:ext cx="12192000" cy="73152"/>
          </a:xfrm>
          <a:prstGeom prst="rect">
            <a:avLst/>
          </a:prstGeom>
          <a:solidFill>
            <a:srgbClr val="7B2FBE"/>
          </a:solidFill>
          <a:effectLst/>
        </p:spPr>
        <p:txBody>
          <a:bodyPr anchor="ctr" wrap="square" vert="horz">
            <a:normAutofit/>
          </a:bodyPr>
          <a:lstStyle/>
          <a:p>
            <a:endParaRPr lang="en-US" dirty="0"/>
          </a:p>
        </p:txBody>
      </p:sp>
      <p:sp>
        <p:nvSpPr>
          <p:cNvPr id="6" name="Shape6"/>
          <p:cNvSpPr>
            <a:spLocks noGrp="1"/>
          </p:cNvSpPr>
          <p:nvPr/>
        </p:nvSpPr>
        <p:spPr>
          <a:xfrm>
            <a:off x="11643360" y="6446520"/>
            <a:ext cx="457200" cy="320040"/>
          </a:xfrm>
          <a:prstGeom prst="rect">
            <a:avLst/>
          </a:prstGeom>
          <a:solidFill>
            <a:srgbClr val="00000000"/>
          </a:solidFill>
          <a:effectLst/>
        </p:spPr>
        <p:txBody>
          <a:bodyPr anchor="ctr" wrap="square" vert="horz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1100" b="0" i="0" dirty="0">
                <a:solidFill>
                  <a:srgbClr val="B0BEC5"/>
                </a:solidFill>
                <a:latin typeface="Calibri"/>
              </a:rPr>
              <a:t>3</a:t>
            </a:r>
          </a:p>
        </p:txBody>
      </p:sp>
      <p:sp>
        <p:nvSpPr>
          <p:cNvPr id="7" name="Shape7"/>
          <p:cNvSpPr>
            <a:spLocks noGrp="1"/>
          </p:cNvSpPr>
          <p:nvPr/>
        </p:nvSpPr>
        <p:spPr>
          <a:xfrm>
            <a:off x="228600" y="73152"/>
            <a:ext cx="11734800" cy="658368"/>
          </a:xfrm>
          <a:prstGeom prst="rect">
            <a:avLst/>
          </a:prstGeom>
          <a:solidFill>
            <a:srgbClr val="00000000"/>
          </a:solidFill>
          <a:effectLst/>
        </p:spPr>
        <p:txBody>
          <a:bodyPr anchor="ctr" wrap="square" vert="horz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FFFFFF"/>
                </a:solidFill>
                <a:latin typeface="Calibri"/>
              </a:rPr>
              <a:t>❓  Problem Statement</a:t>
            </a:r>
          </a:p>
        </p:txBody>
      </p:sp>
      <p:sp>
        <p:nvSpPr>
          <p:cNvPr id="10" name="Shape10"/>
          <p:cNvSpPr>
            <a:spLocks noGrp="1"/>
          </p:cNvSpPr>
          <p:nvPr/>
        </p:nvSpPr>
        <p:spPr>
          <a:xfrm>
            <a:off x="274320" y="960120"/>
            <a:ext cx="6766560" cy="2468880"/>
          </a:xfrm>
          <a:prstGeom prst="roundRect">
            <a:avLst>
              <a:gd name="adj" fmla="val 10000"/>
            </a:avLst>
          </a:prstGeom>
          <a:gradFill>
            <a:gsLst>
              <a:gs pos="0">
                <a:srgbClr val="1A0A00"/>
              </a:gs>
              <a:gs pos="100000">
                <a:srgbClr val="0D1B2A"/>
              </a:gs>
            </a:gsLst>
            <a:lin ang="5400000" scaled="0"/>
          </a:gradFill>
          <a:ln w="19050">
            <a:solidFill>
              <a:srgbClr val="FF6B35"/>
            </a:solidFill>
          </a:ln>
          <a:effectLst/>
        </p:spPr>
        <p:txBody>
          <a:bodyPr anchor="t" wrap="square" vert="horz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800" b="1" i="0" dirty="0">
                <a:solidFill>
                  <a:srgbClr val="FF6B35"/>
                </a:solidFill>
                <a:latin typeface="Calibri"/>
              </a:rPr>
              <a:t>The Problem</a:t>
            </a:r>
          </a:p>
          <a:p>
            <a:pPr algn="l">
              <a:lnSpc>
                <a:spcPct val="100000"/>
              </a:lnSpc>
            </a:pPr>
            <a:r>
              <a:rPr lang="en-US" sz="1400" b="0" i="0" dirty="0">
                <a:solidFill>
                  <a:srgbClr val="FFFFFF"/>
                </a:solidFill>
                <a:latin typeface="Calibri"/>
              </a:rPr>
              <a:t>Traditional Intrusion Detection Systems (IDS) rely on known</a:t>
            </a:r>
          </a:p>
          <a:p>
            <a:pPr algn="l">
              <a:lnSpc>
                <a:spcPct val="100000"/>
              </a:lnSpc>
            </a:pPr>
            <a:r>
              <a:rPr lang="en-US" sz="1400" b="0" i="0" dirty="0">
                <a:solidFill>
                  <a:srgbClr val="FFFFFF"/>
                </a:solidFill>
                <a:latin typeface="Calibri"/>
              </a:rPr>
              <a:t>attack signatures — they are BLIND to new / unseen threats.</a:t>
            </a:r>
          </a:p>
          <a:p>
            <a:endParaRPr lang="en-US" dirty="0"/>
          </a:p>
          <a:p>
            <a:pPr algn="l">
              <a:lnSpc>
                <a:spcPct val="100000"/>
              </a:lnSpc>
            </a:pPr>
            <a:r>
              <a:rPr lang="en-US" sz="1600" b="1" i="0" dirty="0">
                <a:solidFill>
                  <a:srgbClr val="FFD600"/>
                </a:solidFill>
                <a:latin typeface="Calibri"/>
              </a:rPr>
              <a:t>⚠  Zero-Day Attacks</a:t>
            </a:r>
          </a:p>
          <a:p>
            <a:pPr algn="l">
              <a:lnSpc>
                <a:spcPct val="100000"/>
              </a:lnSpc>
            </a:pPr>
            <a:r>
              <a:rPr lang="en-US" sz="1300" b="0" i="0" dirty="0">
                <a:solidFill>
                  <a:srgbClr val="B0BEC5"/>
                </a:solidFill>
                <a:latin typeface="Calibri"/>
              </a:rPr>
              <a:t>Exploits for unknown vulnerabilities with no prior signature,</a:t>
            </a:r>
          </a:p>
          <a:p>
            <a:pPr algn="l">
              <a:lnSpc>
                <a:spcPct val="100000"/>
              </a:lnSpc>
            </a:pPr>
            <a:r>
              <a:rPr lang="en-US" sz="1300" b="0" i="0" dirty="0">
                <a:solidFill>
                  <a:srgbClr val="B0BEC5"/>
                </a:solidFill>
                <a:latin typeface="Calibri"/>
              </a:rPr>
              <a:t>bypassing every conventional signature-based defence.</a:t>
            </a:r>
          </a:p>
        </p:txBody>
      </p:sp>
      <p:sp>
        <p:nvSpPr>
          <p:cNvPr id="11" name="Shape11"/>
          <p:cNvSpPr>
            <a:spLocks noGrp="1"/>
          </p:cNvSpPr>
          <p:nvPr/>
        </p:nvSpPr>
        <p:spPr>
          <a:xfrm>
            <a:off x="274320" y="3566160"/>
            <a:ext cx="6766560" cy="2468880"/>
          </a:xfrm>
          <a:prstGeom prst="roundRect">
            <a:avLst>
              <a:gd name="adj" fmla="val 10000"/>
            </a:avLst>
          </a:prstGeom>
          <a:gradFill>
            <a:gsLst>
              <a:gs pos="0">
                <a:srgbClr val="0A1A00"/>
              </a:gs>
              <a:gs pos="100000">
                <a:srgbClr val="0D1B2A"/>
              </a:gs>
            </a:gsLst>
            <a:lin ang="5400000" scaled="0"/>
          </a:gradFill>
          <a:ln w="19050">
            <a:solidFill>
              <a:srgbClr val="00E676"/>
            </a:solidFill>
          </a:ln>
          <a:effectLst/>
        </p:spPr>
        <p:txBody>
          <a:bodyPr anchor="t" wrap="square" vert="horz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800" b="1" i="0" dirty="0">
                <a:solidFill>
                  <a:srgbClr val="00E676"/>
                </a:solidFill>
                <a:latin typeface="Calibri"/>
              </a:rPr>
              <a:t>Our Solution</a:t>
            </a:r>
          </a:p>
          <a:p>
            <a:pPr algn="l">
              <a:lnSpc>
                <a:spcPct val="100000"/>
              </a:lnSpc>
            </a:pPr>
            <a:r>
              <a:rPr lang="en-US" sz="1400" b="0" i="0" dirty="0">
                <a:solidFill>
                  <a:srgbClr val="FFFFFF"/>
                </a:solidFill>
                <a:latin typeface="Calibri"/>
              </a:rPr>
              <a:t>A Hybrid IDS combining:</a:t>
            </a:r>
          </a:p>
          <a:p>
            <a:endParaRPr lang="en-US" dirty="0"/>
          </a:p>
          <a:p>
            <a:pPr algn="l">
              <a:lnSpc>
                <a:spcPct val="100000"/>
              </a:lnSpc>
            </a:pPr>
            <a:r>
              <a:rPr lang="en-US" sz="1350" b="0" i="0" dirty="0">
                <a:solidFill>
                  <a:srgbClr val="00C6FF"/>
                </a:solidFill>
                <a:latin typeface="Calibri"/>
              </a:rPr>
              <a:t>🌲  LightGBM  — classifies 10 known attack types</a:t>
            </a:r>
          </a:p>
          <a:p>
            <a:pPr algn="l">
              <a:lnSpc>
                <a:spcPct val="100000"/>
              </a:lnSpc>
            </a:pPr>
            <a:r>
              <a:rPr lang="en-US" sz="1350" b="0" i="0" dirty="0">
                <a:solidFill>
                  <a:srgbClr val="7B2FBE"/>
                </a:solidFill>
                <a:latin typeface="Calibri"/>
              </a:rPr>
              <a:t>🧠  Autoencoder  — detects any anomaly (zero-day)</a:t>
            </a:r>
          </a:p>
          <a:p>
            <a:pPr algn="l">
              <a:lnSpc>
                <a:spcPct val="100000"/>
              </a:lnSpc>
            </a:pPr>
            <a:r>
              <a:rPr lang="en-US" sz="1350" b="0" i="0" dirty="0">
                <a:solidFill>
                  <a:srgbClr val="FF6B35"/>
                </a:solidFill>
                <a:latin typeface="Calibri"/>
              </a:rPr>
              <a:t>⚡  Fusion Model  — intelligently routes decisions</a:t>
            </a:r>
          </a:p>
        </p:txBody>
      </p:sp>
      <p:sp>
        <p:nvSpPr>
          <p:cNvPr id="12" name="Shape12"/>
          <p:cNvSpPr>
            <a:spLocks noGrp="1"/>
          </p:cNvSpPr>
          <p:nvPr/>
        </p:nvSpPr>
        <p:spPr>
          <a:xfrm>
            <a:off x="7223760" y="960120"/>
            <a:ext cx="3657600" cy="5074920"/>
          </a:xfrm>
          <a:prstGeom prst="roundRect">
            <a:avLst>
              <a:gd name="adj" fmla="val 10000"/>
            </a:avLst>
          </a:prstGeom>
          <a:gradFill>
            <a:gsLst>
              <a:gs pos="0">
                <a:srgbClr val="0D1B2A"/>
              </a:gs>
              <a:gs pos="100000">
                <a:srgbClr val="060B18"/>
              </a:gs>
            </a:gsLst>
            <a:lin ang="5400000" scaled="0"/>
          </a:gradFill>
          <a:ln w="19050">
            <a:solidFill>
              <a:srgbClr val="00C6FF"/>
            </a:solidFill>
          </a:ln>
          <a:effectLst/>
        </p:spPr>
        <p:txBody>
          <a:bodyPr anchor="t" wrap="square" vert="horz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800" b="1" i="0" dirty="0">
                <a:solidFill>
                  <a:srgbClr val="00C6FF"/>
                </a:solidFill>
                <a:latin typeface="Calibri"/>
              </a:rPr>
              <a:t>Why IoT?</a:t>
            </a:r>
          </a:p>
          <a:p>
            <a:pPr algn="l">
              <a:lnSpc>
                <a:spcPct val="100000"/>
              </a:lnSpc>
            </a:pPr>
            <a:r>
              <a:rPr lang="en-US" sz="1300" b="0" i="0" dirty="0">
                <a:solidFill>
                  <a:srgbClr val="FFFFFF"/>
                </a:solidFill>
                <a:latin typeface="Calibri"/>
              </a:rPr>
              <a:t>🔹 15 billion+ connected devices worldwide</a:t>
            </a:r>
          </a:p>
          <a:p>
            <a:pPr algn="l">
              <a:lnSpc>
                <a:spcPct val="100000"/>
              </a:lnSpc>
            </a:pPr>
            <a:r>
              <a:rPr lang="en-US" sz="1300" b="0" i="0" dirty="0">
                <a:solidFill>
                  <a:srgbClr val="FFFFFF"/>
                </a:solidFill>
                <a:latin typeface="Calibri"/>
              </a:rPr>
              <a:t>🔹 Limited CPU/RAM — no heavy AV possible</a:t>
            </a:r>
          </a:p>
          <a:p>
            <a:pPr algn="l">
              <a:lnSpc>
                <a:spcPct val="100000"/>
              </a:lnSpc>
            </a:pPr>
            <a:r>
              <a:rPr lang="en-US" sz="1300" b="0" i="0" dirty="0">
                <a:solidFill>
                  <a:srgbClr val="FFFFFF"/>
                </a:solidFill>
                <a:latin typeface="Calibri"/>
              </a:rPr>
              <a:t>🔹 Always-on, rarely updated firmware</a:t>
            </a:r>
          </a:p>
          <a:p>
            <a:pPr algn="l">
              <a:lnSpc>
                <a:spcPct val="100000"/>
              </a:lnSpc>
            </a:pPr>
            <a:r>
              <a:rPr lang="en-US" sz="1300" b="0" i="0" dirty="0">
                <a:solidFill>
                  <a:srgbClr val="FFFFFF"/>
                </a:solidFill>
                <a:latin typeface="Calibri"/>
              </a:rPr>
              <a:t>🔹 Critical infrastructure: hospitals, power grids</a:t>
            </a:r>
          </a:p>
          <a:p>
            <a:pPr algn="l">
              <a:lnSpc>
                <a:spcPct val="100000"/>
              </a:lnSpc>
            </a:pPr>
            <a:r>
              <a:rPr lang="en-US" sz="1300" b="0" i="0" dirty="0">
                <a:solidFill>
                  <a:srgbClr val="FFFFFF"/>
                </a:solidFill>
                <a:latin typeface="Calibri"/>
              </a:rPr>
              <a:t>🔹 Massive attack surface for adversaries</a:t>
            </a:r>
          </a:p>
        </p:txBody>
      </p:sp>
    </p:spTree>
  </p:cSld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Shape2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60B18"/>
              </a:gs>
              <a:gs pos="100000">
                <a:srgbClr val="0D1B2A"/>
              </a:gs>
            </a:gsLst>
            <a:lin ang="5400000" scaled="0"/>
          </a:gradFill>
          <a:effectLst/>
        </p:spPr>
        <p:txBody>
          <a:bodyPr anchor="ctr" wrap="square" vert="horz">
            <a:normAutofit/>
          </a:bodyPr>
          <a:lstStyle/>
          <a:p>
            <a:endParaRPr lang="en-US" dirty="0"/>
          </a:p>
        </p:txBody>
      </p:sp>
      <p:sp>
        <p:nvSpPr>
          <p:cNvPr id="3" name="Shape3"/>
          <p:cNvSpPr>
            <a:spLocks noGrp="1"/>
          </p:cNvSpPr>
          <p:nvPr/>
        </p:nvSpPr>
        <p:spPr>
          <a:xfrm>
            <a:off x="0" y="0"/>
            <a:ext cx="12192000" cy="777240"/>
          </a:xfrm>
          <a:prstGeom prst="rect">
            <a:avLst/>
          </a:prstGeom>
          <a:gradFill>
            <a:gsLst>
              <a:gs pos="0">
                <a:srgbClr val="7B2FBE"/>
              </a:gs>
              <a:gs pos="100000">
                <a:srgbClr val="00C6FF"/>
              </a:gs>
            </a:gsLst>
            <a:lin ang="0" scaled="0"/>
          </a:gradFill>
          <a:effectLst/>
        </p:spPr>
        <p:txBody>
          <a:bodyPr anchor="ctr" wrap="square" vert="horz">
            <a:normAutofit/>
          </a:bodyPr>
          <a:lstStyle/>
          <a:p>
            <a:endParaRPr lang="en-US" dirty="0"/>
          </a:p>
        </p:txBody>
      </p:sp>
      <p:sp>
        <p:nvSpPr>
          <p:cNvPr id="4" name="Shape4"/>
          <p:cNvSpPr>
            <a:spLocks noGrp="1"/>
          </p:cNvSpPr>
          <p:nvPr/>
        </p:nvSpPr>
        <p:spPr>
          <a:xfrm>
            <a:off x="0" y="777240"/>
            <a:ext cx="54864" cy="6080760"/>
          </a:xfrm>
          <a:prstGeom prst="rect">
            <a:avLst/>
          </a:prstGeom>
          <a:solidFill>
            <a:srgbClr val="00C6FF"/>
          </a:solidFill>
          <a:effectLst/>
        </p:spPr>
        <p:txBody>
          <a:bodyPr anchor="ctr" wrap="square" vert="horz">
            <a:normAutofit/>
          </a:bodyPr>
          <a:lstStyle/>
          <a:p>
            <a:endParaRPr lang="en-US" dirty="0"/>
          </a:p>
        </p:txBody>
      </p:sp>
      <p:sp>
        <p:nvSpPr>
          <p:cNvPr id="5" name="Shape5"/>
          <p:cNvSpPr>
            <a:spLocks noGrp="1"/>
          </p:cNvSpPr>
          <p:nvPr/>
        </p:nvSpPr>
        <p:spPr>
          <a:xfrm>
            <a:off x="0" y="6784848"/>
            <a:ext cx="12192000" cy="73152"/>
          </a:xfrm>
          <a:prstGeom prst="rect">
            <a:avLst/>
          </a:prstGeom>
          <a:solidFill>
            <a:srgbClr val="7B2FBE"/>
          </a:solidFill>
          <a:effectLst/>
        </p:spPr>
        <p:txBody>
          <a:bodyPr anchor="ctr" wrap="square" vert="horz">
            <a:normAutofit/>
          </a:bodyPr>
          <a:lstStyle/>
          <a:p>
            <a:endParaRPr lang="en-US" dirty="0"/>
          </a:p>
        </p:txBody>
      </p:sp>
      <p:sp>
        <p:nvSpPr>
          <p:cNvPr id="6" name="Shape6"/>
          <p:cNvSpPr>
            <a:spLocks noGrp="1"/>
          </p:cNvSpPr>
          <p:nvPr/>
        </p:nvSpPr>
        <p:spPr>
          <a:xfrm>
            <a:off x="11643360" y="6446520"/>
            <a:ext cx="457200" cy="320040"/>
          </a:xfrm>
          <a:prstGeom prst="rect">
            <a:avLst/>
          </a:prstGeom>
          <a:solidFill>
            <a:srgbClr val="00000000"/>
          </a:solidFill>
          <a:effectLst/>
        </p:spPr>
        <p:txBody>
          <a:bodyPr anchor="ctr" wrap="square" vert="horz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1100" b="0" i="0" dirty="0">
                <a:solidFill>
                  <a:srgbClr val="B0BEC5"/>
                </a:solidFill>
                <a:latin typeface="Calibri"/>
              </a:rPr>
              <a:t>4</a:t>
            </a:r>
          </a:p>
        </p:txBody>
      </p:sp>
      <p:sp>
        <p:nvSpPr>
          <p:cNvPr id="7" name="Shape7"/>
          <p:cNvSpPr>
            <a:spLocks noGrp="1"/>
          </p:cNvSpPr>
          <p:nvPr/>
        </p:nvSpPr>
        <p:spPr>
          <a:xfrm>
            <a:off x="228600" y="73152"/>
            <a:ext cx="11734800" cy="658368"/>
          </a:xfrm>
          <a:prstGeom prst="rect">
            <a:avLst/>
          </a:prstGeom>
          <a:solidFill>
            <a:srgbClr val="00000000"/>
          </a:solidFill>
          <a:effectLst/>
        </p:spPr>
        <p:txBody>
          <a:bodyPr anchor="ctr" wrap="square" vert="horz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FFFFFF"/>
                </a:solidFill>
                <a:latin typeface="Calibri"/>
              </a:rPr>
              <a:t>📊  Dataset — Edge-IIoTset</a:t>
            </a:r>
          </a:p>
        </p:txBody>
      </p:sp>
      <p:sp>
        <p:nvSpPr>
          <p:cNvPr id="10" name="Shape10"/>
          <p:cNvSpPr>
            <a:spLocks noGrp="1"/>
          </p:cNvSpPr>
          <p:nvPr/>
        </p:nvSpPr>
        <p:spPr>
          <a:xfrm>
            <a:off x="274320" y="960120"/>
            <a:ext cx="2468880" cy="1371600"/>
          </a:xfrm>
          <a:prstGeom prst="roundRect">
            <a:avLst>
              <a:gd name="adj" fmla="val 15000"/>
            </a:avLst>
          </a:prstGeom>
          <a:gradFill>
            <a:gsLst>
              <a:gs pos="0">
                <a:srgbClr val="0D2137"/>
              </a:gs>
              <a:gs pos="100000">
                <a:srgbClr val="060B18"/>
              </a:gs>
            </a:gsLst>
            <a:lin ang="5400000" scaled="0"/>
          </a:gradFill>
          <a:ln w="19050">
            <a:solidFill>
              <a:srgbClr val="00C6FF"/>
            </a:solidFill>
          </a:ln>
          <a:effectLst/>
        </p:spPr>
        <p:txBody>
          <a:bodyPr anchor="ctr" wrap="square" vert="horz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3600" b="1" i="0" dirty="0">
                <a:solidFill>
                  <a:srgbClr val="00C6FF"/>
                </a:solidFill>
                <a:latin typeface="Calibri"/>
              </a:rPr>
              <a:t>157,800</a:t>
            </a:r>
          </a:p>
          <a:p>
            <a:pPr algn="ctr">
              <a:lnSpc>
                <a:spcPct val="100000"/>
              </a:lnSpc>
            </a:pPr>
            <a:r>
              <a:rPr lang="en-US" sz="1100" b="0" i="0" dirty="0">
                <a:solidFill>
                  <a:srgbClr val="B0BEC5"/>
                </a:solidFill>
                <a:latin typeface="Calibri"/>
              </a:rPr>
              <a:t>Raw Network Rows</a:t>
            </a:r>
          </a:p>
        </p:txBody>
      </p:sp>
      <p:sp>
        <p:nvSpPr>
          <p:cNvPr id="11" name="Shape11"/>
          <p:cNvSpPr>
            <a:spLocks noGrp="1"/>
          </p:cNvSpPr>
          <p:nvPr/>
        </p:nvSpPr>
        <p:spPr>
          <a:xfrm>
            <a:off x="2926080" y="960120"/>
            <a:ext cx="2468880" cy="1371600"/>
          </a:xfrm>
          <a:prstGeom prst="roundRect">
            <a:avLst>
              <a:gd name="adj" fmla="val 15000"/>
            </a:avLst>
          </a:prstGeom>
          <a:gradFill>
            <a:gsLst>
              <a:gs pos="0">
                <a:srgbClr val="0D2137"/>
              </a:gs>
              <a:gs pos="100000">
                <a:srgbClr val="060B18"/>
              </a:gs>
            </a:gsLst>
            <a:lin ang="5400000" scaled="0"/>
          </a:gradFill>
          <a:ln w="19050">
            <a:solidFill>
              <a:srgbClr val="00E676"/>
            </a:solidFill>
          </a:ln>
          <a:effectLst/>
        </p:spPr>
        <p:txBody>
          <a:bodyPr anchor="ctr" wrap="square" vert="horz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3600" b="1" i="0" dirty="0">
                <a:solidFill>
                  <a:srgbClr val="00E676"/>
                </a:solidFill>
                <a:latin typeface="Calibri"/>
              </a:rPr>
              <a:t>152,389</a:t>
            </a:r>
          </a:p>
          <a:p>
            <a:pPr algn="ctr">
              <a:lnSpc>
                <a:spcPct val="100000"/>
              </a:lnSpc>
            </a:pPr>
            <a:r>
              <a:rPr lang="en-US" sz="1100" b="0" i="0" dirty="0">
                <a:solidFill>
                  <a:srgbClr val="B0BEC5"/>
                </a:solidFill>
                <a:latin typeface="Calibri"/>
              </a:rPr>
              <a:t>After Cleaning</a:t>
            </a:r>
          </a:p>
        </p:txBody>
      </p:sp>
      <p:sp>
        <p:nvSpPr>
          <p:cNvPr id="12" name="Shape12"/>
          <p:cNvSpPr>
            <a:spLocks noGrp="1"/>
          </p:cNvSpPr>
          <p:nvPr/>
        </p:nvSpPr>
        <p:spPr>
          <a:xfrm>
            <a:off x="5577840" y="960120"/>
            <a:ext cx="2468880" cy="1371600"/>
          </a:xfrm>
          <a:prstGeom prst="roundRect">
            <a:avLst>
              <a:gd name="adj" fmla="val 15000"/>
            </a:avLst>
          </a:prstGeom>
          <a:gradFill>
            <a:gsLst>
              <a:gs pos="0">
                <a:srgbClr val="0D2137"/>
              </a:gs>
              <a:gs pos="100000">
                <a:srgbClr val="060B18"/>
              </a:gs>
            </a:gsLst>
            <a:lin ang="5400000" scaled="0"/>
          </a:gradFill>
          <a:ln w="19050">
            <a:solidFill>
              <a:srgbClr val="7B2FBE"/>
            </a:solidFill>
          </a:ln>
          <a:effectLst/>
        </p:spPr>
        <p:txBody>
          <a:bodyPr anchor="ctr" wrap="square" vert="horz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3600" b="1" i="0" dirty="0">
                <a:solidFill>
                  <a:srgbClr val="7B2FBE"/>
                </a:solidFill>
                <a:latin typeface="Calibri"/>
              </a:rPr>
              <a:t>53</a:t>
            </a:r>
          </a:p>
          <a:p>
            <a:pPr algn="ctr">
              <a:lnSpc>
                <a:spcPct val="100000"/>
              </a:lnSpc>
            </a:pPr>
            <a:r>
              <a:rPr lang="en-US" sz="1100" b="0" i="0" dirty="0">
                <a:solidFill>
                  <a:srgbClr val="B0BEC5"/>
                </a:solidFill>
                <a:latin typeface="Calibri"/>
              </a:rPr>
              <a:t>Feature Columns</a:t>
            </a:r>
          </a:p>
        </p:txBody>
      </p:sp>
      <p:sp>
        <p:nvSpPr>
          <p:cNvPr id="13" name="Shape13"/>
          <p:cNvSpPr>
            <a:spLocks noGrp="1"/>
          </p:cNvSpPr>
          <p:nvPr/>
        </p:nvSpPr>
        <p:spPr>
          <a:xfrm>
            <a:off x="8229600" y="960120"/>
            <a:ext cx="2651760" cy="1371600"/>
          </a:xfrm>
          <a:prstGeom prst="roundRect">
            <a:avLst>
              <a:gd name="adj" fmla="val 15000"/>
            </a:avLst>
          </a:prstGeom>
          <a:gradFill>
            <a:gsLst>
              <a:gs pos="0">
                <a:srgbClr val="0D2137"/>
              </a:gs>
              <a:gs pos="100000">
                <a:srgbClr val="060B18"/>
              </a:gs>
            </a:gsLst>
            <a:lin ang="5400000" scaled="0"/>
          </a:gradFill>
          <a:ln w="19050">
            <a:solidFill>
              <a:srgbClr val="FF6B35"/>
            </a:solidFill>
          </a:ln>
          <a:effectLst/>
        </p:spPr>
        <p:txBody>
          <a:bodyPr anchor="ctr" wrap="square" vert="horz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3600" b="1" i="0" dirty="0">
                <a:solidFill>
                  <a:srgbClr val="FF6B35"/>
                </a:solidFill>
                <a:latin typeface="Calibri"/>
              </a:rPr>
              <a:t>15</a:t>
            </a:r>
          </a:p>
          <a:p>
            <a:pPr algn="ctr">
              <a:lnSpc>
                <a:spcPct val="100000"/>
              </a:lnSpc>
            </a:pPr>
            <a:r>
              <a:rPr lang="en-US" sz="1100" b="0" i="0" dirty="0">
                <a:solidFill>
                  <a:srgbClr val="B0BEC5"/>
                </a:solidFill>
                <a:latin typeface="Calibri"/>
              </a:rPr>
              <a:t>Traffic Classes</a:t>
            </a:r>
          </a:p>
        </p:txBody>
      </p:sp>
      <p:sp>
        <p:nvSpPr>
          <p:cNvPr id="14" name="Shape14"/>
          <p:cNvSpPr>
            <a:spLocks noGrp="1"/>
          </p:cNvSpPr>
          <p:nvPr/>
        </p:nvSpPr>
        <p:spPr>
          <a:xfrm>
            <a:off x="274320" y="2514600"/>
            <a:ext cx="5212080" cy="1783080"/>
          </a:xfrm>
          <a:prstGeom prst="roundRect">
            <a:avLst>
              <a:gd name="adj" fmla="val 10000"/>
            </a:avLst>
          </a:prstGeom>
          <a:gradFill>
            <a:gsLst>
              <a:gs pos="0">
                <a:srgbClr val="001A00"/>
              </a:gs>
              <a:gs pos="100000">
                <a:srgbClr val="0D1B2A"/>
              </a:gs>
            </a:gsLst>
            <a:lin ang="5400000" scaled="0"/>
          </a:gradFill>
          <a:ln w="19050">
            <a:solidFill>
              <a:srgbClr val="00E676"/>
            </a:solidFill>
          </a:ln>
          <a:effectLst/>
        </p:spPr>
        <p:txBody>
          <a:bodyPr anchor="t" wrap="square" vert="horz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500" b="1" i="0" dirty="0">
                <a:solidFill>
                  <a:srgbClr val="00E676"/>
                </a:solidFill>
                <a:latin typeface="Calibri"/>
              </a:rPr>
              <a:t>✅  Known Classes (Train — 10 types)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FFFFFF"/>
                </a:solidFill>
                <a:latin typeface="Calibri"/>
              </a:rPr>
              <a:t>Normal · Backdoor · DDoS_HTTP · DDoS_ICMP · DDoS_TCP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FFFFFF"/>
                </a:solidFill>
                <a:latin typeface="Calibri"/>
              </a:rPr>
              <a:t>DDoS_UDP · Password · Port_Scanning · Ransomware · SQL_Injection</a:t>
            </a:r>
          </a:p>
          <a:p>
            <a:endParaRPr lang="en-US" dirty="0"/>
          </a:p>
          <a:p>
            <a:pPr algn="l">
              <a:lnSpc>
                <a:spcPct val="100000"/>
              </a:lnSpc>
            </a:pPr>
            <a:r>
              <a:rPr lang="en-US" sz="1300" b="1" i="0" dirty="0">
                <a:solidFill>
                  <a:srgbClr val="00E676"/>
                </a:solidFill>
                <a:latin typeface="Calibri"/>
              </a:rPr>
              <a:t>📦  121,293 samples</a:t>
            </a:r>
          </a:p>
        </p:txBody>
      </p:sp>
      <p:sp>
        <p:nvSpPr>
          <p:cNvPr id="15" name="Shape15"/>
          <p:cNvSpPr>
            <a:spLocks noGrp="1"/>
          </p:cNvSpPr>
          <p:nvPr/>
        </p:nvSpPr>
        <p:spPr>
          <a:xfrm>
            <a:off x="5669280" y="2514600"/>
            <a:ext cx="5212080" cy="1783080"/>
          </a:xfrm>
          <a:prstGeom prst="roundRect">
            <a:avLst>
              <a:gd name="adj" fmla="val 10000"/>
            </a:avLst>
          </a:prstGeom>
          <a:gradFill>
            <a:gsLst>
              <a:gs pos="0">
                <a:srgbClr val="1A0000"/>
              </a:gs>
              <a:gs pos="100000">
                <a:srgbClr val="0D1B2A"/>
              </a:gs>
            </a:gsLst>
            <a:lin ang="5400000" scaled="0"/>
          </a:gradFill>
          <a:ln w="19050">
            <a:solidFill>
              <a:srgbClr val="FF6B35"/>
            </a:solidFill>
          </a:ln>
          <a:effectLst/>
        </p:spPr>
        <p:txBody>
          <a:bodyPr anchor="t" wrap="square" vert="horz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500" b="1" i="0" dirty="0">
                <a:solidFill>
                  <a:srgbClr val="FF6B35"/>
                </a:solidFill>
                <a:latin typeface="Calibri"/>
              </a:rPr>
              <a:t>🚨  Zero-Day Classes (Hidden — 5 types)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FFFFFF"/>
                </a:solidFill>
                <a:latin typeface="Calibri"/>
              </a:rPr>
              <a:t>Fingerprinting · MITM · Uploading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FFFFFF"/>
                </a:solidFill>
                <a:latin typeface="Calibri"/>
              </a:rPr>
              <a:t>Vulnerability Scanner · XSS</a:t>
            </a:r>
          </a:p>
          <a:p>
            <a:endParaRPr lang="en-US" dirty="0"/>
          </a:p>
          <a:p>
            <a:pPr algn="l">
              <a:lnSpc>
                <a:spcPct val="100000"/>
              </a:lnSpc>
            </a:pPr>
            <a:r>
              <a:rPr lang="en-US" sz="1300" b="1" i="0" dirty="0">
                <a:solidFill>
                  <a:srgbClr val="FF6B35"/>
                </a:solidFill>
                <a:latin typeface="Calibri"/>
              </a:rPr>
              <a:t>📦  31,096 samples  (never seen during training)</a:t>
            </a:r>
          </a:p>
        </p:txBody>
      </p:sp>
      <p:sp>
        <p:nvSpPr>
          <p:cNvPr id="16" name="Shape16"/>
          <p:cNvSpPr>
            <a:spLocks noGrp="1"/>
          </p:cNvSpPr>
          <p:nvPr/>
        </p:nvSpPr>
        <p:spPr>
          <a:xfrm>
            <a:off x="274320" y="4434840"/>
            <a:ext cx="10607040" cy="1645920"/>
          </a:xfrm>
          <a:prstGeom prst="roundRect">
            <a:avLst>
              <a:gd name="adj" fmla="val 10000"/>
            </a:avLst>
          </a:prstGeom>
          <a:gradFill>
            <a:gsLst>
              <a:gs pos="0">
                <a:srgbClr val="0D1B2A"/>
              </a:gs>
              <a:gs pos="100000">
                <a:srgbClr val="060B18"/>
              </a:gs>
            </a:gsLst>
            <a:lin ang="5400000" scaled="0"/>
          </a:gradFill>
          <a:ln w="12700">
            <a:solidFill>
              <a:srgbClr val="00C6FF"/>
            </a:solidFill>
          </a:ln>
          <a:effectLst/>
        </p:spPr>
        <p:txBody>
          <a:bodyPr anchor="ctr" wrap="square" vert="horz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500" b="1" i="0" dirty="0">
                <a:solidFill>
                  <a:srgbClr val="00C6FF"/>
                </a:solidFill>
                <a:latin typeface="Calibri"/>
              </a:rPr>
              <a:t>Edge-IIoTset Dataset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B0BEC5"/>
                </a:solidFill>
                <a:latin typeface="Calibri"/>
              </a:rPr>
              <a:t>Real IoT testbed with 10 device types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B0BEC5"/>
                </a:solidFill>
                <a:latin typeface="Calibri"/>
              </a:rPr>
              <a:t>Protocols: MQTT · HTTP · DNS · TCP · UDP · ARP · Modbus</a:t>
            </a:r>
          </a:p>
          <a:p>
            <a:pPr algn="l">
              <a:lnSpc>
                <a:spcPct val="100000"/>
              </a:lnSpc>
            </a:pPr>
            <a:r>
              <a:rPr lang="en-US" sz="1100" b="0" i="1" dirty="0">
                <a:solidFill>
                  <a:srgbClr val="B0BEC5"/>
                </a:solidFill>
                <a:latin typeface="Calibri"/>
              </a:rPr>
              <a:t>Source: Kaggle (sibasispradhan/edge-iiotset-dataset)</a:t>
            </a:r>
          </a:p>
        </p:txBody>
      </p:sp>
    </p:spTree>
  </p:cSld>
</p:sld>
</file>

<file path=ppt/slides/slide5.xml><?xml version="1.0" encoding="UTF-8" standalone="yes"?>
<p:sld xmlns:p="http://schemas.openxmlformats.org/presentationml/2006/main"
       xmlns:a="http://schemas.openxmlformats.org/drawingml/2006/main"
       xmlns:r="http://schemas.openxmlformats.org/officeDocument/2006/relationships">
  <p:cSld>
    <p:spTree>
      <p:nvGrpSpPr>
        <p:cNvPr id="1" name=""/>
        <p:cNvGrpSpPr/>
        <p:nvPr/>
      </p:nvGrpSpPr>
      <p:grpSpPr>
        <a:xfrm><a:off x="0" y="0"/><a:ext cx="12192000" cy="6858000"/>
        <a:chOff x="0" y="0"/><a:chExt cx="12192000" cy="6858000"/></a:xfrm>
      </p:grpSpPr>
      <p:sp>
  <p:nvSpPr>
    <p:cNvPr id="2" name="Shape2"/>
    <p:cNvSpPr><a:spLocks noGrp="1"/></p:cNvSpPr>
    <p:nvPr/>
  </p:nvSpPr>
  <p:spPr>
  <a:xfrm><a:off x="0" y="0"/><a:ext cx="12192000" cy="6858000"/></a:xfrm>
  <a:prstGeom prst="rect"><a:avLst/></a:prstGeom>
  <a:gradFill><a:gsLst>
      <a:gs pos="0"><a:srgbClr val="060B18"/></a:gs>
      <a:gs pos="100000"><a:srgbClr val="0D1B2A"/></a:gs>
    </a:gsLst><a:lin ang="5400000" scaled="0"/></a:gradFill>
  
  <a:effectLst/>
</p:spPr>
  <p:txBody>
  <a:bodyPr anchor="ctr" wrap="square" vert="horz">
    <a:normAutofit/>
  </a:bodyPr>
  <a:lstStyle/>
  <a:p><a:endParaRPr lang="en-US" dirty="0"/></a:p>
</p:txBody>
</p:sp>
<p:sp>
  <p:nvSpPr>
    <p:cNvPr id="3" name="Shape3"/>
    <p:cNvSpPr><a:spLocks noGrp="1"/></p:cNvSpPr>
    <p:nvPr/>
  </p:nvSpPr>
  <p:spPr>
  <a:xfrm><a:off x="0" y="0"/><a:ext cx="12192000" cy="777240"/></a:xfrm>
  <a:prstGeom prst="rect"><a:avLst/></a:prstGeom>
  <a:gradFill><a:gsLst>
      <a:gs pos="0"><a:srgbClr val="7B2FBE"/></a:gs>
      <a:gs pos="100000"><a:srgbClr val="00C6FF"/></a:gs>
    </a:gsLst><a:lin ang="0" scaled="0"/></a:gradFill>
  
  <a:effectLst/>
</p:spPr>
  <p:txBody>
  <a:bodyPr anchor="ctr" wrap="square" vert="horz">
    <a:normAutofit/>
  </a:bodyPr>
  <a:lstStyle/>
  <a:p><a:endParaRPr lang="en-US" dirty="0"/></a:p>
</p:txBody>
</p:sp>
<p:sp>
  <p:nvSpPr>
    <p:cNvPr id="4" name="Shape4"/>
    <p:cNvSpPr><a:spLocks noGrp="1"/></p:cNvSpPr>
    <p:nvPr/>
  </p:nvSpPr>
  <p:spPr>
  <a:xfrm><a:off x="0" y="777240"/><a:ext cx="54864" cy="6080760"/></a:xfrm>
  <a:prstGeom prst="rect"><a:avLst/></a:prstGeom>
  <a:solidFill><a:srgbClr val="00C6FF"/></a:solidFill>
  
  <a:effectLst/>
</p:spPr>
  <p:txBody>
  <a:bodyPr anchor="ctr" wrap="square" vert="horz">
    <a:normAutofit/>
  </a:bodyPr>
  <a:lstStyle/>
  <a:p><a:endParaRPr lang="en-US" dirty="0"/></a:p>
</p:txBody>
</p:sp>
<p:sp>
  <p:nvSpPr>
    <p:cNvPr id="5" name="Shape5"/>
    <p:cNvSpPr><a:spLocks noGrp="1"/></p:cNvSpPr>
    <p:nvPr/>
  </p:nvSpPr>
  <p:spPr>
  <a:xfrm><a:off x="0" y="6784848"/><a:ext cx="12192000" cy="73152"/></a:xfrm>
  <a:prstGeom prst="rect"><a:avLst/></a:prstGeom>
  <a:solidFill><a:srgbClr val="7B2FBE"/></a:solidFill>
  
  <a:effectLst/>
</p:spPr>
  <p:txBody>
  <a:bodyPr anchor="ctr" wrap="square" vert="horz">
    <a:normAutofit/>
  </a:bodyPr>
  <a:lstStyle/>
  <a:p><a:endParaRPr lang="en-US" dirty="0"/></a:p>
</p:txBody>
</p:sp>
<p:sp>
  <p:nvSpPr>
    <p:cNvPr id="6" name="Shape6"/>
    <p:cNvSpPr><a:spLocks noGrp="1"/></p:cNvSpPr>
    <p:nvPr/>
  </p:nvSpPr>
  <p:spPr>
  <a:xfrm><a:off x="11643360" y="6446520"/><a:ext cx="457200" cy="320040"/></a:xfrm>
  <a:prstGeom prst="rect"><a:avLst/></a:prstGeom>
  <a:solidFill><a:srgbClr val="00000000"/></a:solidFill>
  
  <a:effectLst/>
</p:spPr>
  <p:txBody>
  <a:bodyPr anchor="ctr" wrap="square" vert="horz">
    <a:normAutofit/>
  </a:bodyPr>
  <a:lstStyle/>
  <a:p>
  <a:pPr algn="r"><a:lnSpc><a:spcPct val="100000"/></a:lnSpc></a:pPr>
  <a:r><a:rPr lang="en-US" sz="1100" b="0" i="0" dirty="0">
    <a:solidFill><a:srgbClr val="B0BEC5"/></a:solidFill>
    <a:latin typeface="Calibri"/>
  </a:rPr><a:t>10</a:t></a:r>
</a:p>
</p:txBody>
</p:sp>
<p:sp>
  <p:nvSpPr>
    <p:cNvPr id="7" name="Shape7"/>
    <p:cNvSpPr><a:spLocks noGrp="1"/></p:cNvSpPr>
    <p:nvPr/>
  </p:nvSpPr>
  <p:spPr>
  <a:xfrm><a:off x="228600" y="73152"/><a:ext cx="11734800" cy="658368"/></a:xfrm>
  <a:prstGeom prst="rect"><a:avLst/></a:prstGeom>
  <a:solidFill><a:srgbClr val="00000000"/></a:solidFill>
  
  <a:effectLst/>
</p:spPr>
  <p:txBody>
  <a:bodyPr anchor="ctr" wrap="square" vert="horz">
    <a:normAutofit/>
  </a:bodyPr>
  <a:lstStyle/>
  <a:p>
  <a:pPr algn="l"><a:lnSpc><a:spcPct val="100000"/></a:lnSpc></a:pPr>
  <a:r><a:rPr lang="en-US" sz="2400" b="1" i="0" dirty="0">
    <a:solidFill><a:srgbClr val="FFFFFF"/></a:solidFill>
    <a:latin typeface="Calibri"/>
  </a:rPr><a:t>⚙️  Data Preprocessing Pipeline</a:t></a:r>
</a:p>
</p:txBody>
</p:sp>
<p:sp>
  <p:nvSpPr>
    <p:cNvPr id="10" name="Shape10"/>
    <p:cNvSpPr><a:spLocks noGrp="1"/></p:cNvSpPr>
    <p:nvPr/>
  </p:nvSpPr>
  <p:spPr>
  <a:xfrm><a:off x="274320" y="960120"/><a:ext cx="1920240" cy="1691640"/></a:xfrm>
  <a:prstGeom prst="roundRect"><a:avLst><a:gd name="adj" fmla="val 12000"/></a:avLst></a:prstGeom>
  <a:gradFill><a:gsLst>
      <a:gs pos="0"><a:srgbClr val="0D1B2A"/></a:gs>
      <a:gs pos="100000"><a:srgbClr val="060B18"/></a:gs>
    </a:gsLst><a:lin ang="5400000" scaled="0"/></a:gradFill>
  <a:ln w="19050"><a:solidFill><a:srgbClr val="00C6FF"/></a:solidFill></a:ln>
  <a:effectLst/>
</p:spPr>
  <p:txBody>
  <a:bodyPr anchor="ctr" wrap="square" vert="horz">
    <a:normAutofit/>
  </a:bodyPr>
  <a:lstStyle/>
  <a:p>
  <a:pPr algn="ctr"><a:lnSpc><a:spcPct val="100000"/></a:lnSpc></a:pPr>
  <a:r><a:rPr lang="en-US" sz="1400" b="1" i="0" dirty="0">
    <a:solidFill><a:srgbClr val="00C6FF"/></a:solidFill>
    <a:latin typeface="Calibri"/>
  </a:rPr><a:t>① Load CSV</a:t></a:r>
</a:p><a:p>
  <a:pPr algn="ctr"><a:lnSpc><a:spcPct val="100000"/></a:lnSpc></a:pPr>
  <a:r><a:rPr lang="en-US" sz="1150" b="0" i="0" dirty="0">
    <a:solidFill><a:srgbClr val="FFFFFF"/></a:solidFill>
    <a:latin typeface="Calibri"/>
  </a:rPr><a:t>157,800 × 63 columns
ML-EdgeIIoT-dataset.csv</a:t></a:r>
</a:p>
</p:txBody>
</p:sp><p:sp>
  <p:nvSpPr>
    <p:cNvPr id="20" name="Line20"/>
    <p:cNvSpPr><a:spLocks noGrp="1"/></p:cNvSpPr>
    <p:nvPr/>
  </p:nvSpPr>
  <p:spPr>
    <a:xfrm flipH="0" flipV="0">
      <a:off x="2194560" y="1801368"/>
      <a:ext cx="457200" cy="1"/>
    </a:xfrm>
    <a:prstGeom prst="line"><a:avLst/></a:prstGeom>
    <a:noFill/>
    <a:ln w="38100"><a:solidFill><a:srgbClr val="00C6FF"/></a:solidFill></a:ln>
  </p:spPr>
  <p:txBody><a:bodyPr/><a:lstStyle/><a:p/></p:txBody>
</p:sp><p:sp>
  <p:nvSpPr>
    <p:cNvPr id="11" name="Shape11"/>
    <p:cNvSpPr><a:spLocks noGrp="1"/></p:cNvSpPr>
    <p:nvPr/>
  </p:nvSpPr>
  <p:spPr>
  <a:xfrm><a:off x="2377440" y="960120"/><a:ext cx="1920240" cy="1691640"/></a:xfrm>
  <a:prstGeom prst="roundRect"><a:avLst><a:gd name="adj" fmla="val 12000"/></a:avLst></a:prstGeom>
  <a:gradFill><a:gsLst>
      <a:gs pos="0"><a:srgbClr val="0D1B2A"/></a:gs>
      <a:gs pos="100000"><a:srgbClr val="060B18"/></a:gs>
    </a:gsLst><a:lin ang="5400000" scaled="0"/></a:gradFill>
  <a:ln w="19050"><a:solidFill><a:srgbClr val="7B2FBE"/></a:solidFill></a:ln>
  <a:effectLst/>
</p:spPr>
  <p:txBody>
  <a:bodyPr anchor="ctr" wrap="square" vert="horz">
    <a:normAutofit/>
  </a:bodyPr>
  <a:lstStyle/>
  <a:p>
  <a:pPr algn="ctr"><a:lnSpc><a:spcPct val="100000"/></a:lnSpc></a:pPr>
  <a:r><a:rPr lang="en-US" sz="1400" b="1" i="0" dirty="0">
    <a:solidFill><a:srgbClr val="7B2FBE"/></a:solidFill>
    <a:latin typeface="Calibri"/>
  </a:rPr><a:t>② Drop Columns</a:t></a:r>
</a:p><a:p>
  <a:pPr algn="ctr"><a:lnSpc><a:spcPct val="100000"/></a:lnSpc></a:pPr>
  <a:r><a:rPr lang="en-US" sz="1150" b="0" i="0" dirty="0">
    <a:solidFill><a:srgbClr val="FFFFFF"/></a:solidFill>
    <a:latin typeface="Calibri"/>
  </a:rPr><a:t>63 → 53 features
Remove IP/timestamps/text</a:t></a:r>
</a:p>
</p:txBody>
</p:sp><p:sp>
  <p:nvSpPr>
    <p:cNvPr id="21" name="Line21"/>
    <p:cNvSpPr><a:spLocks noGrp="1"/></p:cNvSpPr>
    <p:nvPr/>
  </p:nvSpPr>
  <p:spPr>
    <a:xfrm flipH="0" flipV="0">
      <a:off x="4297680" y="1801368"/>
      <a:ext cx="457200" cy="1"/>
    </a:xfrm>
    <a:prstGeom prst="line"><a:avLst/></a:prstGeom>
    <a:noFill/>
    <a:ln w="38100"><a:solidFill><a:srgbClr val="7B2FBE"/></a:solidFill></a:ln>
  </p:spPr>
  <p:txBody><a:bodyPr/><a:lstStyle/><a:p/></p:txBody>
</p:sp><p:sp>
  <p:nvSpPr>
    <p:cNvPr id="12" name="Shape12"/>
    <p:cNvSpPr><a:spLocks noGrp="1"/></p:cNvSpPr>
    <p:nvPr/>
  </p:nvSpPr>
  <p:spPr>
  <a:xfrm><a:off x="4480560" y="960120"/><a:ext cx="1920240" cy="1691640"/></a:xfrm>
  <a:prstGeom prst="roundRect"><a:avLst><a:gd name="adj" fmla="val 12000"/></a:avLst></a:prstGeom>
  <a:gradFill><a:gsLst>
      <a:gs pos="0"><a:srgbClr val="0D1B2A"/></a:gs>
      <a:gs pos="100000"><a:srgbClr val="060B18"/></a:gs>
    </a:gsLst><a:lin ang="5400000" scaled="0"/></a:gradFill>
  <a:ln w="19050"><a:solidFill><a:srgbClr val="FF6B35"/></a:solidFill></a:ln>
  <a:effectLst/>
</p:spPr>
  <p:txBody>
  <a:bodyPr anchor="ctr" wrap="square" vert="horz">
    <a:normAutofit/>
  </a:bodyPr>
  <a:lstStyle/>
  <a:p>
  <a:pPr algn="ctr"><a:lnSpc><a:spcPct val="100000"/></a:lnSpc></a:pPr>
  <a:r><a:rPr lang="en-US" sz="1400" b="1" i="0" dirty="0">
    <a:solidFill><a:srgbClr val="FF6B35"/></a:solidFill>
    <a:latin typeface="Calibri"/>
  </a:rPr><a:t>③ Clean Data</a:t></a:r>
</a:p><a:p>
  <a:pPr algn="ctr"><a:lnSpc><a:spcPct val="100000"/></a:lnSpc></a:pPr>
  <a:r><a:rPr lang="en-US" sz="1150" b="0" i="0" dirty="0">
    <a:solidFill><a:srgbClr val="FFFFFF"/></a:solidFill>
    <a:latin typeface="Calibri"/>
  </a:rPr><a:t>157,800 → 152,389 rows
Null & duplicate removal</a:t></a:r>
</a:p>
</p:txBody>
</p:sp><p:sp>
  <p:nvSpPr>
    <p:cNvPr id="22" name="Line22"/>
    <p:cNvSpPr><a:spLocks noGrp="1"/></p:cNvSpPr>
    <p:nvPr/>
  </p:nvSpPr>
  <p:spPr>
    <a:xfrm flipH="0" flipV="0">
      <a:off x="6400800" y="1801368"/>
      <a:ext cx="457200" cy="1"/>
    </a:xfrm>
    <a:prstGeom prst="line"><a:avLst/></a:prstGeom>
    <a:noFill/>
    <a:ln w="38100"><a:solidFill><a:srgbClr val="FF6B35"/></a:solidFill></a:ln>
  </p:spPr>
  <p:txBody><a:bodyPr/><a:lstStyle/><a:p/></p:txBody>
</p:sp><p:sp>
  <p:nvSpPr>
    <p:cNvPr id="13" name="Shape13"/>
    <p:cNvSpPr><a:spLocks noGrp="1"/></p:cNvSpPr>
    <p:nvPr/>
  </p:nvSpPr>
  <p:spPr>
  <a:xfrm><a:off x="6583680" y="960120"/><a:ext cx="1920240" cy="1691640"/></a:xfrm>
  <a:prstGeom prst="roundRect"><a:avLst><a:gd name="adj" fmla="val 12000"/></a:avLst></a:prstGeom>
  <a:gradFill><a:gsLst>
      <a:gs pos="0"><a:srgbClr val="0D1B2A"/></a:gs>
      <a:gs pos="100000"><a:srgbClr val="060B18"/></a:gs>
    </a:gsLst><a:lin ang="5400000" scaled="0"/></a:gradFill>
  <a:ln w="19050"><a:solidFill><a:srgbClr val="00E676"/></a:solidFill></a:ln>
  <a:effectLst/>
</p:spPr>
  <p:txBody>
  <a:bodyPr anchor="ctr" wrap="square" vert="horz">
    <a:normAutofit/>
  </a:bodyPr>
  <a:lstStyle/>
  <a:p>
  <a:pPr algn="ctr"><a:lnSpc><a:spcPct val="100000"/></a:lnSpc></a:pPr>
  <a:r><a:rPr lang="en-US" sz="1400" b="1" i="0" dirty="0">
    <a:solidFill><a:srgbClr val="00E676"/></a:solidFill>
    <a:latin typeface="Calibri"/>
  </a:rPr><a:t>④ Encode & Optimise</a:t></a:r>
</a:p><a:p>
  <a:pPr algn="ctr"><a:lnSpc><a:spcPct val="100000"/></a:lnSpc></a:pPr>
  <a:r><a:rPr lang="en-US" sz="1150" b="0" i="0" dirty="0">
    <a:solidFill><a:srgbClr val="FFFFFF"/></a:solidFill>
    <a:latin typeface="Calibri"/>
  </a:rPr><a:t>Label encode text cols
float64→float32 (50% RAM↓)</a:t></a:r>
</a:p>
</p:txBody>
</p:sp><p:sp>
  <p:nvSpPr>
    <p:cNvPr id="23" name="Line23"/>
    <p:cNvSpPr><a:spLocks noGrp="1"/></p:cNvSpPr>
    <p:nvPr/>
  </p:nvSpPr>
  <p:spPr>
    <a:xfrm flipH="0" flipV="0">
      <a:off x="8503920" y="1801368"/>
      <a:ext cx="457200" cy="1"/>
    </a:xfrm>
    <a:prstGeom prst="line"><a:avLst/></a:prstGeom>
    <a:noFill/>
    <a:ln w="38100"><a:solidFill><a:srgbClr val="00E676"/></a:solidFill></a:ln>
  </p:spPr>
  <p:txBody><a:bodyPr/><a:lstStyle/><a:p/></p:txBody>
</p:sp><p:sp>
  <p:nvSpPr>
    <p:cNvPr id="14" name="Shape14"/>
    <p:cNvSpPr><a:spLocks noGrp="1"/></p:cNvSpPr>
    <p:nvPr/>
  </p:nvSpPr>
  <p:spPr>
  <a:xfrm><a:off x="8686800" y="960120"/><a:ext cx="1920240" cy="1691640"/></a:xfrm>
  <a:prstGeom prst="roundRect"><a:avLst><a:gd name="adj" fmla="val 12000"/></a:avLst></a:prstGeom>
  <a:gradFill><a:gsLst>
      <a:gs pos="0"><a:srgbClr val="0D1B2A"/></a:gs>
      <a:gs pos="100000"><a:srgbClr val="060B18"/></a:gs>
    </a:gsLst><a:lin ang="5400000" scaled="0"/></a:gradFill>
  <a:ln w="19050"><a:solidFill><a:srgbClr val="FFD600"/></a:solidFill></a:ln>
  <a:effectLst/>
</p:spPr>
  <p:txBody>
  <a:bodyPr anchor="ctr" wrap="square" vert="horz">
    <a:normAutofit/>
  </a:bodyPr>
  <a:lstStyle/>
  <a:p>
  <a:pPr algn="ctr"><a:lnSpc><a:spcPct val="100000"/></a:lnSpc></a:pPr>
  <a:r><a:rPr lang="en-US" sz="1400" b="1" i="0" dirty="0">
    <a:solidFill><a:srgbClr val="FFD600"/></a:solidFill>
    <a:latin typeface="Calibri"/>
  </a:rPr><a:t>⑤ Split Dataset</a:t></a:r>
</a:p><a:p>
  <a:pPr algn="ctr"><a:lnSpc><a:spcPct val="100000"/></a:lnSpc></a:pPr>
  <a:r><a:rPr lang="en-US" sz="1150" b="0" i="0" dirty="0">
    <a:solidFill><a:srgbClr val="FFFFFF"/></a:solidFill>
    <a:latin typeface="Calibri"/>
  </a:rPr><a:t>Known: 121,293 rows
Zero-day: 31,096 rows</a:t></a:r>
</a:p>
</p:txBody>
</p:sp><p:sp>
  <p:nvSpPr>
    <p:cNvPr id="15" name="Shape15"/>
    <p:cNvSpPr><a:spLocks noGrp="1"/></p:cNvSpPr>
    <p:nvPr/>
  </p:nvSpPr>
  <p:spPr>
  <a:xfrm><a:off x="274320" y="2834640"/><a:ext cx="10607040" cy="1325880"/></a:xfrm>
  <a:prstGeom prst="roundRect"><a:avLst><a:gd name="adj" fmla="val 10000"/></a:avLst></a:prstGeom>
  <a:gradFill><a:gsLst>
      <a:gs pos="0"><a:srgbClr val="0D2137"/></a:gs>
      <a:gs pos="100000"><a:srgbClr val="060B18"/></a:gs>
    </a:gsLst><a:lin ang="5400000" scaled="0"/></a:gradFill>
  <a:ln w="19050"><a:solidFill><a:srgbClr val="00C6FF"/></a:solidFill></a:ln>
  <a:effectLst/>
</p:spPr>
  <p:txBody>
  <a:bodyPr anchor="ctr" wrap="square" vert="horz">
    <a:normAutofit/>
  </a:bodyPr>
  <a:lstStyle/>
  <a:p>
  <a:pPr algn="l"><a:lnSpc><a:spcPct val="100000"/></a:lnSpc></a:pPr>
  <a:r><a:rPr lang="en-US" sz="1500" b="1" i="0" dirty="0">
    <a:solidFill><a:srgbClr val="00C6FF"/></a:solidFill>
    <a:latin typeface="Calibri"/>
  </a:rPr><a:t>⑥ StandardScaler</a:t></a:r>
</a:p><a:p>
  <a:pPr algn="l"><a:lnSpc><a:spcPct val="100000"/></a:lnSpc></a:pPr>
  <a:r><a:rPr lang="en-US" sz="1250" b="0" i="0" dirty="0">
    <a:solidFill><a:srgbClr val="FFFFFF"/></a:solidFill>
    <a:latin typeface="Calibri"/>
  </a:rPr><a:t>Fitted ONLY on normal traffic — maintains anomaly detection integrity</a:t></a:r>
</a:p><a:p>
  <a:pPr algn="l"><a:lnSpc><a:spcPct val="100000"/></a:lnSpc></a:pPr>
  <a:r><a:rPr lang="en-US" sz="1250" b="0" i="0" dirty="0">
    <a:solidFill><a:srgbClr val="B0BEC5"/></a:solidFill>
    <a:latin typeface="Calibri"/>
  </a:rPr><a:t>Formula:  z = (x − mean) / std_dev   →   all features scaled to ~[-3, +3]</a:t></a:r>
</a:p><a:p>
  <a:pPr algn="l"><a:lnSpc><a:spcPct val="100000"/></a:lnSpc></a:pPr>
  <a:r><a:rPr lang="en-US" sz="1200" b="0" i="0" dirty="0">
    <a:solidFill><a:srgbClr val="B0BEC5"/></a:solidFill>
    <a:latin typeface="Calibri"/>
  </a:rPr><a:t>Saved as scaler.pkl — reused by all subsequent notebooks</a:t></a:r>
</a:p>
</p:txBody>
</p:sp><p:sp>
  <p:nvSpPr>
    <p:cNvPr id="16" name="Shape16"/>
    <p:cNvSpPr><a:spLocks noGrp="1"/></p:cNvSpPr>
    <p:nvPr/>
  </p:nvSpPr>
  <p:spPr>
  <a:xfrm><a:off x="274320" y="4297680"/><a:ext cx="10607040" cy="1005840"/></a:xfrm>
  <a:prstGeom prst="roundRect"><a:avLst><a:gd name="adj" fmla="val 10000"/></a:avLst></a:prstGeom>
  <a:gradFill><a:gsLst>
      <a:gs pos="0"><a:srgbClr val="001A00"/></a:gs>
      <a:gs pos="100000"><a:srgbClr val="060B18"/></a:gs>
    </a:gsLst><a:lin ang="5400000" scaled="0"/></a:gradFill>
  <a:ln w="12700"><a:solidFill><a:srgbClr val="00E676"/></a:solidFill></a:ln>
  <a:effectLst/>
</p:spPr>
  <p:txBody>
  <a:bodyPr anchor="ctr" wrap="square" vert="horz">
    <a:normAutofit/>
  </a:bodyPr>
  <a:lstStyle/>
  <a:p>
  <a:pPr algn="l"><a:lnSpc><a:spcPct val="100000"/></a:lnSpc></a:pPr>
  <a:r><a:rPr lang="en-US" sz="1300" b="1" i="0" dirty="0">
    <a:solidFill><a:srgbClr val="00E676"/></a:solidFill>
    <a:latin typeface="Calibri"/>
  </a:rPr><a:t>Output Files (Parquet format — 10× smaller than CSV, type-safe)</a:t></a:r>
</a:p><a:p>
  <a:pPr algn="l"><a:lnSpc><a:spcPct val="100000"/></a:lnSpc></a:pPr>
  <a:r><a:rPr lang="en-US" sz="1200" b="0" i="0" dirty="0">
    <a:solidFill><a:srgbClr val="FFFFFF"/></a:solidFill>
    <a:latin typeface="Calibri"/>
  </a:rPr><a:t>master_clean.parquet  ·  known_train.parquet  ·  zero_day_test.parquet  ·  scaler.pkl</a:t></a:r>
</a:p>
</p:txBody>
</p:sp><p:sp>
  <p:nvSpPr>
    <p:cNvPr id="17" name="Shape17"/>
    <p:cNvSpPr><a:spLocks noGrp="1"/></p:cNvSpPr>
    <p:nvPr/>
  </p:nvSpPr>
  <p:spPr>
  <a:xfrm><a:off x="274320" y="5440680"/><a:ext cx="10607040" cy="594360"/></a:xfrm>
  <a:prstGeom prst="roundRect"><a:avLst><a:gd name="adj" fmla="val 8000"/></a:avLst></a:prstGeom>
  <a:gradFill><a:gsLst>
      <a:gs pos="0"><a:srgbClr val="0A001A"/></a:gs>
      <a:gs pos="100000"><a:srgbClr val="060B18"/></a:gs>
    </a:gsLst><a:lin ang="5400000" scaled="0"/></a:gradFill>
  <a:ln w="9525"><a:solidFill><a:srgbClr val="7B2FBE"/></a:solidFill></a:ln>
  <a:effectLst/>
</p:spPr>
  <p:txBody>
  <a:bodyPr anchor="ctr" wrap="square" vert="horz">
    <a:normAutofit/>
  </a:bodyPr>
  <a:lstStyle/>
  <a:p>
  <a:pPr algn="ctr"><a:lnSpc><a:spcPct val="100000"/></a:lnSpc></a:pPr>
  <a:r><a:rPr lang="en-US" sz="1200" b="0" i="0" dirty="0">
    <a:solidFill><a:srgbClr val="B0BEC5"/></a:solidFill>
    <a:latin typeface="Calibri"/>
  </a:rPr><a:t>💡  Scaler fitted on normal-only traffic ensures the Autoencoder gets a clean, uncontaminated normalisation baseline</a:t></a:r>
</a:p>
</p:txBody>
</p:sp>
    </p:spTree>
  </p:cSld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Shape2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60B18"/>
              </a:gs>
              <a:gs pos="100000">
                <a:srgbClr val="0D1B2A"/>
              </a:gs>
            </a:gsLst>
            <a:lin ang="5400000" scaled="0"/>
          </a:gradFill>
          <a:effectLst/>
        </p:spPr>
        <p:txBody>
          <a:bodyPr anchor="ctr" wrap="square" vert="horz">
            <a:normAutofit/>
          </a:bodyPr>
          <a:lstStyle/>
          <a:p>
            <a:endParaRPr lang="en-US" dirty="0"/>
          </a:p>
        </p:txBody>
      </p:sp>
      <p:sp>
        <p:nvSpPr>
          <p:cNvPr id="3" name="Shape3"/>
          <p:cNvSpPr>
            <a:spLocks noGrp="1"/>
          </p:cNvSpPr>
          <p:nvPr/>
        </p:nvSpPr>
        <p:spPr>
          <a:xfrm>
            <a:off x="0" y="0"/>
            <a:ext cx="12192000" cy="777240"/>
          </a:xfrm>
          <a:prstGeom prst="rect">
            <a:avLst/>
          </a:prstGeom>
          <a:gradFill>
            <a:gsLst>
              <a:gs pos="0">
                <a:srgbClr val="7B2FBE"/>
              </a:gs>
              <a:gs pos="100000">
                <a:srgbClr val="00C6FF"/>
              </a:gs>
            </a:gsLst>
            <a:lin ang="0" scaled="0"/>
          </a:gradFill>
          <a:effectLst/>
        </p:spPr>
        <p:txBody>
          <a:bodyPr anchor="ctr" wrap="square" vert="horz">
            <a:normAutofit/>
          </a:bodyPr>
          <a:lstStyle/>
          <a:p>
            <a:endParaRPr lang="en-US" dirty="0"/>
          </a:p>
        </p:txBody>
      </p:sp>
      <p:sp>
        <p:nvSpPr>
          <p:cNvPr id="4" name="Shape4"/>
          <p:cNvSpPr>
            <a:spLocks noGrp="1"/>
          </p:cNvSpPr>
          <p:nvPr/>
        </p:nvSpPr>
        <p:spPr>
          <a:xfrm>
            <a:off x="0" y="777240"/>
            <a:ext cx="54864" cy="6080760"/>
          </a:xfrm>
          <a:prstGeom prst="rect">
            <a:avLst/>
          </a:prstGeom>
          <a:solidFill>
            <a:srgbClr val="00C6FF"/>
          </a:solidFill>
          <a:effectLst/>
        </p:spPr>
        <p:txBody>
          <a:bodyPr anchor="ctr" wrap="square" vert="horz">
            <a:normAutofit/>
          </a:bodyPr>
          <a:lstStyle/>
          <a:p>
            <a:endParaRPr lang="en-US" dirty="0"/>
          </a:p>
        </p:txBody>
      </p:sp>
      <p:sp>
        <p:nvSpPr>
          <p:cNvPr id="5" name="Shape5"/>
          <p:cNvSpPr>
            <a:spLocks noGrp="1"/>
          </p:cNvSpPr>
          <p:nvPr/>
        </p:nvSpPr>
        <p:spPr>
          <a:xfrm>
            <a:off x="0" y="6784848"/>
            <a:ext cx="12192000" cy="73152"/>
          </a:xfrm>
          <a:prstGeom prst="rect">
            <a:avLst/>
          </a:prstGeom>
          <a:solidFill>
            <a:srgbClr val="7B2FBE"/>
          </a:solidFill>
          <a:effectLst/>
        </p:spPr>
        <p:txBody>
          <a:bodyPr anchor="ctr" wrap="square" vert="horz">
            <a:normAutofit/>
          </a:bodyPr>
          <a:lstStyle/>
          <a:p>
            <a:endParaRPr lang="en-US" dirty="0"/>
          </a:p>
        </p:txBody>
      </p:sp>
      <p:sp>
        <p:nvSpPr>
          <p:cNvPr id="6" name="Shape6"/>
          <p:cNvSpPr>
            <a:spLocks noGrp="1"/>
          </p:cNvSpPr>
          <p:nvPr/>
        </p:nvSpPr>
        <p:spPr>
          <a:xfrm>
            <a:off x="11643360" y="6446520"/>
            <a:ext cx="457200" cy="320040"/>
          </a:xfrm>
          <a:prstGeom prst="rect">
            <a:avLst/>
          </a:prstGeom>
          <a:solidFill>
            <a:srgbClr val="00000000"/>
          </a:solidFill>
          <a:effectLst/>
        </p:spPr>
        <p:txBody>
          <a:bodyPr anchor="ctr" wrap="square" vert="horz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1100" b="0" i="0" dirty="0">
                <a:solidFill>
                  <a:srgbClr val="B0BEC5"/>
                </a:solidFill>
                <a:latin typeface="Calibri"/>
              </a:rPr>
              <a:t>5</a:t>
            </a:r>
          </a:p>
        </p:txBody>
      </p:sp>
      <p:sp>
        <p:nvSpPr>
          <p:cNvPr id="7" name="Shape7"/>
          <p:cNvSpPr>
            <a:spLocks noGrp="1"/>
          </p:cNvSpPr>
          <p:nvPr/>
        </p:nvSpPr>
        <p:spPr>
          <a:xfrm>
            <a:off x="228600" y="73152"/>
            <a:ext cx="11734800" cy="658368"/>
          </a:xfrm>
          <a:prstGeom prst="rect">
            <a:avLst/>
          </a:prstGeom>
          <a:solidFill>
            <a:srgbClr val="00000000"/>
          </a:solidFill>
          <a:effectLst/>
        </p:spPr>
        <p:txBody>
          <a:bodyPr anchor="ctr" wrap="square" vert="horz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FFFFFF"/>
                </a:solidFill>
                <a:latin typeface="Calibri"/>
              </a:rPr>
              <a:t>🏗️  System Architecture</a:t>
            </a:r>
          </a:p>
        </p:txBody>
      </p:sp>
      <p:sp>
        <p:nvSpPr>
          <p:cNvPr id="10" name="Shape10"/>
          <p:cNvSpPr>
            <a:spLocks noGrp="1"/>
          </p:cNvSpPr>
          <p:nvPr/>
        </p:nvSpPr>
        <p:spPr>
          <a:xfrm>
            <a:off x="228600" y="960120"/>
            <a:ext cx="1920240" cy="1097280"/>
          </a:xfrm>
          <a:prstGeom prst="roundRect">
            <a:avLst>
              <a:gd name="adj" fmla="val 15000"/>
            </a:avLst>
          </a:prstGeom>
          <a:gradFill>
            <a:gsLst>
              <a:gs pos="0">
                <a:srgbClr val="0D1B2A"/>
              </a:gs>
              <a:gs pos="100000">
                <a:srgbClr val="060B18"/>
              </a:gs>
            </a:gsLst>
            <a:lin ang="5400000" scaled="0"/>
          </a:gradFill>
          <a:ln w="19050">
            <a:solidFill>
              <a:srgbClr val="00C6FF"/>
            </a:solidFill>
          </a:ln>
          <a:effectLst/>
        </p:spPr>
        <p:txBody>
          <a:bodyPr anchor="ctr" wrap="square" vert="horz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400" b="1" i="0" dirty="0">
                <a:solidFill>
                  <a:srgbClr val="00C6FF"/>
                </a:solidFill>
                <a:latin typeface="Calibri"/>
              </a:rPr>
              <a:t>RAW IoT TRAFFIC</a:t>
            </a:r>
          </a:p>
          <a:p>
            <a:pPr algn="ctr">
              <a:lnSpc>
                <a:spcPct val="100000"/>
              </a:lnSpc>
            </a:pPr>
            <a:r>
              <a:rPr lang="en-US" sz="1100" b="0" i="0" dirty="0">
                <a:solidFill>
                  <a:srgbClr val="B0BEC5"/>
                </a:solidFill>
                <a:latin typeface="Calibri"/>
              </a:rPr>
              <a:t>157,800 packets</a:t>
            </a:r>
          </a:p>
        </p:txBody>
      </p:sp>
      <p:sp>
        <p:nvSpPr>
          <p:cNvPr id="11" name="Shape11"/>
          <p:cNvSpPr>
            <a:spLocks noGrp="1"/>
          </p:cNvSpPr>
          <p:nvPr/>
        </p:nvSpPr>
        <p:spPr>
          <a:xfrm>
            <a:off x="228600" y="2377440"/>
            <a:ext cx="1920240" cy="1097280"/>
          </a:xfrm>
          <a:prstGeom prst="roundRect">
            <a:avLst>
              <a:gd name="adj" fmla="val 15000"/>
            </a:avLst>
          </a:prstGeom>
          <a:gradFill>
            <a:gsLst>
              <a:gs pos="0">
                <a:srgbClr val="0D1B2A"/>
              </a:gs>
              <a:gs pos="100000">
                <a:srgbClr val="060B18"/>
              </a:gs>
            </a:gsLst>
            <a:lin ang="5400000" scaled="0"/>
          </a:gradFill>
          <a:ln w="19050">
            <a:solidFill>
              <a:srgbClr val="7B2FBE"/>
            </a:solidFill>
          </a:ln>
          <a:effectLst/>
        </p:spPr>
        <p:txBody>
          <a:bodyPr anchor="ctr" wrap="square" vert="horz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400" b="1" i="0" dirty="0">
                <a:solidFill>
                  <a:srgbClr val="7B2FBE"/>
                </a:solidFill>
                <a:latin typeface="Calibri"/>
              </a:rPr>
              <a:t>PREPROCESSING</a:t>
            </a:r>
          </a:p>
          <a:p>
            <a:pPr algn="ctr">
              <a:lnSpc>
                <a:spcPct val="100000"/>
              </a:lnSpc>
            </a:pPr>
            <a:r>
              <a:rPr lang="en-US" sz="1100" b="0" i="0" dirty="0">
                <a:solidFill>
                  <a:srgbClr val="B0BEC5"/>
                </a:solidFill>
                <a:latin typeface="Calibri"/>
              </a:rPr>
              <a:t>Clean · Encode · Scale</a:t>
            </a:r>
          </a:p>
        </p:txBody>
      </p:sp>
      <p:sp>
        <p:nvSpPr>
          <p:cNvPr id="12" name="Shape12"/>
          <p:cNvSpPr>
            <a:spLocks noGrp="1"/>
          </p:cNvSpPr>
          <p:nvPr/>
        </p:nvSpPr>
        <p:spPr>
          <a:xfrm>
            <a:off x="2423160" y="1463040"/>
            <a:ext cx="2148840" cy="2468880"/>
          </a:xfrm>
          <a:prstGeom prst="roundRect">
            <a:avLst>
              <a:gd name="adj" fmla="val 15000"/>
            </a:avLst>
          </a:prstGeom>
          <a:gradFill>
            <a:gsLst>
              <a:gs pos="0">
                <a:srgbClr val="0D1B2A"/>
              </a:gs>
              <a:gs pos="100000">
                <a:srgbClr val="060B18"/>
              </a:gs>
            </a:gsLst>
            <a:lin ang="5400000" scaled="0"/>
          </a:gradFill>
          <a:ln w="19050">
            <a:solidFill>
              <a:srgbClr val="00E676"/>
            </a:solidFill>
          </a:ln>
          <a:effectLst/>
        </p:spPr>
        <p:txBody>
          <a:bodyPr anchor="ctr" wrap="square" vert="horz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400" b="1" i="0" dirty="0">
                <a:solidFill>
                  <a:srgbClr val="00E676"/>
                </a:solidFill>
                <a:latin typeface="Calibri"/>
              </a:rPr>
              <a:t>LightGBM</a:t>
            </a:r>
          </a:p>
          <a:p>
            <a:pPr algn="ctr">
              <a:lnSpc>
                <a:spcPct val="100000"/>
              </a:lnSpc>
            </a:pPr>
            <a:r>
              <a:rPr lang="en-US" sz="1100" b="0" i="0" dirty="0">
                <a:solidFill>
                  <a:srgbClr val="B0BEC5"/>
                </a:solidFill>
                <a:latin typeface="Calibri"/>
              </a:rPr>
              <a:t>Known Attack Classifier
10 classes · 99.99% acc</a:t>
            </a:r>
          </a:p>
        </p:txBody>
      </p:sp>
      <p:sp>
        <p:nvSpPr>
          <p:cNvPr id="13" name="Shape13"/>
          <p:cNvSpPr>
            <a:spLocks noGrp="1"/>
          </p:cNvSpPr>
          <p:nvPr/>
        </p:nvSpPr>
        <p:spPr>
          <a:xfrm>
            <a:off x="4846320" y="1463040"/>
            <a:ext cx="2148840" cy="2468880"/>
          </a:xfrm>
          <a:prstGeom prst="roundRect">
            <a:avLst>
              <a:gd name="adj" fmla="val 15000"/>
            </a:avLst>
          </a:prstGeom>
          <a:gradFill>
            <a:gsLst>
              <a:gs pos="0">
                <a:srgbClr val="0D1B2A"/>
              </a:gs>
              <a:gs pos="100000">
                <a:srgbClr val="060B18"/>
              </a:gs>
            </a:gsLst>
            <a:lin ang="5400000" scaled="0"/>
          </a:gradFill>
          <a:ln w="19050">
            <a:solidFill>
              <a:srgbClr val="7B2FBE"/>
            </a:solidFill>
          </a:ln>
          <a:effectLst/>
        </p:spPr>
        <p:txBody>
          <a:bodyPr anchor="ctr" wrap="square" vert="horz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400" b="1" i="0" dirty="0">
                <a:solidFill>
                  <a:srgbClr val="7B2FBE"/>
                </a:solidFill>
                <a:latin typeface="Calibri"/>
              </a:rPr>
              <a:t>Autoencoder</a:t>
            </a:r>
          </a:p>
          <a:p>
            <a:pPr algn="ctr">
              <a:lnSpc>
                <a:spcPct val="100000"/>
              </a:lnSpc>
            </a:pPr>
            <a:r>
              <a:rPr lang="en-US" sz="1100" b="0" i="0" dirty="0">
                <a:solidFill>
                  <a:srgbClr val="B0BEC5"/>
                </a:solidFill>
                <a:latin typeface="Calibri"/>
              </a:rPr>
              <a:t>Zero-Day Detector
Anomaly via recon error</a:t>
            </a:r>
          </a:p>
        </p:txBody>
      </p:sp>
      <p:sp>
        <p:nvSpPr>
          <p:cNvPr id="14" name="Shape14"/>
          <p:cNvSpPr>
            <a:spLocks noGrp="1"/>
          </p:cNvSpPr>
          <p:nvPr/>
        </p:nvSpPr>
        <p:spPr>
          <a:xfrm>
            <a:off x="7315200" y="1463040"/>
            <a:ext cx="1920240" cy="2468880"/>
          </a:xfrm>
          <a:prstGeom prst="roundRect">
            <a:avLst>
              <a:gd name="adj" fmla="val 15000"/>
            </a:avLst>
          </a:prstGeom>
          <a:gradFill>
            <a:gsLst>
              <a:gs pos="0">
                <a:srgbClr val="0D1B2A"/>
              </a:gs>
              <a:gs pos="100000">
                <a:srgbClr val="060B18"/>
              </a:gs>
            </a:gsLst>
            <a:lin ang="5400000" scaled="0"/>
          </a:gradFill>
          <a:ln w="19050">
            <a:solidFill>
              <a:srgbClr val="FF6B35"/>
            </a:solidFill>
          </a:ln>
          <a:effectLst/>
        </p:spPr>
        <p:txBody>
          <a:bodyPr anchor="ctr" wrap="square" vert="horz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400" b="1" i="0" dirty="0">
                <a:solidFill>
                  <a:srgbClr val="FF6B35"/>
                </a:solidFill>
                <a:latin typeface="Calibri"/>
              </a:rPr>
              <a:t>FUSION MODEL</a:t>
            </a:r>
          </a:p>
          <a:p>
            <a:pPr algn="ctr">
              <a:lnSpc>
                <a:spcPct val="100000"/>
              </a:lnSpc>
            </a:pPr>
            <a:r>
              <a:rPr lang="en-US" sz="1100" b="0" i="0" dirty="0">
                <a:solidFill>
                  <a:srgbClr val="B0BEC5"/>
                </a:solidFill>
                <a:latin typeface="Calibri"/>
              </a:rPr>
              <a:t>Confidence-based
decision routing</a:t>
            </a:r>
          </a:p>
        </p:txBody>
      </p:sp>
      <p:sp>
        <p:nvSpPr>
          <p:cNvPr id="15" name="Shape15"/>
          <p:cNvSpPr>
            <a:spLocks noGrp="1"/>
          </p:cNvSpPr>
          <p:nvPr/>
        </p:nvSpPr>
        <p:spPr>
          <a:xfrm>
            <a:off x="9418320" y="1783080"/>
            <a:ext cx="1508760" cy="1828800"/>
          </a:xfrm>
          <a:prstGeom prst="roundRect">
            <a:avLst>
              <a:gd name="adj" fmla="val 15000"/>
            </a:avLst>
          </a:prstGeom>
          <a:gradFill>
            <a:gsLst>
              <a:gs pos="0">
                <a:srgbClr val="0D1B2A"/>
              </a:gs>
              <a:gs pos="100000">
                <a:srgbClr val="060B18"/>
              </a:gs>
            </a:gsLst>
            <a:lin ang="5400000" scaled="0"/>
          </a:gradFill>
          <a:ln w="19050">
            <a:solidFill>
              <a:srgbClr val="00C6FF"/>
            </a:solidFill>
          </a:ln>
          <a:effectLst/>
        </p:spPr>
        <p:txBody>
          <a:bodyPr anchor="ctr" wrap="square" vert="horz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400" b="1" i="0" dirty="0">
                <a:solidFill>
                  <a:srgbClr val="00C6FF"/>
                </a:solidFill>
                <a:latin typeface="Calibri"/>
              </a:rPr>
              <a:t>OUTPUT</a:t>
            </a:r>
          </a:p>
          <a:p>
            <a:pPr algn="ctr">
              <a:lnSpc>
                <a:spcPct val="100000"/>
              </a:lnSpc>
            </a:pPr>
            <a:r>
              <a:rPr lang="en-US" sz="1100" b="0" i="0" dirty="0">
                <a:solidFill>
                  <a:srgbClr val="B0BEC5"/>
                </a:solidFill>
                <a:latin typeface="Calibri"/>
              </a:rPr>
              <a:t>Normal / Attack</a:t>
            </a:r>
          </a:p>
        </p:txBody>
      </p:sp>
      <p:sp>
        <p:nvSpPr>
          <p:cNvPr id="30" name="Line30"/>
          <p:cNvSpPr>
            <a:spLocks noGrp="1"/>
          </p:cNvSpPr>
          <p:nvPr/>
        </p:nvSpPr>
        <p:spPr>
          <a:xfrm flipH="0" flipV="0">
            <a:off x="1188720" y="2057400"/>
            <a:ext cx="0" cy="320040"/>
          </a:xfrm>
          <a:prstGeom prst="line">
            <a:avLst/>
          </a:prstGeom>
          <a:noFill/>
          <a:ln w="38100">
            <a:solidFill>
              <a:srgbClr val="00C6FF"/>
            </a:solidFill>
          </a:ln>
        </p:spPr>
        <p:txBody>
          <a:bodyPr/>
          <a:lstStyle/>
          <a:p/>
        </p:txBody>
      </p:sp>
      <p:sp>
        <p:nvSpPr>
          <p:cNvPr id="31" name="Line31"/>
          <p:cNvSpPr>
            <a:spLocks noGrp="1"/>
          </p:cNvSpPr>
          <p:nvPr/>
        </p:nvSpPr>
        <p:spPr>
          <a:xfrm flipH="0" flipV="1">
            <a:off x="2148840" y="2743200"/>
            <a:ext cx="274320" cy="182880"/>
          </a:xfrm>
          <a:prstGeom prst="line">
            <a:avLst/>
          </a:prstGeom>
          <a:noFill/>
          <a:ln w="28575">
            <a:solidFill>
              <a:srgbClr val="00C6FF"/>
            </a:solidFill>
          </a:ln>
        </p:spPr>
        <p:txBody>
          <a:bodyPr/>
          <a:lstStyle/>
          <a:p/>
        </p:txBody>
      </p:sp>
      <p:sp>
        <p:nvSpPr>
          <p:cNvPr id="32" name="Line32"/>
          <p:cNvSpPr>
            <a:spLocks noGrp="1"/>
          </p:cNvSpPr>
          <p:nvPr/>
        </p:nvSpPr>
        <p:spPr>
          <a:xfrm flipH="0" flipV="1">
            <a:off x="2148840" y="2743200"/>
            <a:ext cx="2697480" cy="182880"/>
          </a:xfrm>
          <a:prstGeom prst="line">
            <a:avLst/>
          </a:prstGeom>
          <a:noFill/>
          <a:ln w="28575">
            <a:solidFill>
              <a:srgbClr val="7B2FBE"/>
            </a:solidFill>
          </a:ln>
        </p:spPr>
        <p:txBody>
          <a:bodyPr/>
          <a:lstStyle/>
          <a:p/>
        </p:txBody>
      </p:sp>
      <p:sp>
        <p:nvSpPr>
          <p:cNvPr id="33" name="Line33"/>
          <p:cNvSpPr>
            <a:spLocks noGrp="1"/>
          </p:cNvSpPr>
          <p:nvPr/>
        </p:nvSpPr>
        <p:spPr>
          <a:xfrm flipH="0" flipV="0">
            <a:off x="4572000" y="2743200"/>
            <a:ext cx="2743200" cy="1"/>
          </a:xfrm>
          <a:prstGeom prst="line">
            <a:avLst/>
          </a:prstGeom>
          <a:noFill/>
          <a:ln w="28575">
            <a:solidFill>
              <a:srgbClr val="00E676"/>
            </a:solidFill>
          </a:ln>
        </p:spPr>
        <p:txBody>
          <a:bodyPr/>
          <a:lstStyle/>
          <a:p/>
        </p:txBody>
      </p:sp>
      <p:sp>
        <p:nvSpPr>
          <p:cNvPr id="34" name="Line34"/>
          <p:cNvSpPr>
            <a:spLocks noGrp="1"/>
          </p:cNvSpPr>
          <p:nvPr/>
        </p:nvSpPr>
        <p:spPr>
          <a:xfrm flipH="0" flipV="0">
            <a:off x="6995160" y="2743200"/>
            <a:ext cx="320040" cy="1"/>
          </a:xfrm>
          <a:prstGeom prst="line">
            <a:avLst/>
          </a:prstGeom>
          <a:noFill/>
          <a:ln w="28575">
            <a:solidFill>
              <a:srgbClr val="7B2FBE"/>
            </a:solidFill>
          </a:ln>
        </p:spPr>
        <p:txBody>
          <a:bodyPr/>
          <a:lstStyle/>
          <a:p/>
        </p:txBody>
      </p:sp>
      <p:sp>
        <p:nvSpPr>
          <p:cNvPr id="35" name="Line35"/>
          <p:cNvSpPr>
            <a:spLocks noGrp="1"/>
          </p:cNvSpPr>
          <p:nvPr/>
        </p:nvSpPr>
        <p:spPr>
          <a:xfrm flipH="0" flipV="0">
            <a:off x="9235440" y="2697480"/>
            <a:ext cx="182880" cy="1"/>
          </a:xfrm>
          <a:prstGeom prst="line">
            <a:avLst/>
          </a:prstGeom>
          <a:noFill/>
          <a:ln w="28575">
            <a:solidFill>
              <a:srgbClr val="FF6B35"/>
            </a:solidFill>
          </a:ln>
        </p:spPr>
        <p:txBody>
          <a:bodyPr/>
          <a:lstStyle/>
          <a:p/>
        </p:txBody>
      </p:sp>
      <p:sp>
        <p:nvSpPr>
          <p:cNvPr id="36" name="Shape36"/>
          <p:cNvSpPr>
            <a:spLocks noGrp="1"/>
          </p:cNvSpPr>
          <p:nvPr/>
        </p:nvSpPr>
        <p:spPr>
          <a:xfrm>
            <a:off x="228600" y="3749039"/>
            <a:ext cx="10652760" cy="1188720"/>
          </a:xfrm>
          <a:prstGeom prst="roundRect">
            <a:avLst>
              <a:gd name="adj" fmla="val 10000"/>
            </a:avLst>
          </a:prstGeom>
          <a:gradFill>
            <a:gsLst>
              <a:gs pos="0">
                <a:srgbClr val="1A0800"/>
              </a:gs>
              <a:gs pos="100000">
                <a:srgbClr val="0D1B2A"/>
              </a:gs>
            </a:gsLst>
            <a:lin ang="5400000" scaled="0"/>
          </a:gradFill>
          <a:ln w="19050">
            <a:solidFill>
              <a:srgbClr val="FF6B35"/>
            </a:solidFill>
          </a:ln>
          <a:effectLst/>
        </p:spPr>
        <p:txBody>
          <a:bodyPr anchor="ctr" wrap="square" vert="horz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400" b="1" i="0" dirty="0">
                <a:solidFill>
                  <a:srgbClr val="FF6B35"/>
                </a:solidFill>
                <a:latin typeface="Calibri"/>
              </a:rPr>
              <a:t>Fusion Logic: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FFFFFF"/>
                </a:solidFill>
                <a:latin typeface="Calibri"/>
              </a:rPr>
              <a:t>IF LightGBM confidence ≥ 90%  →  Trust LightGBM result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FFFFFF"/>
                </a:solidFill>
                <a:latin typeface="Calibri"/>
              </a:rPr>
              <a:t>ELSE  →  Use Autoencoder reconstruction error to decide</a:t>
            </a:r>
          </a:p>
        </p:txBody>
      </p:sp>
      <p:sp>
        <p:nvSpPr>
          <p:cNvPr id="37" name="Shape37"/>
          <p:cNvSpPr>
            <a:spLocks noGrp="1"/>
          </p:cNvSpPr>
          <p:nvPr/>
        </p:nvSpPr>
        <p:spPr>
          <a:xfrm>
            <a:off x="228600" y="5074920"/>
            <a:ext cx="10652760" cy="914400"/>
          </a:xfrm>
          <a:prstGeom prst="roundRect">
            <a:avLst>
              <a:gd name="adj" fmla="val 10000"/>
            </a:avLst>
          </a:prstGeom>
          <a:gradFill>
            <a:gsLst>
              <a:gs pos="0">
                <a:srgbClr val="0A001A"/>
              </a:gs>
              <a:gs pos="100000">
                <a:srgbClr val="060B18"/>
              </a:gs>
            </a:gsLst>
            <a:lin ang="5400000" scaled="0"/>
          </a:gradFill>
          <a:ln w="12700">
            <a:solidFill>
              <a:srgbClr val="7B2FBE"/>
            </a:solidFill>
          </a:ln>
          <a:effectLst/>
        </p:spPr>
        <p:txBody>
          <a:bodyPr anchor="ctr" wrap="square" vert="horz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sz="1300" b="0" i="0" dirty="0">
                <a:solidFill>
                  <a:srgbClr val="00C6FF"/>
                </a:solidFill>
                <a:latin typeface="Calibri"/>
              </a:rPr>
              <a:t>💡  Three-layer defence: Supervised (known) + Unsupervised (anomaly) + Fusion (intelligent routing)</a:t>
            </a:r>
          </a:p>
        </p:txBody>
      </p:sp>
    </p:spTree>
  </p:cSld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Shape2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60B18"/>
              </a:gs>
              <a:gs pos="100000">
                <a:srgbClr val="0D1B2A"/>
              </a:gs>
            </a:gsLst>
            <a:lin ang="5400000" scaled="0"/>
          </a:gradFill>
          <a:effectLst/>
        </p:spPr>
        <p:txBody>
          <a:bodyPr anchor="ctr" wrap="square" vert="horz">
            <a:normAutofit/>
          </a:bodyPr>
          <a:lstStyle/>
          <a:p>
            <a:endParaRPr lang="en-US" dirty="0"/>
          </a:p>
        </p:txBody>
      </p:sp>
      <p:sp>
        <p:nvSpPr>
          <p:cNvPr id="3" name="Shape3"/>
          <p:cNvSpPr>
            <a:spLocks noGrp="1"/>
          </p:cNvSpPr>
          <p:nvPr/>
        </p:nvSpPr>
        <p:spPr>
          <a:xfrm>
            <a:off x="0" y="0"/>
            <a:ext cx="12192000" cy="777240"/>
          </a:xfrm>
          <a:prstGeom prst="rect">
            <a:avLst/>
          </a:prstGeom>
          <a:gradFill>
            <a:gsLst>
              <a:gs pos="0">
                <a:srgbClr val="7B2FBE"/>
              </a:gs>
              <a:gs pos="100000">
                <a:srgbClr val="00C6FF"/>
              </a:gs>
            </a:gsLst>
            <a:lin ang="0" scaled="0"/>
          </a:gradFill>
          <a:effectLst/>
        </p:spPr>
        <p:txBody>
          <a:bodyPr anchor="ctr" wrap="square" vert="horz">
            <a:normAutofit/>
          </a:bodyPr>
          <a:lstStyle/>
          <a:p>
            <a:endParaRPr lang="en-US" dirty="0"/>
          </a:p>
        </p:txBody>
      </p:sp>
      <p:sp>
        <p:nvSpPr>
          <p:cNvPr id="4" name="Shape4"/>
          <p:cNvSpPr>
            <a:spLocks noGrp="1"/>
          </p:cNvSpPr>
          <p:nvPr/>
        </p:nvSpPr>
        <p:spPr>
          <a:xfrm>
            <a:off x="0" y="777240"/>
            <a:ext cx="54864" cy="6080760"/>
          </a:xfrm>
          <a:prstGeom prst="rect">
            <a:avLst/>
          </a:prstGeom>
          <a:solidFill>
            <a:srgbClr val="00C6FF"/>
          </a:solidFill>
          <a:effectLst/>
        </p:spPr>
        <p:txBody>
          <a:bodyPr anchor="ctr" wrap="square" vert="horz">
            <a:normAutofit/>
          </a:bodyPr>
          <a:lstStyle/>
          <a:p>
            <a:endParaRPr lang="en-US" dirty="0"/>
          </a:p>
        </p:txBody>
      </p:sp>
      <p:sp>
        <p:nvSpPr>
          <p:cNvPr id="5" name="Shape5"/>
          <p:cNvSpPr>
            <a:spLocks noGrp="1"/>
          </p:cNvSpPr>
          <p:nvPr/>
        </p:nvSpPr>
        <p:spPr>
          <a:xfrm>
            <a:off x="0" y="6784848"/>
            <a:ext cx="12192000" cy="73152"/>
          </a:xfrm>
          <a:prstGeom prst="rect">
            <a:avLst/>
          </a:prstGeom>
          <a:solidFill>
            <a:srgbClr val="7B2FBE"/>
          </a:solidFill>
          <a:effectLst/>
        </p:spPr>
        <p:txBody>
          <a:bodyPr anchor="ctr" wrap="square" vert="horz">
            <a:normAutofit/>
          </a:bodyPr>
          <a:lstStyle/>
          <a:p>
            <a:endParaRPr lang="en-US" dirty="0"/>
          </a:p>
        </p:txBody>
      </p:sp>
      <p:sp>
        <p:nvSpPr>
          <p:cNvPr id="6" name="Shape6"/>
          <p:cNvSpPr>
            <a:spLocks noGrp="1"/>
          </p:cNvSpPr>
          <p:nvPr/>
        </p:nvSpPr>
        <p:spPr>
          <a:xfrm>
            <a:off x="11643360" y="6446520"/>
            <a:ext cx="457200" cy="320040"/>
          </a:xfrm>
          <a:prstGeom prst="rect">
            <a:avLst/>
          </a:prstGeom>
          <a:solidFill>
            <a:srgbClr val="00000000"/>
          </a:solidFill>
          <a:effectLst/>
        </p:spPr>
        <p:txBody>
          <a:bodyPr anchor="ctr" wrap="square" vert="horz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1100" b="0" i="0" dirty="0">
                <a:solidFill>
                  <a:srgbClr val="B0BEC5"/>
                </a:solidFill>
                <a:latin typeface="Calibri"/>
              </a:rPr>
              <a:t>6</a:t>
            </a:r>
          </a:p>
        </p:txBody>
      </p:sp>
      <p:sp>
        <p:nvSpPr>
          <p:cNvPr id="7" name="Shape7"/>
          <p:cNvSpPr>
            <a:spLocks noGrp="1"/>
          </p:cNvSpPr>
          <p:nvPr/>
        </p:nvSpPr>
        <p:spPr>
          <a:xfrm>
            <a:off x="228600" y="73152"/>
            <a:ext cx="11734800" cy="658368"/>
          </a:xfrm>
          <a:prstGeom prst="rect">
            <a:avLst/>
          </a:prstGeom>
          <a:solidFill>
            <a:srgbClr val="00000000"/>
          </a:solidFill>
          <a:effectLst/>
        </p:spPr>
        <p:txBody>
          <a:bodyPr anchor="ctr" wrap="square" vert="horz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FFFFFF"/>
                </a:solidFill>
                <a:latin typeface="Calibri"/>
              </a:rPr>
              <a:t>🌲  LightGBM — Known Attack Classifier</a:t>
            </a:r>
          </a:p>
        </p:txBody>
      </p:sp>
      <p:sp>
        <p:nvSpPr>
          <p:cNvPr id="10" name="Shape10"/>
          <p:cNvSpPr>
            <a:spLocks noGrp="1"/>
          </p:cNvSpPr>
          <p:nvPr/>
        </p:nvSpPr>
        <p:spPr>
          <a:xfrm>
            <a:off x="274320" y="960120"/>
            <a:ext cx="5212080" cy="5029200"/>
          </a:xfrm>
          <a:prstGeom prst="roundRect">
            <a:avLst>
              <a:gd name="adj" fmla="val 10000"/>
            </a:avLst>
          </a:prstGeom>
          <a:gradFill>
            <a:gsLst>
              <a:gs pos="0">
                <a:srgbClr val="001A00"/>
              </a:gs>
              <a:gs pos="100000">
                <a:srgbClr val="0D1B2A"/>
              </a:gs>
            </a:gsLst>
            <a:lin ang="5400000" scaled="0"/>
          </a:gradFill>
          <a:ln w="19050">
            <a:solidFill>
              <a:srgbClr val="00E676"/>
            </a:solidFill>
          </a:ln>
          <a:effectLst/>
        </p:spPr>
        <p:txBody>
          <a:bodyPr anchor="t" wrap="square" vert="horz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600" b="1" i="0" dirty="0">
                <a:solidFill>
                  <a:srgbClr val="00E676"/>
                </a:solidFill>
                <a:latin typeface="Calibri"/>
              </a:rPr>
              <a:t>What is LightGBM?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FFFFFF"/>
                </a:solidFill>
                <a:latin typeface="Calibri"/>
              </a:rPr>
              <a:t>Gradient Boosted Decision Tree framework by Microsoft Research.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FFFFFF"/>
                </a:solidFill>
                <a:latin typeface="Calibri"/>
              </a:rPr>
              <a:t>Grows trees leaf-by-leaf (not level-by-level) for better accuracy.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FFFFFF"/>
                </a:solidFill>
                <a:latin typeface="Calibri"/>
              </a:rPr>
              <a:t>Uses histogram binning for blazing-fast training.</a:t>
            </a:r>
          </a:p>
          <a:p>
            <a:endParaRPr lang="en-US" dirty="0"/>
          </a:p>
          <a:p>
            <a:pPr algn="l">
              <a:lnSpc>
                <a:spcPct val="100000"/>
              </a:lnSpc>
            </a:pPr>
            <a:r>
              <a:rPr lang="en-US" sz="1500" b="1" i="0" dirty="0">
                <a:solidFill>
                  <a:srgbClr val="00E676"/>
                </a:solidFill>
                <a:latin typeface="Calibri"/>
              </a:rPr>
              <a:t>Why LightGBM for IoT IDS?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B0BEC5"/>
                </a:solidFill>
                <a:latin typeface="Calibri"/>
              </a:rPr>
              <a:t>✔  Handles 100k+ rows in seconds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B0BEC5"/>
                </a:solidFill>
                <a:latin typeface="Calibri"/>
              </a:rPr>
              <a:t>✔  Works well on imbalanced classes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B0BEC5"/>
                </a:solidFill>
                <a:latin typeface="Calibri"/>
              </a:rPr>
              <a:t>✔  Excellent feature importance output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B0BEC5"/>
                </a:solidFill>
                <a:latin typeface="Calibri"/>
              </a:rPr>
              <a:t>✔  Lightweight — ideal for edge deployment</a:t>
            </a:r>
          </a:p>
        </p:txBody>
      </p:sp>
      <p:sp>
        <p:nvSpPr>
          <p:cNvPr id="11" name="Shape11"/>
          <p:cNvSpPr>
            <a:spLocks noGrp="1"/>
          </p:cNvSpPr>
          <p:nvPr/>
        </p:nvSpPr>
        <p:spPr>
          <a:xfrm>
            <a:off x="5669280" y="960120"/>
            <a:ext cx="2377440" cy="5029200"/>
          </a:xfrm>
          <a:prstGeom prst="roundRect">
            <a:avLst>
              <a:gd name="adj" fmla="val 10000"/>
            </a:avLst>
          </a:prstGeom>
          <a:gradFill>
            <a:gsLst>
              <a:gs pos="0">
                <a:srgbClr val="0D1B2A"/>
              </a:gs>
              <a:gs pos="100000">
                <a:srgbClr val="060B18"/>
              </a:gs>
            </a:gsLst>
            <a:lin ang="5400000" scaled="0"/>
          </a:gradFill>
          <a:ln w="19050">
            <a:solidFill>
              <a:srgbClr val="00C6FF"/>
            </a:solidFill>
          </a:ln>
          <a:effectLst/>
        </p:spPr>
        <p:txBody>
          <a:bodyPr anchor="t" wrap="square" vert="horz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600" b="1" i="0" dirty="0">
                <a:solidFill>
                  <a:srgbClr val="00C6FF"/>
                </a:solidFill>
                <a:latin typeface="Calibri"/>
              </a:rPr>
              <a:t>Training Setup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FFFFFF"/>
                </a:solidFill>
                <a:latin typeface="Calibri"/>
              </a:rPr>
              <a:t>Training set:  96,770 samples (80%)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FFFFFF"/>
                </a:solidFill>
                <a:latin typeface="Calibri"/>
              </a:rPr>
              <a:t>Test set:      24,259 samples (20%)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FFFFFF"/>
                </a:solidFill>
                <a:latin typeface="Calibri"/>
              </a:rPr>
              <a:t>Features:      51 network packet features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FFFFFF"/>
                </a:solidFill>
                <a:latin typeface="Calibri"/>
              </a:rPr>
              <a:t>Classes:       10 (Normal + 9 attack types)</a:t>
            </a:r>
          </a:p>
          <a:p>
            <a:endParaRPr lang="en-US" dirty="0"/>
          </a:p>
          <a:p>
            <a:pPr algn="l">
              <a:lnSpc>
                <a:spcPct val="100000"/>
              </a:lnSpc>
            </a:pPr>
            <a:r>
              <a:rPr lang="en-US" sz="1400" b="1" i="0" dirty="0">
                <a:solidFill>
                  <a:srgbClr val="00C6FF"/>
                </a:solidFill>
                <a:latin typeface="Calibri"/>
              </a:rPr>
              <a:t>Top Features: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B0BEC5"/>
                </a:solidFill>
                <a:latin typeface="Calibri"/>
              </a:rPr>
              <a:t>tcp.srcport · tcp.options · tcp.dstport · tcp.ack</a:t>
            </a:r>
          </a:p>
        </p:txBody>
      </p:sp>
      <p:sp>
        <p:nvSpPr>
          <p:cNvPr id="12" name="Shape12"/>
          <p:cNvSpPr>
            <a:spLocks noGrp="1"/>
          </p:cNvSpPr>
          <p:nvPr/>
        </p:nvSpPr>
        <p:spPr>
          <a:xfrm>
            <a:off x="8229600" y="960120"/>
            <a:ext cx="2651760" cy="5029200"/>
          </a:xfrm>
          <a:prstGeom prst="roundRect">
            <a:avLst>
              <a:gd name="adj" fmla="val 10000"/>
            </a:avLst>
          </a:prstGeom>
          <a:gradFill>
            <a:gsLst>
              <a:gs pos="0">
                <a:srgbClr val="001A0D"/>
              </a:gs>
              <a:gs pos="100000">
                <a:srgbClr val="060B18"/>
              </a:gs>
            </a:gsLst>
            <a:lin ang="5400000" scaled="0"/>
          </a:gradFill>
          <a:ln w="19050">
            <a:solidFill>
              <a:srgbClr val="00E676"/>
            </a:solidFill>
          </a:ln>
          <a:effectLst/>
        </p:spPr>
        <p:txBody>
          <a:bodyPr anchor="t" wrap="square" vert="horz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600" b="1" i="0" dirty="0">
                <a:solidFill>
                  <a:srgbClr val="00E676"/>
                </a:solidFill>
                <a:latin typeface="Calibri"/>
              </a:rPr>
              <a:t>Results</a:t>
            </a:r>
          </a:p>
          <a:p>
            <a:pPr algn="l">
              <a:lnSpc>
                <a:spcPct val="100000"/>
              </a:lnSpc>
            </a:pPr>
            <a:r>
              <a:rPr lang="en-US" sz="1400" b="1" i="0" dirty="0">
                <a:solidFill>
                  <a:srgbClr val="00E676"/>
                </a:solidFill>
                <a:latin typeface="Calibri"/>
              </a:rPr>
              <a:t>Overall Accuracy:  99.99%</a:t>
            </a:r>
          </a:p>
          <a:p>
            <a:pPr algn="l">
              <a:lnSpc>
                <a:spcPct val="100000"/>
              </a:lnSpc>
            </a:pPr>
            <a:r>
              <a:rPr lang="en-US" sz="1300" b="0" i="0" dirty="0">
                <a:solidFill>
                  <a:srgbClr val="FFFFFF"/>
                </a:solidFill>
                <a:latin typeface="Calibri"/>
              </a:rPr>
              <a:t>Macro F1-Score:    99.99%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B0BEC5"/>
                </a:solidFill>
                <a:latin typeface="Calibri"/>
              </a:rPr>
              <a:t>Per-class F1 ≥ 99.97% on all 10 classes</a:t>
            </a:r>
          </a:p>
          <a:p>
            <a:endParaRPr lang="en-US" dirty="0"/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B0BEC5"/>
                </a:solidFill>
                <a:latin typeface="Calibri"/>
              </a:rPr>
              <a:t>Inference on 24,259 test samples:</a:t>
            </a:r>
          </a:p>
          <a:p>
            <a:pPr algn="l">
              <a:lnSpc>
                <a:spcPct val="100000"/>
              </a:lnSpc>
            </a:pPr>
            <a:r>
              <a:rPr lang="en-US" sz="1300" b="1" i="0" dirty="0">
                <a:solidFill>
                  <a:srgbClr val="00C6FF"/>
                </a:solidFill>
                <a:latin typeface="Calibri"/>
              </a:rPr>
              <a:t>Only ~3 misclassifications total</a:t>
            </a:r>
          </a:p>
        </p:txBody>
      </p:sp>
    </p:spTree>
  </p:cSld>
</p:sld>
</file>

<file path=ppt/slides/slide8.xml><?xml version="1.0" encoding="UTF-8" standalone="yes"?>
<p:sld xmlns:p="http://schemas.openxmlformats.org/presentationml/2006/main"
       xmlns:a="http://schemas.openxmlformats.org/drawingml/2006/main"
       xmlns:r="http://schemas.openxmlformats.org/officeDocument/2006/relationships">
  <p:cSld>
    <p:spTree>
      <p:nvGrpSpPr>
        <p:cNvPr id="1" name=""/>
        <p:cNvGrpSpPr/>
        <p:nvPr/>
      </p:nvGrpSpPr>
      <p:grpSpPr>
        <a:xfrm><a:off x="0" y="0"/><a:ext cx="12192000" cy="6858000"/>
        <a:chOff x="0" y="0"/><a:chExt cx="12192000" cy="6858000"/></a:xfrm>
      </p:grpSpPr>
      <p:sp>
  <p:nvSpPr>
    <p:cNvPr id="2" name="Shape2"/>
    <p:cNvSpPr><a:spLocks noGrp="1"/></p:cNvSpPr>
    <p:nvPr/>
  </p:nvSpPr>
  <p:spPr>
  <a:xfrm><a:off x="0" y="0"/><a:ext cx="12192000" cy="6858000"/></a:xfrm>
  <a:prstGeom prst="rect"><a:avLst/></a:prstGeom>
  <a:gradFill><a:gsLst>
      <a:gs pos="0"><a:srgbClr val="060B18"/></a:gs>
      <a:gs pos="100000"><a:srgbClr val="0D1B2A"/></a:gs>
    </a:gsLst><a:lin ang="5400000" scaled="0"/></a:gradFill>
  
  <a:effectLst/>
</p:spPr>
  <p:txBody>
  <a:bodyPr anchor="ctr" wrap="square" vert="horz">
    <a:normAutofit/>
  </a:bodyPr>
  <a:lstStyle/>
  <a:p><a:endParaRPr lang="en-US" dirty="0"/></a:p>
</p:txBody>
</p:sp>
<p:sp>
  <p:nvSpPr>
    <p:cNvPr id="3" name="Shape3"/>
    <p:cNvSpPr><a:spLocks noGrp="1"/></p:cNvSpPr>
    <p:nvPr/>
  </p:nvSpPr>
  <p:spPr>
  <a:xfrm><a:off x="0" y="0"/><a:ext cx="12192000" cy="777240"/></a:xfrm>
  <a:prstGeom prst="rect"><a:avLst/></a:prstGeom>
  <a:gradFill><a:gsLst>
      <a:gs pos="0"><a:srgbClr val="7B2FBE"/></a:gs>
      <a:gs pos="100000"><a:srgbClr val="00C6FF"/></a:gs>
    </a:gsLst><a:lin ang="0" scaled="0"/></a:gradFill>
  
  <a:effectLst/>
</p:spPr>
  <p:txBody>
  <a:bodyPr anchor="ctr" wrap="square" vert="horz">
    <a:normAutofit/>
  </a:bodyPr>
  <a:lstStyle/>
  <a:p><a:endParaRPr lang="en-US" dirty="0"/></a:p>
</p:txBody>
</p:sp>
<p:sp>
  <p:nvSpPr>
    <p:cNvPr id="4" name="Shape4"/>
    <p:cNvSpPr><a:spLocks noGrp="1"/></p:cNvSpPr>
    <p:nvPr/>
  </p:nvSpPr>
  <p:spPr>
  <a:xfrm><a:off x="0" y="777240"/><a:ext cx="54864" cy="6080760"/></a:xfrm>
  <a:prstGeom prst="rect"><a:avLst/></a:prstGeom>
  <a:solidFill><a:srgbClr val="00C6FF"/></a:solidFill>
  
  <a:effectLst/>
</p:spPr>
  <p:txBody>
  <a:bodyPr anchor="ctr" wrap="square" vert="horz">
    <a:normAutofit/>
  </a:bodyPr>
  <a:lstStyle/>
  <a:p><a:endParaRPr lang="en-US" dirty="0"/></a:p>
</p:txBody>
</p:sp>
<p:sp>
  <p:nvSpPr>
    <p:cNvPr id="5" name="Shape5"/>
    <p:cNvSpPr><a:spLocks noGrp="1"/></p:cNvSpPr>
    <p:nvPr/>
  </p:nvSpPr>
  <p:spPr>
  <a:xfrm><a:off x="0" y="6784848"/><a:ext cx="12192000" cy="73152"/></a:xfrm>
  <a:prstGeom prst="rect"><a:avLst/></a:prstGeom>
  <a:solidFill><a:srgbClr val="7B2FBE"/></a:solidFill>
  
  <a:effectLst/>
</p:spPr>
  <p:txBody>
  <a:bodyPr anchor="ctr" wrap="square" vert="horz">
    <a:normAutofit/>
  </a:bodyPr>
  <a:lstStyle/>
  <a:p><a:endParaRPr lang="en-US" dirty="0"/></a:p>
</p:txBody>
</p:sp>
<p:sp>
  <p:nvSpPr>
    <p:cNvPr id="6" name="Shape6"/>
    <p:cNvSpPr><a:spLocks noGrp="1"/></p:cNvSpPr>
    <p:nvPr/>
  </p:nvSpPr>
  <p:spPr>
  <a:xfrm><a:off x="11643360" y="6446520"/><a:ext cx="457200" cy="320040"/></a:xfrm>
  <a:prstGeom prst="rect"><a:avLst/></a:prstGeom>
  <a:solidFill><a:srgbClr val="00000000"/></a:solidFill>
  
  <a:effectLst/>
</p:spPr>
  <p:txBody>
  <a:bodyPr anchor="ctr" wrap="square" vert="horz">
    <a:normAutofit/>
  </a:bodyPr>
  <a:lstStyle/>
  <a:p>
  <a:pPr algn="r"><a:lnSpc><a:spcPct val="100000"/></a:lnSpc></a:pPr>
  <a:r><a:rPr lang="en-US" sz="1100" b="0" i="0" dirty="0">
    <a:solidFill><a:srgbClr val="B0BEC5"/></a:solidFill>
    <a:latin typeface="Calibri"/>
  </a:rPr><a:t>7</a:t></a:r>
</a:p>
</p:txBody>
</p:sp>
<p:sp>
  <p:nvSpPr>
    <p:cNvPr id="7" name="Shape7"/>
    <p:cNvSpPr><a:spLocks noGrp="1"/></p:cNvSpPr>
    <p:nvPr/>
  </p:nvSpPr>
  <p:spPr>
  <a:xfrm><a:off x="228600" y="73152"/><a:ext cx="11734800" cy="658368"/></a:xfrm>
  <a:prstGeom prst="rect"><a:avLst/></a:prstGeom>
  <a:solidFill><a:srgbClr val="00000000"/></a:solidFill>
  
  <a:effectLst/>
</p:spPr>
  <p:txBody>
  <a:bodyPr anchor="ctr" wrap="square" vert="horz">
    <a:normAutofit/>
  </a:bodyPr>
  <a:lstStyle/>
  <a:p>
  <a:pPr algn="l"><a:lnSpc><a:spcPct val="100000"/></a:lnSpc></a:pPr>
  <a:r><a:rPr lang="en-US" sz="2400" b="1" i="0" dirty="0">
    <a:solidFill><a:srgbClr val="FFFFFF"/></a:solidFill>
    <a:latin typeface="Calibri"/>
  </a:rPr><a:t>🧠  Autoencoder — Zero-Day Anomaly Detector</a:t></a:r>
</a:p>
</p:txBody>
</p:sp>
<p:sp>
  <p:nvSpPr>
    <p:cNvPr id="10" name="Shape10"/>
    <p:cNvSpPr><a:spLocks noGrp="1"/></p:cNvSpPr>
    <p:nvPr/>
  </p:nvSpPr>
  <p:spPr>
  <a:xfrm><a:off x="274320" y="960120"/><a:ext cx="3474720" cy="5029200"/></a:xfrm>
  <a:prstGeom prst="roundRect"><a:avLst><a:gd name="adj" fmla="val 10000"/></a:avLst></a:prstGeom>
  <a:gradFill><a:gsLst>
      <a:gs pos="0"><a:srgbClr val="07001A"/></a:gs>
      <a:gs pos="100000"><a:srgbClr val="0D1B2A"/></a:gs>
    </a:gsLst><a:lin ang="5400000" scaled="0"/></a:gradFill>
  <a:ln w="19050"><a:solidFill><a:srgbClr val="7B2FBE"/></a:solidFill></a:ln>
  <a:effectLst/>
</p:spPr>
  <p:txBody>
  <a:bodyPr anchor="t" wrap="square" vert="horz">
    <a:normAutofit/>
  </a:bodyPr>
  <a:lstStyle/>
  <a:p>
  <a:pPr algn="l"><a:lnSpc><a:spcPct val="100000"/></a:lnSpc></a:pPr>
  <a:r><a:rPr lang="en-US" sz="1600" b="1" i="0" dirty="0">
    <a:solidFill><a:srgbClr val="7B2FBE"/></a:solidFill>
    <a:latin typeface="Calibri"/>
  </a:rPr><a:t>Architecture  (Symmetric)</a:t></a:r>
</a:p><a:p>
  <a:pPr algn="l"><a:lnSpc><a:spcPct val="100000"/></a:lnSpc></a:pPr>
  <a:r><a:rPr lang="en-US" sz="1200" b="0" i="0" dirty="0">
    <a:solidFill><a:srgbClr val="FFFFFF"/></a:solidFill>
    <a:latin typeface="Calibri"/>
  </a:rPr><a:t>Input  →  53 features</a:t></a:r>
</a:p><a:p>
  <a:pPr algn="l"><a:lnSpc><a:spcPct val="100000"/></a:lnSpc></a:pPr>
  <a:r><a:rPr lang="en-US" sz="1200" b="0" i="0" dirty="0">
    <a:solidFill><a:srgbClr val="00C6FF"/></a:solidFill>
    <a:latin typeface="Calibri"/>
  </a:rPr><a:t>Encoder: 53 → 32 → 16 (ReLU)</a:t></a:r>
</a:p><a:p>
  <a:pPr algn="l"><a:lnSpc><a:spcPct val="100000"/></a:lnSpc></a:pPr>
  <a:r><a:rPr lang="en-US" sz="1300" b="1" i="0" dirty="0">
    <a:solidFill><a:srgbClr val="7B2FBE"/></a:solidFill>
    <a:latin typeface="Calibri"/>
  </a:rPr><a:t>Bottleneck: 8 neurons</a:t></a:r>
</a:p><a:p>
  <a:pPr algn="l"><a:lnSpc><a:spcPct val="100000"/></a:lnSpc></a:pPr>
  <a:r><a:rPr lang="en-US" sz="1200" b="0" i="0" dirty="0">
    <a:solidFill><a:srgbClr val="00C6FF"/></a:solidFill>
    <a:latin typeface="Calibri"/>
  </a:rPr><a:t>Decoder: 8 → 16 → 32 → 53 (Sigmoid)</a:t></a:r>
</a:p><a:p><a:endParaRPr lang="en-US" dirty="0"/></a:p><a:p>
  <a:pPr algn="l"><a:lnSpc><a:spcPct val="100000"/></a:lnSpc></a:pPr>
  <a:r><a:rPr lang="en-US" sz="1300" b="1" i="0" dirty="0">
    <a:solidFill><a:srgbClr val="00E676"/></a:solidFill>
    <a:latin typeface="Calibri"/>
  </a:rPr><a:t>Total Parameters:  11,907  (lightweight!)</a:t></a:r>
</a:p><a:p>
  <a:pPr algn="l"><a:lnSpc><a:spcPct val="100000"/></a:lnSpc></a:pPr>
  <a:r><a:rPr lang="en-US" sz="1200" b="0" i="0" dirty="0">
    <a:solidFill><a:srgbClr val="B0BEC5"/></a:solidFill>
    <a:latin typeface="Calibri"/>
  </a:rPr><a:t>Optimizer: Adam  |  Loss: MSE</a:t></a:r>
</a:p><a:p>
  <a:pPr algn="l"><a:lnSpc><a:spcPct val="100000"/></a:lnSpc></a:pPr>
  <a:r><a:rPr lang="en-US" sz="1200" b="0" i="0" dirty="0">
    <a:solidFill><a:srgbClr val="B0BEC5"/></a:solidFill>
    <a:latin typeface="Calibri"/>
  </a:rPr><a:t>Epochs: 20  |  Batch: 256</a:t></a:r>
</a:p>
</p:txBody>
</p:sp><p:sp>
  <p:nvSpPr>
    <p:cNvPr id="11" name="Shape11"/>
    <p:cNvSpPr><a:spLocks noGrp="1"/></p:cNvSpPr>
    <p:nvPr/>
  </p:nvSpPr>
  <p:spPr>
  <a:xfrm><a:off x="3931920" y="960120"/><a:ext cx="3931920" cy="5029200"/></a:xfrm>
  <a:prstGeom prst="roundRect"><a:avLst><a:gd name="adj" fmla="val 10000"/></a:avLst></a:prstGeom>
  <a:gradFill><a:gsLst>
      <a:gs pos="0"><a:srgbClr val="0D1B2A"/></a:gs>
      <a:gs pos="100000"><a:srgbClr val="060B18"/></a:gs>
    </a:gsLst><a:lin ang="5400000" scaled="0"/></a:gradFill>
  <a:ln w="19050"><a:solidFill><a:srgbClr val="00C6FF"/></a:solidFill></a:ln>
  <a:effectLst/>
</p:spPr>
  <p:txBody>
  <a:bodyPr anchor="t" wrap="square" vert="horz">
    <a:normAutofit/>
  </a:bodyPr>
  <a:lstStyle/>
  <a:p>
  <a:pPr algn="l"><a:lnSpc><a:spcPct val="100000"/></a:lnSpc></a:pPr>
  <a:r><a:rPr lang="en-US" sz="1600" b="1" i="0" dirty="0">
    <a:solidFill><a:srgbClr val="7B2FBE"/></a:solidFill>
    <a:latin typeface="Calibri"/>
  </a:rPr><a:t>How it Works</a:t></a:r>
</a:p><a:p>
  <a:pPr algn="l"><a:lnSpc><a:spcPct val="100000"/></a:lnSpc></a:pPr>
  <a:r><a:rPr lang="en-US" sz="1200" b="0" i="0" dirty="0">
    <a:solidFill><a:srgbClr val="FFFFFF"/></a:solidFill>
    <a:latin typeface="Calibri"/>
  </a:rPr><a:t>1. Train ONLY on normal traffic (24,152 rows)</a:t></a:r>
</a:p><a:p>
  <a:pPr algn="l"><a:lnSpc><a:spcPct val="100000"/></a:lnSpc></a:pPr>
  <a:r><a:rPr lang="en-US" sz="1200" b="0" i="0" dirty="0">
    <a:solidFill><a:srgbClr val="FFFFFF"/></a:solidFill>
    <a:latin typeface="Calibri"/>
  </a:rPr><a:t>2. Learn to compress & reconstruct 'normal'</a:t></a:r>
</a:p><a:p>
  <a:pPr algn="l"><a:lnSpc><a:spcPct val="100000"/></a:lnSpc></a:pPr>
  <a:r><a:rPr lang="en-US" sz="1200" b="0" i="0" dirty="0">
    <a:solidFill><a:srgbClr val="FFFFFF"/></a:solidFill>
    <a:latin typeface="Calibri"/>
  </a:rPr><a:t>3. At inference, compute reconstruction error:</a:t></a:r>
</a:p><a:p>
  <a:pPr algn="l"><a:lnSpc><a:spcPct val="100000"/></a:lnSpc></a:pPr>
  <a:r><a:rPr lang="en-US" sz="1300" b="1" i="0" dirty="0">
    <a:solidFill><a:srgbClr val="00C6FF"/></a:solidFill>
    <a:latin typeface="Calibri"/>
  </a:rPr><a:t>   error = mean( (input − output)² )</a:t></a:r>
</a:p><a:p><a:endParaRPr lang="en-US" dirty="0"/></a:p><a:p>
  <a:pPr algn="l"><a:lnSpc><a:spcPct val="100000"/></a:lnSpc></a:pPr>
  <a:r><a:rPr lang="en-US" sz="1500" b="1" i="0" dirty="0">
    <a:solidFill><a:srgbClr val="FFD600"/></a:solidFill>
    <a:latin typeface="Calibri"/>
  </a:rPr><a:t>Threshold = 0.0122</a:t></a:r>
</a:p><a:p>
  <a:pPr algn="l"><a:lnSpc><a:spcPct val="100000"/></a:lnSpc></a:pPr>
  <a:r><a:rPr lang="en-US" sz="1300" b="0" i="0" dirty="0">
    <a:solidFill><a:srgbClr val="FF6B35"/></a:solidFill>
    <a:latin typeface="Calibri"/>
  </a:rPr><a:t>error > threshold  →  ANOMALY (attack!)</a:t></a:r>
</a:p><a:p>
  <a:pPr algn="l"><a:lnSpc><a:spcPct val="100000"/></a:lnSpc></a:pPr>
  <a:r><a:rPr lang="en-US" sz="1300" b="0" i="0" dirty="0">
    <a:solidFill><a:srgbClr val="00E676"/></a:solidFill>
    <a:latin typeface="Calibri"/>
  </a:rPr><a:t>error ≤ threshold  →  NORMAL traffic</a:t></a:r>
</a:p>
</p:txBody>
</p:sp><p:sp>
  <p:nvSpPr>
    <p:cNvPr id="12" name="Shape12"/>
    <p:cNvSpPr><a:spLocks noGrp="1"/></p:cNvSpPr>
    <p:nvPr/>
  </p:nvSpPr>
  <p:spPr>
  <a:xfrm><a:off x="8046720" y="960120"/><a:ext cx="2834640" cy="5029200"/></a:xfrm>
  <a:prstGeom prst="roundRect"><a:avLst><a:gd name="adj" fmla="val 10000"/></a:avLst></a:prstGeom>
  <a:gradFill><a:gsLst>
      <a:gs pos="0"><a:srgbClr val="001A0D"/></a:gs>
      <a:gs pos="100000"><a:srgbClr val="060B18"/></a:gs>
    </a:gsLst><a:lin ang="5400000" scaled="0"/></a:gradFill>
  <a:ln w="19050"><a:solidFill><a:srgbClr val="00E676"/></a:solidFill></a:ln>
  <a:effectLst/>
</p:spPr>
  <p:txBody>
  <a:bodyPr anchor="t" wrap="square" vert="horz">
    <a:normAutofit/>
  </a:bodyPr>
  <a:lstStyle/>
  <a:p>
  <a:pPr algn="l"><a:lnSpc><a:spcPct val="100000"/></a:lnSpc></a:pPr>
  <a:r><a:rPr lang="en-US" sz="1600" b="1" i="0" dirty="0">
    <a:solidFill><a:srgbClr val="00E676"/></a:solidFill>
    <a:latin typeface="Calibri"/>
  </a:rPr><a:t>Results</a:t></a:r>
</a:p><a:p>
  <a:pPr algn="l"><a:lnSpc><a:spcPct val="100000"/></a:lnSpc></a:pPr>
  <a:r><a:rPr lang="en-US" sz="1400" b="1" i="0" dirty="0">
    <a:solidFill><a:srgbClr val="00E676"/></a:solidFill>
    <a:latin typeface="Calibri"/>
  </a:rPr><a:t>Overall Accuracy:  99.19%</a:t></a:r>
</a:p><a:p>
  <a:pPr algn="l"><a:lnSpc><a:spcPct val="100000"/></a:lnSpc></a:pPr>
  <a:r><a:rPr lang="en-US" sz="1200" b="0" i="0" dirty="0">
    <a:solidFill><a:srgbClr val="B0BEC5"/></a:solidFill>
    <a:latin typeface="Calibri"/>
  </a:rPr><a:t>Tested on full 152,389-row dataset</a:t></a:r>
</a:p><a:p><a:endParaRPr lang="en-US" dirty="0"/></a:p><a:p>
  <a:pPr algn="l"><a:lnSpc><a:spcPct val="100000"/></a:lnSpc></a:pPr>
  <a:r><a:rPr lang="en-US" sz="1200" b="0" i="0" dirty="0">
    <a:solidFill><a:srgbClr val="FFFFFF"/></a:solidFill>
    <a:latin typeface="Calibri"/>
  </a:rPr><a:t>Normal Precision:   100%</a:t></a:r>
</a:p><a:p>
  <a:pPr algn="l"><a:lnSpc><a:spcPct val="100000"/></a:lnSpc></a:pPr>
  <a:r><a:rPr lang="en-US" sz="1200" b="0" i="0" dirty="0">
    <a:solidFill><a:srgbClr val="FFFFFF"/></a:solidFill>
    <a:latin typeface="Calibri"/>
  </a:rPr><a:t>Attack Recall:      100%</a:t></a:r>
</a:p><a:p>
  <a:pPr algn="l"><a:lnSpc><a:spcPct val="100000"/></a:lnSpc></a:pPr>
  <a:r><a:rPr lang="en-US" sz="1200" b="0" i="0" dirty="0">
    <a:solidFill><a:srgbClr val="FFFFFF"/></a:solidFill>
    <a:latin typeface="Calibri"/>
  </a:rPr><a:t>Attack F1:           99.52%</a:t></a:r>
</a:p><a:p><a:endParaRPr lang="en-US" dirty="0"/></a:p><a:p>
  <a:pPr algn="l"><a:lnSpc><a:spcPct val="100000"/></a:lnSpc></a:pPr>
  <a:r><a:rPr lang="en-US" sz="1300" b="1" i="0" dirty="0">
    <a:solidFill><a:srgbClr val="7B2FBE"/></a:solidFill>
    <a:latin typeface="Calibri"/>
  </a:rPr><a:t>Detects ALL 5 zero-day attack types</a:t></a:r>
</a:p><a:p>
  <a:pPr algn="l"><a:lnSpc><a:spcPct val="100000"/></a:lnSpc></a:pPr>
  <a:r><a:rPr lang="en-US" sz="1200" b="0" i="0" dirty="0">
    <a:solidFill><a:srgbClr val="B0BEC5"/></a:solidFill>
    <a:latin typeface="Calibri"/>
  </a:rPr><a:t>without ever seeing them in training!</a:t></a:r>
</a:p>
</p:txBody>
</p:sp>
    </p:spTree>
  </p:cSld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Shape2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60B18"/>
              </a:gs>
              <a:gs pos="100000">
                <a:srgbClr val="0D1B2A"/>
              </a:gs>
            </a:gsLst>
            <a:lin ang="5400000" scaled="0"/>
          </a:gradFill>
          <a:effectLst/>
        </p:spPr>
        <p:txBody>
          <a:bodyPr anchor="ctr" wrap="square" vert="horz">
            <a:normAutofit/>
          </a:bodyPr>
          <a:lstStyle/>
          <a:p>
            <a:endParaRPr lang="en-US" dirty="0"/>
          </a:p>
        </p:txBody>
      </p:sp>
      <p:sp>
        <p:nvSpPr>
          <p:cNvPr id="3" name="Shape3"/>
          <p:cNvSpPr>
            <a:spLocks noGrp="1"/>
          </p:cNvSpPr>
          <p:nvPr/>
        </p:nvSpPr>
        <p:spPr>
          <a:xfrm>
            <a:off x="0" y="0"/>
            <a:ext cx="12192000" cy="777240"/>
          </a:xfrm>
          <a:prstGeom prst="rect">
            <a:avLst/>
          </a:prstGeom>
          <a:gradFill>
            <a:gsLst>
              <a:gs pos="0">
                <a:srgbClr val="7B2FBE"/>
              </a:gs>
              <a:gs pos="100000">
                <a:srgbClr val="00C6FF"/>
              </a:gs>
            </a:gsLst>
            <a:lin ang="0" scaled="0"/>
          </a:gradFill>
          <a:effectLst/>
        </p:spPr>
        <p:txBody>
          <a:bodyPr anchor="ctr" wrap="square" vert="horz">
            <a:normAutofit/>
          </a:bodyPr>
          <a:lstStyle/>
          <a:p>
            <a:endParaRPr lang="en-US" dirty="0"/>
          </a:p>
        </p:txBody>
      </p:sp>
      <p:sp>
        <p:nvSpPr>
          <p:cNvPr id="4" name="Shape4"/>
          <p:cNvSpPr>
            <a:spLocks noGrp="1"/>
          </p:cNvSpPr>
          <p:nvPr/>
        </p:nvSpPr>
        <p:spPr>
          <a:xfrm>
            <a:off x="0" y="777240"/>
            <a:ext cx="54864" cy="6080760"/>
          </a:xfrm>
          <a:prstGeom prst="rect">
            <a:avLst/>
          </a:prstGeom>
          <a:solidFill>
            <a:srgbClr val="00C6FF"/>
          </a:solidFill>
          <a:effectLst/>
        </p:spPr>
        <p:txBody>
          <a:bodyPr anchor="ctr" wrap="square" vert="horz">
            <a:normAutofit/>
          </a:bodyPr>
          <a:lstStyle/>
          <a:p>
            <a:endParaRPr lang="en-US" dirty="0"/>
          </a:p>
        </p:txBody>
      </p:sp>
      <p:sp>
        <p:nvSpPr>
          <p:cNvPr id="5" name="Shape5"/>
          <p:cNvSpPr>
            <a:spLocks noGrp="1"/>
          </p:cNvSpPr>
          <p:nvPr/>
        </p:nvSpPr>
        <p:spPr>
          <a:xfrm>
            <a:off x="0" y="6784848"/>
            <a:ext cx="12192000" cy="73152"/>
          </a:xfrm>
          <a:prstGeom prst="rect">
            <a:avLst/>
          </a:prstGeom>
          <a:solidFill>
            <a:srgbClr val="7B2FBE"/>
          </a:solidFill>
          <a:effectLst/>
        </p:spPr>
        <p:txBody>
          <a:bodyPr anchor="ctr" wrap="square" vert="horz">
            <a:normAutofit/>
          </a:bodyPr>
          <a:lstStyle/>
          <a:p>
            <a:endParaRPr lang="en-US" dirty="0"/>
          </a:p>
        </p:txBody>
      </p:sp>
      <p:sp>
        <p:nvSpPr>
          <p:cNvPr id="6" name="Shape6"/>
          <p:cNvSpPr>
            <a:spLocks noGrp="1"/>
          </p:cNvSpPr>
          <p:nvPr/>
        </p:nvSpPr>
        <p:spPr>
          <a:xfrm>
            <a:off x="11643360" y="6446520"/>
            <a:ext cx="457200" cy="320040"/>
          </a:xfrm>
          <a:prstGeom prst="rect">
            <a:avLst/>
          </a:prstGeom>
          <a:solidFill>
            <a:srgbClr val="00000000"/>
          </a:solidFill>
          <a:effectLst/>
        </p:spPr>
        <p:txBody>
          <a:bodyPr anchor="ctr" wrap="square" vert="horz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1100" b="0" i="0" dirty="0">
                <a:solidFill>
                  <a:srgbClr val="B0BEC5"/>
                </a:solidFill>
                <a:latin typeface="Calibri"/>
              </a:rPr>
              <a:t>8</a:t>
            </a:r>
          </a:p>
        </p:txBody>
      </p:sp>
      <p:sp>
        <p:nvSpPr>
          <p:cNvPr id="7" name="Shape7"/>
          <p:cNvSpPr>
            <a:spLocks noGrp="1"/>
          </p:cNvSpPr>
          <p:nvPr/>
        </p:nvSpPr>
        <p:spPr>
          <a:xfrm>
            <a:off x="228600" y="73152"/>
            <a:ext cx="11734800" cy="658368"/>
          </a:xfrm>
          <a:prstGeom prst="rect">
            <a:avLst/>
          </a:prstGeom>
          <a:solidFill>
            <a:srgbClr val="00000000"/>
          </a:solidFill>
          <a:effectLst/>
        </p:spPr>
        <p:txBody>
          <a:bodyPr anchor="ctr" wrap="square" vert="horz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FFFFFF"/>
                </a:solidFill>
                <a:latin typeface="Calibri"/>
              </a:rPr>
              <a:t>⚡  Fusion Model — Intelligent Decision Routing</a:t>
            </a:r>
          </a:p>
        </p:txBody>
      </p:sp>
      <p:sp>
        <p:nvSpPr>
          <p:cNvPr id="10" name="Shape10"/>
          <p:cNvSpPr>
            <a:spLocks noGrp="1"/>
          </p:cNvSpPr>
          <p:nvPr/>
        </p:nvSpPr>
        <p:spPr>
          <a:xfrm>
            <a:off x="274320" y="960120"/>
            <a:ext cx="4114800" cy="5029200"/>
          </a:xfrm>
          <a:prstGeom prst="roundRect">
            <a:avLst>
              <a:gd name="adj" fmla="val 10000"/>
            </a:avLst>
          </a:prstGeom>
          <a:gradFill>
            <a:gsLst>
              <a:gs pos="0">
                <a:srgbClr val="1A0800"/>
              </a:gs>
              <a:gs pos="100000">
                <a:srgbClr val="0D1B2A"/>
              </a:gs>
            </a:gsLst>
            <a:lin ang="5400000" scaled="0"/>
          </a:gradFill>
          <a:ln w="19050">
            <a:solidFill>
              <a:srgbClr val="FF6B35"/>
            </a:solidFill>
          </a:ln>
          <a:effectLst/>
        </p:spPr>
        <p:txBody>
          <a:bodyPr anchor="t" wrap="square" vert="horz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700" b="1" i="0" dirty="0">
                <a:solidFill>
                  <a:srgbClr val="FF6B35"/>
                </a:solidFill>
                <a:latin typeface="Calibri"/>
              </a:rPr>
              <a:t>Fusion Logic</a:t>
            </a:r>
          </a:p>
          <a:p>
            <a:endParaRPr lang="en-US" dirty="0"/>
          </a:p>
          <a:p>
            <a:pPr algn="l">
              <a:lnSpc>
                <a:spcPct val="100000"/>
              </a:lnSpc>
            </a:pPr>
            <a:r>
              <a:rPr lang="en-US" sz="1300" b="0" i="0" dirty="0">
                <a:solidFill>
                  <a:srgbClr val="FFFFFF"/>
                </a:solidFill>
                <a:latin typeface="Calibri"/>
              </a:rPr>
              <a:t>Step 1: Run LightGBM on input sample</a:t>
            </a:r>
          </a:p>
          <a:p>
            <a:pPr algn="l">
              <a:lnSpc>
                <a:spcPct val="100000"/>
              </a:lnSpc>
            </a:pPr>
            <a:r>
              <a:rPr lang="en-US" sz="1300" b="0" i="0" dirty="0">
                <a:solidFill>
                  <a:srgbClr val="FFFFFF"/>
                </a:solidFill>
                <a:latin typeface="Calibri"/>
              </a:rPr>
              <a:t>Step 2: Get max class probability (confidence)</a:t>
            </a:r>
          </a:p>
          <a:p>
            <a:endParaRPr lang="en-US" dirty="0"/>
          </a:p>
          <a:p>
            <a:pPr algn="l">
              <a:lnSpc>
                <a:spcPct val="100000"/>
              </a:lnSpc>
            </a:pPr>
            <a:r>
              <a:rPr lang="en-US" sz="1400" b="1" i="0" dirty="0">
                <a:solidFill>
                  <a:srgbClr val="00E676"/>
                </a:solidFill>
                <a:latin typeface="Calibri"/>
              </a:rPr>
              <a:t>IF  confidence ≥ 0.90</a:t>
            </a:r>
          </a:p>
          <a:p>
            <a:pPr algn="l">
              <a:lnSpc>
                <a:spcPct val="100000"/>
              </a:lnSpc>
            </a:pPr>
            <a:r>
              <a:rPr lang="en-US" sz="1300" b="0" i="0" dirty="0">
                <a:solidFill>
                  <a:srgbClr val="B0BEC5"/>
                </a:solidFill>
                <a:latin typeface="Calibri"/>
              </a:rPr>
              <a:t>  → Accept LightGBM label (known attack name)</a:t>
            </a:r>
          </a:p>
          <a:p>
            <a:endParaRPr lang="en-US" dirty="0"/>
          </a:p>
          <a:p>
            <a:pPr algn="l">
              <a:lnSpc>
                <a:spcPct val="100000"/>
              </a:lnSpc>
            </a:pPr>
            <a:r>
              <a:rPr lang="en-US" sz="1400" b="1" i="0" dirty="0">
                <a:solidFill>
                  <a:srgbClr val="FF6B35"/>
                </a:solidFill>
                <a:latin typeface="Calibri"/>
              </a:rPr>
              <a:t>ELSE  (LightGBM unsure)</a:t>
            </a:r>
          </a:p>
          <a:p>
            <a:pPr algn="l">
              <a:lnSpc>
                <a:spcPct val="100000"/>
              </a:lnSpc>
            </a:pPr>
            <a:r>
              <a:rPr lang="en-US" sz="1300" b="0" i="0" dirty="0">
                <a:solidFill>
                  <a:srgbClr val="B0BEC5"/>
                </a:solidFill>
                <a:latin typeface="Calibri"/>
              </a:rPr>
              <a:t>  → Compute Autoencoder reconstruction error</a:t>
            </a:r>
          </a:p>
          <a:p>
            <a:pPr algn="l">
              <a:lnSpc>
                <a:spcPct val="100000"/>
              </a:lnSpc>
            </a:pPr>
            <a:r>
              <a:rPr lang="en-US" sz="1300" b="0" i="0" dirty="0">
                <a:solidFill>
                  <a:srgbClr val="FF6B35"/>
                </a:solidFill>
                <a:latin typeface="Calibri"/>
              </a:rPr>
              <a:t>  → If error &gt; 0.0122 → flag as ATTACK</a:t>
            </a:r>
          </a:p>
          <a:p>
            <a:pPr algn="l">
              <a:lnSpc>
                <a:spcPct val="100000"/>
              </a:lnSpc>
            </a:pPr>
            <a:r>
              <a:rPr lang="en-US" sz="1300" b="0" i="0" dirty="0">
                <a:solidFill>
                  <a:srgbClr val="00E676"/>
                </a:solidFill>
                <a:latin typeface="Calibri"/>
              </a:rPr>
              <a:t>  → If error ≤ 0.0122 → label as NORMAL</a:t>
            </a:r>
          </a:p>
        </p:txBody>
      </p:sp>
      <p:sp>
        <p:nvSpPr>
          <p:cNvPr id="11" name="Shape11"/>
          <p:cNvSpPr>
            <a:spLocks noGrp="1"/>
          </p:cNvSpPr>
          <p:nvPr/>
        </p:nvSpPr>
        <p:spPr>
          <a:xfrm>
            <a:off x="4572000" y="960120"/>
            <a:ext cx="3566160" cy="5029200"/>
          </a:xfrm>
          <a:prstGeom prst="roundRect">
            <a:avLst>
              <a:gd name="adj" fmla="val 10000"/>
            </a:avLst>
          </a:prstGeom>
          <a:gradFill>
            <a:gsLst>
              <a:gs pos="0">
                <a:srgbClr val="0D1B2A"/>
              </a:gs>
              <a:gs pos="100000">
                <a:srgbClr val="060B18"/>
              </a:gs>
            </a:gsLst>
            <a:lin ang="5400000" scaled="0"/>
          </a:gradFill>
          <a:ln w="19050">
            <a:solidFill>
              <a:srgbClr val="00C6FF"/>
            </a:solidFill>
          </a:ln>
          <a:effectLst/>
        </p:spPr>
        <p:txBody>
          <a:bodyPr anchor="t" wrap="square" vert="horz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700" b="1" i="0" dirty="0">
                <a:solidFill>
                  <a:srgbClr val="00C6FF"/>
                </a:solidFill>
                <a:latin typeface="Calibri"/>
              </a:rPr>
              <a:t>Why This Works</a:t>
            </a:r>
          </a:p>
          <a:p>
            <a:endParaRPr lang="en-US" dirty="0"/>
          </a:p>
          <a:p>
            <a:pPr algn="l">
              <a:lnSpc>
                <a:spcPct val="100000"/>
              </a:lnSpc>
            </a:pPr>
            <a:r>
              <a:rPr lang="en-US" sz="1250" b="0" i="0" dirty="0">
                <a:solidFill>
                  <a:srgbClr val="FFFFFF"/>
                </a:solidFill>
                <a:latin typeface="Calibri"/>
              </a:rPr>
              <a:t>🎯 LightGBM is extremely confident (≥99.9%) on known attacks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B0BEC5"/>
                </a:solidFill>
                <a:latin typeface="Calibri"/>
              </a:rPr>
              <a:t>   so it handles them with surgical precision.</a:t>
            </a:r>
          </a:p>
          <a:p>
            <a:endParaRPr lang="en-US" dirty="0"/>
          </a:p>
          <a:p>
            <a:pPr algn="l">
              <a:lnSpc>
                <a:spcPct val="100000"/>
              </a:lnSpc>
            </a:pPr>
            <a:r>
              <a:rPr lang="en-US" sz="1250" b="0" i="0" dirty="0">
                <a:solidFill>
                  <a:srgbClr val="FFFFFF"/>
                </a:solidFill>
                <a:latin typeface="Calibri"/>
              </a:rPr>
              <a:t>🔍 When LightGBM is uncertain, it means the traffic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B0BEC5"/>
                </a:solidFill>
                <a:latin typeface="Calibri"/>
              </a:rPr>
              <a:t>   doesn't match any known pattern — perfect handoff to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B0BEC5"/>
                </a:solidFill>
                <a:latin typeface="Calibri"/>
              </a:rPr>
              <a:t>   the Autoencoder which detects any deviation from normal.</a:t>
            </a:r>
          </a:p>
          <a:p>
            <a:endParaRPr lang="en-US" dirty="0"/>
          </a:p>
          <a:p>
            <a:pPr algn="l">
              <a:lnSpc>
                <a:spcPct val="100000"/>
              </a:lnSpc>
            </a:pPr>
            <a:r>
              <a:rPr lang="en-US" sz="1300" b="1" i="0" dirty="0">
                <a:solidFill>
                  <a:srgbClr val="FFD600"/>
                </a:solidFill>
                <a:latin typeface="Calibri"/>
              </a:rPr>
              <a:t>⚡ Result: Best of both worlds!</a:t>
            </a:r>
          </a:p>
        </p:txBody>
      </p:sp>
      <p:sp>
        <p:nvSpPr>
          <p:cNvPr id="12" name="Shape12"/>
          <p:cNvSpPr>
            <a:spLocks noGrp="1"/>
          </p:cNvSpPr>
          <p:nvPr/>
        </p:nvSpPr>
        <p:spPr>
          <a:xfrm>
            <a:off x="8321040" y="960120"/>
            <a:ext cx="2560320" cy="5029200"/>
          </a:xfrm>
          <a:prstGeom prst="roundRect">
            <a:avLst>
              <a:gd name="adj" fmla="val 10000"/>
            </a:avLst>
          </a:prstGeom>
          <a:gradFill>
            <a:gsLst>
              <a:gs pos="0">
                <a:srgbClr val="001A0D"/>
              </a:gs>
              <a:gs pos="100000">
                <a:srgbClr val="060B18"/>
              </a:gs>
            </a:gsLst>
            <a:lin ang="5400000" scaled="0"/>
          </a:gradFill>
          <a:ln w="19050">
            <a:solidFill>
              <a:srgbClr val="00E676"/>
            </a:solidFill>
          </a:ln>
          <a:effectLst/>
        </p:spPr>
        <p:txBody>
          <a:bodyPr anchor="t" wrap="square" vert="horz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700" b="1" i="0" dirty="0">
                <a:solidFill>
                  <a:srgbClr val="00E676"/>
                </a:solidFill>
                <a:latin typeface="Calibri"/>
              </a:rPr>
              <a:t>Fusion Results</a:t>
            </a:r>
          </a:p>
          <a:p>
            <a:endParaRPr lang="en-US" dirty="0"/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B0BEC5"/>
                </a:solidFill>
                <a:latin typeface="Calibri"/>
              </a:rPr>
              <a:t>Test Set: Normal + 5 Zero-Day types</a:t>
            </a:r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B0BEC5"/>
                </a:solidFill>
                <a:latin typeface="Calibri"/>
              </a:rPr>
              <a:t>55,248 samples total</a:t>
            </a:r>
          </a:p>
          <a:p>
            <a:endParaRPr lang="en-US" dirty="0"/>
          </a:p>
          <a:p>
            <a:pPr algn="l">
              <a:lnSpc>
                <a:spcPct val="100000"/>
              </a:lnSpc>
            </a:pPr>
            <a:r>
              <a:rPr lang="en-US" sz="1500" b="1" i="0" dirty="0">
                <a:solidFill>
                  <a:srgbClr val="00E676"/>
                </a:solidFill>
                <a:latin typeface="Calibri"/>
              </a:rPr>
              <a:t>Accuracy:   96.82%</a:t>
            </a:r>
          </a:p>
          <a:p>
            <a:pPr algn="l">
              <a:lnSpc>
                <a:spcPct val="100000"/>
              </a:lnSpc>
            </a:pPr>
            <a:r>
              <a:rPr lang="en-US" sz="1300" b="0" i="0" dirty="0">
                <a:solidFill>
                  <a:srgbClr val="FFFFFF"/>
                </a:solidFill>
                <a:latin typeface="Calibri"/>
              </a:rPr>
              <a:t>Precision:  97.78%</a:t>
            </a:r>
          </a:p>
          <a:p>
            <a:pPr algn="l">
              <a:lnSpc>
                <a:spcPct val="100000"/>
              </a:lnSpc>
            </a:pPr>
            <a:r>
              <a:rPr lang="en-US" sz="1300" b="0" i="0" dirty="0">
                <a:solidFill>
                  <a:srgbClr val="FFFFFF"/>
                </a:solidFill>
                <a:latin typeface="Calibri"/>
              </a:rPr>
              <a:t>Recall:     98.33%</a:t>
            </a:r>
          </a:p>
          <a:p>
            <a:pPr algn="l">
              <a:lnSpc>
                <a:spcPct val="100000"/>
              </a:lnSpc>
            </a:pPr>
            <a:r>
              <a:rPr lang="en-US" sz="1300" b="0" i="0" dirty="0">
                <a:solidFill>
                  <a:srgbClr val="FFFFFF"/>
                </a:solidFill>
                <a:latin typeface="Calibri"/>
              </a:rPr>
              <a:t>F1-Score:   97.20%</a:t>
            </a:r>
          </a:p>
          <a:p>
            <a:endParaRPr lang="en-US" dirty="0"/>
          </a:p>
          <a:p>
            <a:pPr algn="l">
              <a:lnSpc>
                <a:spcPct val="100000"/>
              </a:lnSpc>
            </a:pPr>
            <a:r>
              <a:rPr lang="en-US" sz="1200" b="0" i="0" dirty="0">
                <a:solidFill>
                  <a:srgbClr val="FF6B35"/>
                </a:solidFill>
                <a:latin typeface="Calibri"/>
              </a:rPr>
              <a:t>vs Isolation Forest baseline: 49%</a:t>
            </a:r>
          </a:p>
          <a:p>
            <a:pPr algn="l">
              <a:lnSpc>
                <a:spcPct val="100000"/>
              </a:lnSpc>
            </a:pPr>
            <a:r>
              <a:rPr lang="en-US" sz="1300" b="1" i="0" dirty="0">
                <a:solidFill>
                  <a:srgbClr val="00E676"/>
                </a:solidFill>
                <a:latin typeface="Calibri"/>
              </a:rPr>
              <a:t>+47.82 percentage points improvement!</a:t>
            </a:r>
          </a:p>
        </p:txBody>
      </p:sp>
    </p:spTree>
  </p:cSld>
</p:sld>
</file>

<file path=ppt/slides/slide10.xml><?xml version="1.0" encoding="UTF-8" standalone="yes"?>
<p:sld xmlns:p="http://schemas.openxmlformats.org/presentationml/2006/main"
       xmlns:a="http://schemas.openxmlformats.org/drawingml/2006/main"
       xmlns:r="http://schemas.openxmlformats.org/officeDocument/2006/relationships">
  <p:cSld>
    <p:spTree>
      <p:nvGrpSpPr>
        <p:cNvPr id="1" name=""/>
        <p:cNvGrpSpPr/>
        <p:nvPr/>
      </p:nvGrpSpPr>
      <p:grpSpPr>
        <a:xfrm><a:off x="0" y="0"/><a:ext cx="12192000" cy="6858000"/>
        <a:chOff x="0" y="0"/><a:chExt cx="12192000" cy="6858000"/></a:xfrm>
      </p:grpSpPr>
      <p:sp>
  <p:nvSpPr>
    <p:cNvPr id="2" name="Shape2"/>
    <p:cNvSpPr><a:spLocks noGrp="1"/></p:cNvSpPr>
    <p:nvPr/>
  </p:nvSpPr>
  <p:spPr>
  <a:xfrm><a:off x="0" y="0"/><a:ext cx="12192000" cy="6858000"/></a:xfrm>
  <a:prstGeom prst="rect"><a:avLst/></a:prstGeom>
  <a:gradFill><a:gsLst>
      <a:gs pos="0"><a:srgbClr val="060B18"/></a:gs>
      <a:gs pos="100000"><a:srgbClr val="0D1B2A"/></a:gs>
    </a:gsLst><a:lin ang="5400000" scaled="0"/></a:gradFill>
  
  <a:effectLst/>
</p:spPr>
  <p:txBody>
  <a:bodyPr anchor="ctr" wrap="square" vert="horz">
    <a:normAutofit/>
  </a:bodyPr>
  <a:lstStyle/>
  <a:p><a:endParaRPr lang="en-US" dirty="0"/></a:p>
</p:txBody>
</p:sp>
<p:sp>
  <p:nvSpPr>
    <p:cNvPr id="3" name="Shape3"/>
    <p:cNvSpPr><a:spLocks noGrp="1"/></p:cNvSpPr>
    <p:nvPr/>
  </p:nvSpPr>
  <p:spPr>
  <a:xfrm><a:off x="0" y="0"/><a:ext cx="12192000" cy="777240"/></a:xfrm>
  <a:prstGeom prst="rect"><a:avLst/></a:prstGeom>
  <a:gradFill><a:gsLst>
      <a:gs pos="0"><a:srgbClr val="7B2FBE"/></a:gs>
      <a:gs pos="100000"><a:srgbClr val="00C6FF"/></a:gs>
    </a:gsLst><a:lin ang="0" scaled="0"/></a:gradFill>
  
  <a:effectLst/>
</p:spPr>
  <p:txBody>
  <a:bodyPr anchor="ctr" wrap="square" vert="horz">
    <a:normAutofit/>
  </a:bodyPr>
  <a:lstStyle/>
  <a:p><a:endParaRPr lang="en-US" dirty="0"/></a:p>
</p:txBody>
</p:sp>
<p:sp>
  <p:nvSpPr>
    <p:cNvPr id="4" name="Shape4"/>
    <p:cNvSpPr><a:spLocks noGrp="1"/></p:cNvSpPr>
    <p:nvPr/>
  </p:nvSpPr>
  <p:spPr>
  <a:xfrm><a:off x="0" y="777240"/><a:ext cx="54864" cy="6080760"/></a:xfrm>
  <a:prstGeom prst="rect"><a:avLst/></a:prstGeom>
  <a:solidFill><a:srgbClr val="00C6FF"/></a:solidFill>
  
  <a:effectLst/>
</p:spPr>
  <p:txBody>
  <a:bodyPr anchor="ctr" wrap="square" vert="horz">
    <a:normAutofit/>
  </a:bodyPr>
  <a:lstStyle/>
  <a:p><a:endParaRPr lang="en-US" dirty="0"/></a:p>
</p:txBody>
</p:sp>
<p:sp>
  <p:nvSpPr>
    <p:cNvPr id="5" name="Shape5"/>
    <p:cNvSpPr><a:spLocks noGrp="1"/></p:cNvSpPr>
    <p:nvPr/>
  </p:nvSpPr>
  <p:spPr>
  <a:xfrm><a:off x="0" y="6784848"/><a:ext cx="12192000" cy="73152"/></a:xfrm>
  <a:prstGeom prst="rect"><a:avLst/></a:prstGeom>
  <a:solidFill><a:srgbClr val="7B2FBE"/></a:solidFill>
  
  <a:effectLst/>
</p:spPr>
  <p:txBody>
  <a:bodyPr anchor="ctr" wrap="square" vert="horz">
    <a:normAutofit/>
  </a:bodyPr>
  <a:lstStyle/>
  <a:p><a:endParaRPr lang="en-US" dirty="0"/></a:p>
</p:txBody>
</p:sp>
<p:sp>
  <p:nvSpPr>
    <p:cNvPr id="6" name="Shape6"/>
    <p:cNvSpPr><a:spLocks noGrp="1"/></p:cNvSpPr>
    <p:nvPr/>
  </p:nvSpPr>
  <p:spPr>
  <a:xfrm><a:off x="11643360" y="6446520"/><a:ext cx="457200" cy="320040"/></a:xfrm>
  <a:prstGeom prst="rect"><a:avLst/></a:prstGeom>
  <a:solidFill><a:srgbClr val="00000000"/></a:solidFill>
  
  <a:effectLst/>
</p:spPr>
  <p:txBody>
  <a:bodyPr anchor="ctr" wrap="square" vert="horz">
    <a:normAutofit/>
  </a:bodyPr>
  <a:lstStyle/>
  <a:p>
  <a:pPr algn="r"><a:lnSpc><a:spcPct val="100000"/></a:lnSpc></a:pPr>
  <a:r><a:rPr lang="en-US" sz="1100" b="0" i="0" dirty="0">
    <a:solidFill><a:srgbClr val="B0BEC5"/></a:solidFill>
    <a:latin typeface="Calibri"/>
  </a:rPr><a:t>9</a:t></a:r>
</a:p>
</p:txBody>
</p:sp>
<p:sp>
  <p:nvSpPr>
    <p:cNvPr id="7" name="Shape7"/>
    <p:cNvSpPr><a:spLocks noGrp="1"/></p:cNvSpPr>
    <p:nvPr/>
  </p:nvSpPr>
  <p:spPr>
  <a:xfrm><a:off x="228600" y="73152"/><a:ext cx="11734800" cy="658368"/></a:xfrm>
  <a:prstGeom prst="rect"><a:avLst/></a:prstGeom>
  <a:solidFill><a:srgbClr val="00000000"/></a:solidFill>
  
  <a:effectLst/>
</p:spPr>
  <p:txBody>
  <a:bodyPr anchor="ctr" wrap="square" vert="horz">
    <a:normAutofit/>
  </a:bodyPr>
  <a:lstStyle/>
  <a:p>
  <a:pPr algn="l"><a:lnSpc><a:spcPct val="100000"/></a:lnSpc></a:pPr>
  <a:r><a:rPr lang="en-US" sz="2400" b="1" i="0" dirty="0">
    <a:solidFill><a:srgbClr val="FFFFFF"/></a:solidFill>
    <a:latin typeface="Calibri"/>
  </a:rPr><a:t>📈  Results & Model Comparison</a:t></a:r>
</a:p>
</p:txBody>
</p:sp>
<p:sp>
  <p:nvSpPr>
    <p:cNvPr id="10" name="Shape10"/>
    <p:cNvSpPr><a:spLocks noGrp="1"/></p:cNvSpPr>
    <p:nvPr/>
  </p:nvSpPr>
  <p:spPr>
  <a:xfrm><a:off x="274320" y="960120"/><a:ext cx="2468880" cy="1371600"/></a:xfrm>
  <a:prstGeom prst="roundRect"><a:avLst><a:gd name="adj" fmla="val 15000"/></a:avLst></a:prstGeom>
  <a:gradFill><a:gsLst>
      <a:gs pos="0"><a:srgbClr val="0D2137"/></a:gs>
      <a:gs pos="100000"><a:srgbClr val="060B18"/></a:gs>
    </a:gsLst><a:lin ang="5400000" scaled="0"/></a:gradFill>
  <a:ln w="19050"><a:solidFill><a:srgbClr val="00E676"/></a:solidFill></a:ln>
  <a:effectLst/>
</p:spPr>
  <p:txBody>
  <a:bodyPr anchor="ctr" wrap="square" vert="horz">
    <a:normAutofit/>
  </a:bodyPr>
  <a:lstStyle/>
  <a:p>
  <a:pPr algn="ctr"><a:lnSpc><a:spcPct val="100000"/></a:lnSpc></a:pPr>
  <a:r><a:rPr lang="en-US" sz="3600" b="1" i="0" dirty="0">
    <a:solidFill><a:srgbClr val="00E676"/></a:solidFill>
    <a:latin typeface="Calibri"/>
  </a:rPr><a:t>99.99%</a:t></a:r>
</a:p><a:p>
  <a:pPr algn="ctr"><a:lnSpc><a:spcPct val="100000"/></a:lnSpc></a:pPr>
  <a:r><a:rPr lang="en-US" sz="1100" b="0" i="0" dirty="0">
    <a:solidFill><a:srgbClr val="B0BEC5"/></a:solidFill>
    <a:latin typeface="Calibri"/>
  </a:rPr><a:t>LightGBM
(Known Attacks)</a:t></a:r>
</a:p>
</p:txBody>
</p:sp><p:sp>
  <p:nvSpPr>
    <p:cNvPr id="11" name="Shape11"/>
    <p:cNvSpPr><a:spLocks noGrp="1"/></p:cNvSpPr>
    <p:nvPr/>
  </p:nvSpPr>
  <p:spPr>
  <a:xfrm><a:off x="2926080" y="960120"/><a:ext cx="2468880" cy="1371600"/></a:xfrm>
  <a:prstGeom prst="roundRect"><a:avLst><a:gd name="adj" fmla="val 15000"/></a:avLst></a:prstGeom>
  <a:gradFill><a:gsLst>
      <a:gs pos="0"><a:srgbClr val="0D2137"/></a:gs>
      <a:gs pos="100000"><a:srgbClr val="060B18"/></a:gs>
    </a:gsLst><a:lin ang="5400000" scaled="0"/></a:gradFill>
  <a:ln w="19050"><a:solidFill><a:srgbClr val="7B2FBE"/></a:solidFill></a:ln>
  <a:effectLst/>
</p:spPr>
  <p:txBody>
  <a:bodyPr anchor="ctr" wrap="square" vert="horz">
    <a:normAutofit/>
  </a:bodyPr>
  <a:lstStyle/>
  <a:p>
  <a:pPr algn="ctr"><a:lnSpc><a:spcPct val="100000"/></a:lnSpc></a:pPr>
  <a:r><a:rPr lang="en-US" sz="3600" b="1" i="0" dirty="0">
    <a:solidFill><a:srgbClr val="7B2FBE"/></a:solidFill>
    <a:latin typeface="Calibri"/>
  </a:rPr><a:t>99.19%</a:t></a:r>
</a:p><a:p>
  <a:pPr algn="ctr"><a:lnSpc><a:spcPct val="100000"/></a:lnSpc></a:pPr>
  <a:r><a:rPr lang="en-US" sz="1100" b="0" i="0" dirty="0">
    <a:solidFill><a:srgbClr val="B0BEC5"/></a:solidFill>
    <a:latin typeface="Calibri"/>
  </a:rPr><a:t>Autoencoder
(Zero-Day)</a:t></a:r>
</a:p>
</p:txBody>
</p:sp><p:sp>
  <p:nvSpPr>
    <p:cNvPr id="12" name="Shape12"/>
    <p:cNvSpPr><a:spLocks noGrp="1"/></p:cNvSpPr>
    <p:nvPr/>
  </p:nvSpPr>
  <p:spPr>
  <a:xfrm><a:off x="5577840" y="960120"/><a:ext cx="2468880" cy="1371600"/></a:xfrm>
  <a:prstGeom prst="roundRect"><a:avLst><a:gd name="adj" fmla="val 15000"/></a:avLst></a:prstGeom>
  <a:gradFill><a:gsLst>
      <a:gs pos="0"><a:srgbClr val="0D2137"/></a:gs>
      <a:gs pos="100000"><a:srgbClr val="060B18"/></a:gs>
    </a:gsLst><a:lin ang="5400000" scaled="0"/></a:gradFill>
  <a:ln w="19050"><a:solidFill><a:srgbClr val="00C6FF"/></a:solidFill></a:ln>
  <a:effectLst/>
</p:spPr>
  <p:txBody>
  <a:bodyPr anchor="ctr" wrap="square" vert="horz">
    <a:normAutofit/>
  </a:bodyPr>
  <a:lstStyle/>
  <a:p>
  <a:pPr algn="ctr"><a:lnSpc><a:spcPct val="100000"/></a:lnSpc></a:pPr>
  <a:r><a:rPr lang="en-US" sz="3600" b="1" i="0" dirty="0">
    <a:solidFill><a:srgbClr val="00C6FF"/></a:solidFill>
    <a:latin typeface="Calibri"/>
  </a:rPr><a:t>96.82%</a:t></a:r>
</a:p><a:p>
  <a:pPr algn="ctr"><a:lnSpc><a:spcPct val="100000"/></a:lnSpc></a:pPr>
  <a:r><a:rPr lang="en-US" sz="1100" b="0" i="0" dirty="0">
    <a:solidFill><a:srgbClr val="B0BEC5"/></a:solidFill>
    <a:latin typeface="Calibri"/>
  </a:rPr><a:t>Fusion Model
(Combined)</a:t></a:r>
</a:p>
</p:txBody>
</p:sp><p:sp>
  <p:nvSpPr>
    <p:cNvPr id="13" name="Shape13"/>
    <p:cNvSpPr><a:spLocks noGrp="1"/></p:cNvSpPr>
    <p:nvPr/>
  </p:nvSpPr>
  <p:spPr>
  <a:xfrm><a:off x="8229600" y="960120"/><a:ext cx="2651760" cy="1371600"/></a:xfrm>
  <a:prstGeom prst="roundRect"><a:avLst><a:gd name="adj" fmla="val 15000"/></a:avLst></a:prstGeom>
  <a:gradFill><a:gsLst>
      <a:gs pos="0"><a:srgbClr val="0D2137"/></a:gs>
      <a:gs pos="100000"><a:srgbClr val="060B18"/></a:gs>
    </a:gsLst><a:lin ang="5400000" scaled="0"/></a:gradFill>
  <a:ln w="19050"><a:solidFill><a:srgbClr val="FF6B35"/></a:solidFill></a:ln>
  <a:effectLst/>
</p:spPr>
  <p:txBody>
  <a:bodyPr anchor="ctr" wrap="square" vert="horz">
    <a:normAutofit/>
  </a:bodyPr>
  <a:lstStyle/>
  <a:p>
  <a:pPr algn="ctr"><a:lnSpc><a:spcPct val="100000"/></a:lnSpc></a:pPr>
  <a:r><a:rPr lang="en-US" sz="3600" b="1" i="0" dirty="0">
    <a:solidFill><a:srgbClr val="FF6B35"/></a:solidFill>
    <a:latin typeface="Calibri"/>
  </a:rPr><a:t>49.00%</a:t></a:r>
</a:p><a:p>
  <a:pPr algn="ctr"><a:lnSpc><a:spcPct val="100000"/></a:lnSpc></a:pPr>
  <a:r><a:rPr lang="en-US" sz="1100" b="0" i="0" dirty="0">
    <a:solidFill><a:srgbClr val="B0BEC5"/></a:solidFill>
    <a:latin typeface="Calibri"/>
  </a:rPr><a:t>Isolation Forest
(Baseline)</a:t></a:r>
</a:p>
</p:txBody>
</p:sp><p:sp>
  <p:nvSpPr>
    <p:cNvPr id="14" name="Shape14"/>
    <p:cNvSpPr><a:spLocks noGrp="1"/></p:cNvSpPr>
    <p:nvPr/>
  </p:nvSpPr>
  <p:spPr>
  <a:xfrm><a:off x="274320" y="2514600"/><a:ext cx="10607040" cy="2103120"/></a:xfrm>
  <a:prstGeom prst="roundRect"><a:avLst><a:gd name="adj" fmla="val 10000"/></a:avLst></a:prstGeom>
  <a:gradFill><a:gsLst>
      <a:gs pos="0"><a:srgbClr val="0D1B2A"/></a:gs>
      <a:gs pos="100000"><a:srgbClr val="060B18"/></a:gs>
    </a:gsLst><a:lin ang="5400000" scaled="0"/></a:gradFill>
  <a:ln w="12700"><a:solidFill><a:srgbClr val="00C6FF"/></a:solidFill></a:ln>
  <a:effectLst/>
</p:spPr>
  <p:txBody>
  <a:bodyPr anchor="t" wrap="square" vert="horz">
    <a:normAutofit/>
  </a:bodyPr>
  <a:lstStyle/>
  <a:p>
  <a:pPr algn="l"><a:lnSpc><a:spcPct val="100000"/></a:lnSpc></a:pPr>
  <a:r><a:rPr lang="en-US" sz="1300" b="1" i="0" dirty="0">
    <a:solidFill><a:srgbClr val="00C6FF"/></a:solidFill>
    <a:latin typeface="Calibri"/>
  </a:rPr><a:t>MODEL                  ACCURACY   PURPOSE</a:t></a:r>
</a:p><p:sp>
  <p:nvSpPr>
    <p:cNvPr id="20" name="Line20"/>
    <p:cNvSpPr><a:spLocks noGrp="1"/></p:cNvSpPr>
    <p:nvPr/>
  </p:nvSpPr>
  <p:spPr>
    <a:xfrm flipH="0" flipV="0">
      <a:off x="365760" y="2880360"/>
      <a:ext cx="10149840" cy="1"/>
    </a:xfrm>
    <a:prstGeom prst="line"><a:avLst/></a:prstGeom>
    <a:noFill/>
    <a:ln w="9525"><a:solidFill><a:srgbClr val="00C6FF"/></a:solidFill></a:ln>
  </p:spPr>
  <p:txBody><a:bodyPr/><a:lstStyle/><a:p/></p:txBody>
</p:sp><a:p>
  <a:pPr algn="l"><a:lnSpc><a:spcPct val="100000"/></a:lnSpc></a:pPr>
  <a:r><a:rPr lang="en-US" sz="1200" b="0" i="0" dirty="0">
    <a:solidFill><a:srgbClr val="B0BEC5"/></a:solidFill>
    <a:latin typeface="Calibri"/>
  </a:rPr><a:t>Isolation Forest       49.00%     Baseline anomaly detection</a:t></a:r>
</a:p><a:p>
  <a:pPr algn="l"><a:lnSpc><a:spcPct val="100000"/></a:lnSpc></a:pPr>
  <a:r><a:rPr lang="en-US" sz="1200" b="0" i="0" dirty="0">
    <a:solidFill><a:srgbClr val="00E676"/></a:solidFill>
    <a:latin typeface="Calibri"/>
  </a:rPr><a:t>LightGBM               99.99%     Known attack classification</a:t></a:r>
</a:p><a:p>
  <a:pPr algn="l"><a:lnSpc><a:spcPct val="100000"/></a:lnSpc></a:pPr>
  <a:r><a:rPr lang="en-US" sz="1200" b="0" i="0" dirty="0">
    <a:solidFill><a:srgbClr val="7B2FBE"/></a:solidFill>
    <a:latin typeface="Calibri"/>
  </a:rPr><a:t>Autoencoder            99.19%     Zero-day anomaly detection</a:t></a:r>
</a:p><a:p>
  <a:pPr algn="l"><a:lnSpc><a:spcPct val="100000"/></a:lnSpc></a:pPr>
  <a:r><a:rPr lang="en-US" sz="1200" b="0" i="0" dirty="0">
    <a:solidFill><a:srgbClr val="00C6FF"/></a:solidFill>
    <a:latin typeface="Calibri"/>
  </a:rPr><a:t>Fusion Model           96.82%     Hybrid detection system</a:t></a:r>
</a:p>
</p:txBody>
</p:sp><p:sp>
  <p:nvSpPr>
    <p:cNvPr id="15" name="Shape15"/>
    <p:cNvSpPr><a:spLocks noGrp="1"/></p:cNvSpPr>
    <p:nvPr/>
  </p:nvSpPr>
  <p:spPr>
  <a:xfrm><a:off x="274320" y="4754880"/><a:ext cx="10607040" cy="1280160"/></a:xfrm>
  <a:prstGeom prst="roundRect"><a:avLst><a:gd name="adj" fmla="val 10000"/></a:avLst></a:prstGeom>
  <a:gradFill><a:gsLst>
      <a:gs pos="0"><a:srgbClr val="1A1400"/></a:gs>
      <a:gs pos="100000"><a:srgbClr val="0D1B2A"/></a:gs>
    </a:gsLst><a:lin ang="5400000" scaled="0"/></a:gradFill>
  <a:ln w="19050"><a:solidFill><a:srgbClr val="FFD600"/></a:solidFill></a:ln>
  <a:effectLst/>
</p:spPr>
  <p:txBody>
  <a:bodyPr anchor="ctr" wrap="square" vert="horz">
    <a:normAutofit/>
  </a:bodyPr>
  <a:lstStyle/>
  <a:p>
  <a:pPr algn="l"><a:lnSpc><a:spcPct val="100000"/></a:lnSpc></a:pPr>
  <a:r><a:rPr lang="en-US" sz="1500" b="1" i="0" dirty="0">
    <a:solidFill><a:srgbClr val="FFD600"/></a:solidFill>
    <a:latin typeface="Calibri"/>
  </a:rPr><a:t>Key Takeaways</a:t></a:r>
</a:p><a:p>
  <a:pPr algn="l"><a:lnSpc><a:spcPct val="100000"/></a:lnSpc></a:pPr>
  <a:r><a:rPr lang="en-US" sz="1300" b="0" i="0" dirty="0">
    <a:solidFill><a:srgbClr val="FFFFFF"/></a:solidFill>
    <a:latin typeface="Calibri"/>
  </a:rPr><a:t>✅  Fusion Model is +47.8pp better than Isolation Forest baseline</a:t></a:r>
</a:p><a:p>
  <a:pPr algn="l"><a:lnSpc><a:spcPct val="100000"/></a:lnSpc></a:pPr>
  <a:r><a:rPr lang="en-US" sz="1300" b="0" i="0" dirty="0">
    <a:solidFill><a:srgbClr val="FFFFFF"/></a:solidFill>
    <a:latin typeface="Calibri"/>
  </a:rPr><a:t>✅  Zero-day attacks detected without ANY prior labelled examples</a:t></a:r>
</a:p><a:p>
  <a:pPr algn="l"><a:lnSpc><a:spcPct val="100000"/></a:lnSpc></a:pPr>
  <a:r><a:rPr lang="en-US" sz="1300" b="0" i="0" dirty="0">
    <a:solidFill><a:srgbClr val="FFFFFF"/></a:solidFill>
    <a:latin typeface="Calibri"/>
  </a:rPr><a:t>✅  Only 11,907 parameters — deployable on IoT edge gateways</a:t></a:r>
</a:p>
</p:txBody>
</p:sp>
    </p:spTree>
  </p:cSld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Shape2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60B18"/>
              </a:gs>
              <a:gs pos="100000">
                <a:srgbClr val="0D1B2A"/>
              </a:gs>
            </a:gsLst>
            <a:lin ang="5400000" scaled="0"/>
          </a:gradFill>
          <a:effectLst/>
        </p:spPr>
        <p:txBody>
          <a:bodyPr anchor="ctr" wrap="square" vert="horz">
            <a:normAutofit/>
          </a:bodyPr>
          <a:lstStyle/>
          <a:p>
            <a:endParaRPr lang="en-US" dirty="0"/>
          </a:p>
        </p:txBody>
      </p:sp>
      <p:sp>
        <p:nvSpPr>
          <p:cNvPr id="3" name="Shape3"/>
          <p:cNvSpPr>
            <a:spLocks noGrp="1"/>
          </p:cNvSpPr>
          <p:nvPr/>
        </p:nvSpPr>
        <p:spPr>
          <a:xfrm>
            <a:off x="0" y="0"/>
            <a:ext cx="12192000" cy="777240"/>
          </a:xfrm>
          <a:prstGeom prst="rect">
            <a:avLst/>
          </a:prstGeom>
          <a:gradFill>
            <a:gsLst>
              <a:gs pos="0">
                <a:srgbClr val="7B2FBE"/>
              </a:gs>
              <a:gs pos="100000">
                <a:srgbClr val="00C6FF"/>
              </a:gs>
            </a:gsLst>
            <a:lin ang="0" scaled="0"/>
          </a:gradFill>
          <a:effectLst/>
        </p:spPr>
        <p:txBody>
          <a:bodyPr anchor="ctr" wrap="square" vert="horz">
            <a:normAutofit/>
          </a:bodyPr>
          <a:lstStyle/>
          <a:p>
            <a:endParaRPr lang="en-US" dirty="0"/>
          </a:p>
        </p:txBody>
      </p:sp>
      <p:sp>
        <p:nvSpPr>
          <p:cNvPr id="4" name="Shape4"/>
          <p:cNvSpPr>
            <a:spLocks noGrp="1"/>
          </p:cNvSpPr>
          <p:nvPr/>
        </p:nvSpPr>
        <p:spPr>
          <a:xfrm>
            <a:off x="0" y="777240"/>
            <a:ext cx="54864" cy="6080760"/>
          </a:xfrm>
          <a:prstGeom prst="rect">
            <a:avLst/>
          </a:prstGeom>
          <a:solidFill>
            <a:srgbClr val="00C6FF"/>
          </a:solidFill>
          <a:effectLst/>
        </p:spPr>
        <p:txBody>
          <a:bodyPr anchor="ctr" wrap="square" vert="horz">
            <a:normAutofit/>
          </a:bodyPr>
          <a:lstStyle/>
          <a:p>
            <a:endParaRPr lang="en-US" dirty="0"/>
          </a:p>
        </p:txBody>
      </p:sp>
      <p:sp>
        <p:nvSpPr>
          <p:cNvPr id="5" name="Shape5"/>
          <p:cNvSpPr>
            <a:spLocks noGrp="1"/>
          </p:cNvSpPr>
          <p:nvPr/>
        </p:nvSpPr>
        <p:spPr>
          <a:xfrm>
            <a:off x="0" y="6784848"/>
            <a:ext cx="12192000" cy="73152"/>
          </a:xfrm>
          <a:prstGeom prst="rect">
            <a:avLst/>
          </a:prstGeom>
          <a:solidFill>
            <a:srgbClr val="7B2FBE"/>
          </a:solidFill>
          <a:effectLst/>
        </p:spPr>
        <p:txBody>
          <a:bodyPr anchor="ctr" wrap="square" vert="horz">
            <a:normAutofit/>
          </a:bodyPr>
          <a:lstStyle/>
          <a:p>
            <a:endParaRPr lang="en-US" dirty="0"/>
          </a:p>
        </p:txBody>
      </p:sp>
      <p:sp>
        <p:nvSpPr>
          <p:cNvPr id="6" name="Shape6"/>
          <p:cNvSpPr>
            <a:spLocks noGrp="1"/>
          </p:cNvSpPr>
          <p:nvPr/>
        </p:nvSpPr>
        <p:spPr>
          <a:xfrm>
            <a:off x="11643360" y="6446520"/>
            <a:ext cx="457200" cy="320040"/>
          </a:xfrm>
          <a:prstGeom prst="rect">
            <a:avLst/>
          </a:prstGeom>
          <a:solidFill>
            <a:srgbClr val="00000000"/>
          </a:solidFill>
          <a:effectLst/>
        </p:spPr>
        <p:txBody>
          <a:bodyPr anchor="ctr" wrap="square" vert="horz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1100" b="0" i="0" dirty="0">
                <a:solidFill>
                  <a:srgbClr val="B0BEC5"/>
                </a:solidFill>
                <a:latin typeface="Calibri"/>
              </a:rPr>
              <a:t>11</a:t>
            </a:r>
          </a:p>
        </p:txBody>
      </p:sp>
      <p:sp>
        <p:nvSpPr>
          <p:cNvPr id="7" name="Shape7"/>
          <p:cNvSpPr>
            <a:spLocks noGrp="1"/>
          </p:cNvSpPr>
          <p:nvPr/>
        </p:nvSpPr>
        <p:spPr>
          <a:xfrm>
            <a:off x="228600" y="73152"/>
            <a:ext cx="11734800" cy="658368"/>
          </a:xfrm>
          <a:prstGeom prst="rect">
            <a:avLst/>
          </a:prstGeom>
          <a:solidFill>
            <a:srgbClr val="00000000"/>
          </a:solidFill>
          <a:effectLst/>
        </p:spPr>
        <p:txBody>
          <a:bodyPr anchor="ctr" wrap="square" vert="horz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2400" b="1" i="0" dirty="0">
                <a:solidFill>
                  <a:srgbClr val="FFFFFF"/>
                </a:solidFill>
                <a:latin typeface="Calibri"/>
              </a:rPr>
              <a:t>🔍  Feature Importance Analysis</a:t>
            </a:r>
          </a:p>
        </p:txBody>
      </p:sp>
      <p:sp>
        <p:nvSpPr>
          <p:cNvPr id="10" name="Shape10"/>
          <p:cNvSpPr>
            <a:spLocks noGrp="1"/>
          </p:cNvSpPr>
          <p:nvPr/>
        </p:nvSpPr>
        <p:spPr>
          <a:xfrm>
            <a:off x="274320" y="960120"/>
            <a:ext cx="5120640" cy="457200"/>
          </a:xfrm>
          <a:prstGeom prst="rect">
            <a:avLst/>
          </a:prstGeom>
          <a:solidFill>
            <a:srgbClr val="00000000"/>
          </a:solidFill>
          <a:effectLst/>
        </p:spPr>
        <p:txBody>
          <a:bodyPr anchor="ctr" wrap="square" vert="horz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500" b="1" i="0" dirty="0">
                <a:solidFill>
                  <a:srgbClr val="00C6FF"/>
                </a:solidFill>
                <a:latin typeface="Calibri"/>
              </a:rPr>
              <a:t>Top 10 Feature Importances (LightGBM)</a:t>
            </a:r>
          </a:p>
        </p:txBody>
      </p:sp>
      <p:sp>
        <p:nvSpPr>
          <p:cNvPr id="11" name="Shape11"/>
          <p:cNvSpPr>
            <a:spLocks noGrp="1"/>
          </p:cNvSpPr>
          <p:nvPr/>
        </p:nvSpPr>
        <p:spPr>
          <a:xfrm>
            <a:off x="274320" y="1554480"/>
            <a:ext cx="1417320" cy="320040"/>
          </a:xfrm>
          <a:prstGeom prst="rect">
            <a:avLst/>
          </a:prstGeom>
          <a:solidFill>
            <a:srgbClr val="00000000"/>
          </a:solidFill>
          <a:effectLst/>
        </p:spPr>
        <p:txBody>
          <a:bodyPr anchor="ctr" wrap="square" vert="horz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100" b="0" i="0" dirty="0">
                <a:solidFill>
                  <a:srgbClr val="FFFFFF"/>
                </a:solidFill>
                <a:latin typeface="Calibri"/>
              </a:rPr>
              <a:t>tcp.srcport</a:t>
            </a:r>
          </a:p>
        </p:txBody>
      </p:sp>
      <p:sp>
        <p:nvSpPr>
          <p:cNvPr id="21" name="Shape21"/>
          <p:cNvSpPr>
            <a:spLocks noGrp="1"/>
          </p:cNvSpPr>
          <p:nvPr/>
        </p:nvSpPr>
        <p:spPr>
          <a:xfrm>
            <a:off x="1737360" y="1554480"/>
            <a:ext cx="4754880" cy="292608"/>
          </a:xfrm>
          <a:prstGeom prst="roundRect">
            <a:avLst>
              <a:gd name="adj" fmla="val 5000"/>
            </a:avLst>
          </a:prstGeom>
          <a:gradFill>
            <a:gsLst>
              <a:gs pos="0">
                <a:srgbClr val="00C6FF"/>
              </a:gs>
              <a:gs pos="100000">
                <a:srgbClr val="0D1B2A"/>
              </a:gs>
            </a:gsLst>
            <a:lin ang="0" scaled="0"/>
          </a:gradFill>
          <a:effectLst/>
        </p:spPr>
        <p:txBody>
          <a:bodyPr anchor="ctr" wrap="square" vert="horz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1000" b="0" i="0" dirty="0">
                <a:solidFill>
                  <a:srgbClr val="FFFFFF"/>
                </a:solidFill>
                <a:latin typeface="Calibri"/>
              </a:rPr>
              <a:t>13,467</a:t>
            </a:r>
          </a:p>
        </p:txBody>
      </p:sp>
      <p:sp>
        <p:nvSpPr>
          <p:cNvPr id="12" name="Shape12"/>
          <p:cNvSpPr>
            <a:spLocks noGrp="1"/>
          </p:cNvSpPr>
          <p:nvPr/>
        </p:nvSpPr>
        <p:spPr>
          <a:xfrm>
            <a:off x="274320" y="1947672"/>
            <a:ext cx="1417320" cy="320040"/>
          </a:xfrm>
          <a:prstGeom prst="rect">
            <a:avLst/>
          </a:prstGeom>
          <a:solidFill>
            <a:srgbClr val="00000000"/>
          </a:solidFill>
          <a:effectLst/>
        </p:spPr>
        <p:txBody>
          <a:bodyPr anchor="ctr" wrap="square" vert="horz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100" b="0" i="0" dirty="0">
                <a:solidFill>
                  <a:srgbClr val="FFFFFF"/>
                </a:solidFill>
                <a:latin typeface="Calibri"/>
              </a:rPr>
              <a:t>tcp.options</a:t>
            </a:r>
          </a:p>
        </p:txBody>
      </p:sp>
      <p:sp>
        <p:nvSpPr>
          <p:cNvPr id="22" name="Shape22"/>
          <p:cNvSpPr>
            <a:spLocks noGrp="1"/>
          </p:cNvSpPr>
          <p:nvPr/>
        </p:nvSpPr>
        <p:spPr>
          <a:xfrm>
            <a:off x="1737360" y="1947672"/>
            <a:ext cx="4511257" cy="292608"/>
          </a:xfrm>
          <a:prstGeom prst="roundRect">
            <a:avLst>
              <a:gd name="adj" fmla="val 5000"/>
            </a:avLst>
          </a:prstGeom>
          <a:gradFill>
            <a:gsLst>
              <a:gs pos="0">
                <a:srgbClr val="7B2FBE"/>
              </a:gs>
              <a:gs pos="100000">
                <a:srgbClr val="0D1B2A"/>
              </a:gs>
            </a:gsLst>
            <a:lin ang="0" scaled="0"/>
          </a:gradFill>
          <a:effectLst/>
        </p:spPr>
        <p:txBody>
          <a:bodyPr anchor="ctr" wrap="square" vert="horz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1000" b="0" i="0" dirty="0">
                <a:solidFill>
                  <a:srgbClr val="FFFFFF"/>
                </a:solidFill>
                <a:latin typeface="Calibri"/>
              </a:rPr>
              <a:t>12,777</a:t>
            </a:r>
          </a:p>
        </p:txBody>
      </p:sp>
      <p:sp>
        <p:nvSpPr>
          <p:cNvPr id="13" name="Shape13"/>
          <p:cNvSpPr>
            <a:spLocks noGrp="1"/>
          </p:cNvSpPr>
          <p:nvPr/>
        </p:nvSpPr>
        <p:spPr>
          <a:xfrm>
            <a:off x="274320" y="2340864"/>
            <a:ext cx="1417320" cy="320040"/>
          </a:xfrm>
          <a:prstGeom prst="rect">
            <a:avLst/>
          </a:prstGeom>
          <a:solidFill>
            <a:srgbClr val="00000000"/>
          </a:solidFill>
          <a:effectLst/>
        </p:spPr>
        <p:txBody>
          <a:bodyPr anchor="ctr" wrap="square" vert="horz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100" b="0" i="0" dirty="0">
                <a:solidFill>
                  <a:srgbClr val="FFFFFF"/>
                </a:solidFill>
                <a:latin typeface="Calibri"/>
              </a:rPr>
              <a:t>tcp.dstport</a:t>
            </a:r>
          </a:p>
        </p:txBody>
      </p:sp>
      <p:sp>
        <p:nvSpPr>
          <p:cNvPr id="23" name="Shape23"/>
          <p:cNvSpPr>
            <a:spLocks noGrp="1"/>
          </p:cNvSpPr>
          <p:nvPr/>
        </p:nvSpPr>
        <p:spPr>
          <a:xfrm>
            <a:off x="1737360" y="2340864"/>
            <a:ext cx="3124373" cy="292608"/>
          </a:xfrm>
          <a:prstGeom prst="roundRect">
            <a:avLst>
              <a:gd name="adj" fmla="val 5000"/>
            </a:avLst>
          </a:prstGeom>
          <a:gradFill>
            <a:gsLst>
              <a:gs pos="0">
                <a:srgbClr val="00E676"/>
              </a:gs>
              <a:gs pos="100000">
                <a:srgbClr val="0D1B2A"/>
              </a:gs>
            </a:gsLst>
            <a:lin ang="0" scaled="0"/>
          </a:gradFill>
          <a:effectLst/>
        </p:spPr>
        <p:txBody>
          <a:bodyPr anchor="ctr" wrap="square" vert="horz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1000" b="0" i="0" dirty="0">
                <a:solidFill>
                  <a:srgbClr val="FFFFFF"/>
                </a:solidFill>
                <a:latin typeface="Calibri"/>
              </a:rPr>
              <a:t>8,849</a:t>
            </a:r>
          </a:p>
        </p:txBody>
      </p:sp>
      <p:sp>
        <p:nvSpPr>
          <p:cNvPr id="14" name="Shape14"/>
          <p:cNvSpPr>
            <a:spLocks noGrp="1"/>
          </p:cNvSpPr>
          <p:nvPr/>
        </p:nvSpPr>
        <p:spPr>
          <a:xfrm>
            <a:off x="274320" y="2734056"/>
            <a:ext cx="1417320" cy="320040"/>
          </a:xfrm>
          <a:prstGeom prst="rect">
            <a:avLst/>
          </a:prstGeom>
          <a:solidFill>
            <a:srgbClr val="00000000"/>
          </a:solidFill>
          <a:effectLst/>
        </p:spPr>
        <p:txBody>
          <a:bodyPr anchor="ctr" wrap="square" vert="horz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100" b="0" i="0" dirty="0">
                <a:solidFill>
                  <a:srgbClr val="FFFFFF"/>
                </a:solidFill>
                <a:latin typeface="Calibri"/>
              </a:rPr>
              <a:t>tcp.ack</a:t>
            </a:r>
          </a:p>
        </p:txBody>
      </p:sp>
      <p:sp>
        <p:nvSpPr>
          <p:cNvPr id="24" name="Shape24"/>
          <p:cNvSpPr>
            <a:spLocks noGrp="1"/>
          </p:cNvSpPr>
          <p:nvPr/>
        </p:nvSpPr>
        <p:spPr>
          <a:xfrm>
            <a:off x="1737360" y="2734056"/>
            <a:ext cx="2771296" cy="292608"/>
          </a:xfrm>
          <a:prstGeom prst="roundRect">
            <a:avLst>
              <a:gd name="adj" fmla="val 5000"/>
            </a:avLst>
          </a:prstGeom>
          <a:gradFill>
            <a:gsLst>
              <a:gs pos="0">
                <a:srgbClr val="FF6B35"/>
              </a:gs>
              <a:gs pos="100000">
                <a:srgbClr val="0D1B2A"/>
              </a:gs>
            </a:gsLst>
            <a:lin ang="0" scaled="0"/>
          </a:gradFill>
          <a:effectLst/>
        </p:spPr>
        <p:txBody>
          <a:bodyPr anchor="ctr" wrap="square" vert="horz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1000" b="0" i="0" dirty="0">
                <a:solidFill>
                  <a:srgbClr val="FFFFFF"/>
                </a:solidFill>
                <a:latin typeface="Calibri"/>
              </a:rPr>
              <a:t>7,849</a:t>
            </a:r>
          </a:p>
        </p:txBody>
      </p:sp>
      <p:sp>
        <p:nvSpPr>
          <p:cNvPr id="15" name="Shape15"/>
          <p:cNvSpPr>
            <a:spLocks noGrp="1"/>
          </p:cNvSpPr>
          <p:nvPr/>
        </p:nvSpPr>
        <p:spPr>
          <a:xfrm>
            <a:off x="274320" y="3127248"/>
            <a:ext cx="1417320" cy="320040"/>
          </a:xfrm>
          <a:prstGeom prst="rect">
            <a:avLst/>
          </a:prstGeom>
          <a:solidFill>
            <a:srgbClr val="00000000"/>
          </a:solidFill>
          <a:effectLst/>
        </p:spPr>
        <p:txBody>
          <a:bodyPr anchor="ctr" wrap="square" vert="horz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100" b="0" i="0" dirty="0">
                <a:solidFill>
                  <a:srgbClr val="FFFFFF"/>
                </a:solidFill>
                <a:latin typeface="Calibri"/>
              </a:rPr>
              <a:t>tcp.ack_raw</a:t>
            </a:r>
          </a:p>
        </p:txBody>
      </p:sp>
      <p:sp>
        <p:nvSpPr>
          <p:cNvPr id="25" name="Shape25"/>
          <p:cNvSpPr>
            <a:spLocks noGrp="1"/>
          </p:cNvSpPr>
          <p:nvPr/>
        </p:nvSpPr>
        <p:spPr>
          <a:xfrm>
            <a:off x="1737360" y="3127248"/>
            <a:ext cx="2265691" cy="292608"/>
          </a:xfrm>
          <a:prstGeom prst="roundRect">
            <a:avLst>
              <a:gd name="adj" fmla="val 5000"/>
            </a:avLst>
          </a:prstGeom>
          <a:gradFill>
            <a:gsLst>
              <a:gs pos="0">
                <a:srgbClr val="FFD600"/>
              </a:gs>
              <a:gs pos="100000">
                <a:srgbClr val="0D1B2A"/>
              </a:gs>
            </a:gsLst>
            <a:lin ang="0" scaled="0"/>
          </a:gradFill>
          <a:effectLst/>
        </p:spPr>
        <p:txBody>
          <a:bodyPr anchor="ctr" wrap="square" vert="horz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1000" b="0" i="0" dirty="0">
                <a:solidFill>
                  <a:srgbClr val="FFFFFF"/>
                </a:solidFill>
                <a:latin typeface="Calibri"/>
              </a:rPr>
              <a:t>6,417</a:t>
            </a:r>
          </a:p>
        </p:txBody>
      </p:sp>
      <p:sp>
        <p:nvSpPr>
          <p:cNvPr id="16" name="Shape16"/>
          <p:cNvSpPr>
            <a:spLocks noGrp="1"/>
          </p:cNvSpPr>
          <p:nvPr/>
        </p:nvSpPr>
        <p:spPr>
          <a:xfrm>
            <a:off x="274320" y="3520440"/>
            <a:ext cx="1417320" cy="320040"/>
          </a:xfrm>
          <a:prstGeom prst="rect">
            <a:avLst/>
          </a:prstGeom>
          <a:solidFill>
            <a:srgbClr val="00000000"/>
          </a:solidFill>
          <a:effectLst/>
        </p:spPr>
        <p:txBody>
          <a:bodyPr anchor="ctr" wrap="square" vert="horz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100" b="0" i="0" dirty="0">
                <a:solidFill>
                  <a:srgbClr val="FFFFFF"/>
                </a:solidFill>
                <a:latin typeface="Calibri"/>
              </a:rPr>
              <a:t>tcp.checksum</a:t>
            </a:r>
          </a:p>
        </p:txBody>
      </p:sp>
      <p:sp>
        <p:nvSpPr>
          <p:cNvPr id="26" name="Shape26"/>
          <p:cNvSpPr>
            <a:spLocks noGrp="1"/>
          </p:cNvSpPr>
          <p:nvPr/>
        </p:nvSpPr>
        <p:spPr>
          <a:xfrm>
            <a:off x="1737360" y="3520440"/>
            <a:ext cx="2156943" cy="292608"/>
          </a:xfrm>
          <a:prstGeom prst="roundRect">
            <a:avLst>
              <a:gd name="adj" fmla="val 5000"/>
            </a:avLst>
          </a:prstGeom>
          <a:gradFill>
            <a:gsLst>
              <a:gs pos="0">
                <a:srgbClr val="00C6FF"/>
              </a:gs>
              <a:gs pos="100000">
                <a:srgbClr val="0D1B2A"/>
              </a:gs>
            </a:gsLst>
            <a:lin ang="0" scaled="0"/>
          </a:gradFill>
          <a:effectLst/>
        </p:spPr>
        <p:txBody>
          <a:bodyPr anchor="ctr" wrap="square" vert="horz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1000" b="0" i="0" dirty="0">
                <a:solidFill>
                  <a:srgbClr val="FFFFFF"/>
                </a:solidFill>
                <a:latin typeface="Calibri"/>
              </a:rPr>
              <a:t>6,109</a:t>
            </a:r>
          </a:p>
        </p:txBody>
      </p:sp>
      <p:sp>
        <p:nvSpPr>
          <p:cNvPr id="17" name="Shape17"/>
          <p:cNvSpPr>
            <a:spLocks noGrp="1"/>
          </p:cNvSpPr>
          <p:nvPr/>
        </p:nvSpPr>
        <p:spPr>
          <a:xfrm>
            <a:off x="274320" y="3913632"/>
            <a:ext cx="1417320" cy="320040"/>
          </a:xfrm>
          <a:prstGeom prst="rect">
            <a:avLst/>
          </a:prstGeom>
          <a:solidFill>
            <a:srgbClr val="00000000"/>
          </a:solidFill>
          <a:effectLst/>
        </p:spPr>
        <p:txBody>
          <a:bodyPr anchor="ctr" wrap="square" vert="horz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100" b="0" i="0" dirty="0">
                <a:solidFill>
                  <a:srgbClr val="FFFFFF"/>
                </a:solidFill>
                <a:latin typeface="Calibri"/>
              </a:rPr>
              <a:t>tcp.seq</a:t>
            </a:r>
          </a:p>
        </p:txBody>
      </p:sp>
      <p:sp>
        <p:nvSpPr>
          <p:cNvPr id="27" name="Shape27"/>
          <p:cNvSpPr>
            <a:spLocks noGrp="1"/>
          </p:cNvSpPr>
          <p:nvPr/>
        </p:nvSpPr>
        <p:spPr>
          <a:xfrm>
            <a:off x="1737360" y="3913632"/>
            <a:ext cx="1492100" cy="292608"/>
          </a:xfrm>
          <a:prstGeom prst="roundRect">
            <a:avLst>
              <a:gd name="adj" fmla="val 5000"/>
            </a:avLst>
          </a:prstGeom>
          <a:gradFill>
            <a:gsLst>
              <a:gs pos="0">
                <a:srgbClr val="7B2FBE"/>
              </a:gs>
              <a:gs pos="100000">
                <a:srgbClr val="0D1B2A"/>
              </a:gs>
            </a:gsLst>
            <a:lin ang="0" scaled="0"/>
          </a:gradFill>
          <a:effectLst/>
        </p:spPr>
        <p:txBody>
          <a:bodyPr anchor="ctr" wrap="square" vert="horz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1000" b="0" i="0" dirty="0">
                <a:solidFill>
                  <a:srgbClr val="FFFFFF"/>
                </a:solidFill>
                <a:latin typeface="Calibri"/>
              </a:rPr>
              <a:t>4,226</a:t>
            </a:r>
          </a:p>
        </p:txBody>
      </p:sp>
      <p:sp>
        <p:nvSpPr>
          <p:cNvPr id="18" name="Shape18"/>
          <p:cNvSpPr>
            <a:spLocks noGrp="1"/>
          </p:cNvSpPr>
          <p:nvPr/>
        </p:nvSpPr>
        <p:spPr>
          <a:xfrm>
            <a:off x="274320" y="4306824"/>
            <a:ext cx="1417320" cy="320040"/>
          </a:xfrm>
          <a:prstGeom prst="rect">
            <a:avLst/>
          </a:prstGeom>
          <a:solidFill>
            <a:srgbClr val="00000000"/>
          </a:solidFill>
          <a:effectLst/>
        </p:spPr>
        <p:txBody>
          <a:bodyPr anchor="ctr" wrap="square" vert="horz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100" b="0" i="0" dirty="0">
                <a:solidFill>
                  <a:srgbClr val="FFFFFF"/>
                </a:solidFill>
                <a:latin typeface="Calibri"/>
              </a:rPr>
              <a:t>http.request.method</a:t>
            </a:r>
          </a:p>
        </p:txBody>
      </p:sp>
      <p:sp>
        <p:nvSpPr>
          <p:cNvPr id="28" name="Shape28"/>
          <p:cNvSpPr>
            <a:spLocks noGrp="1"/>
          </p:cNvSpPr>
          <p:nvPr/>
        </p:nvSpPr>
        <p:spPr>
          <a:xfrm>
            <a:off x="1737360" y="4306824"/>
            <a:ext cx="781358" cy="292608"/>
          </a:xfrm>
          <a:prstGeom prst="roundRect">
            <a:avLst>
              <a:gd name="adj" fmla="val 5000"/>
            </a:avLst>
          </a:prstGeom>
          <a:gradFill>
            <a:gsLst>
              <a:gs pos="0">
                <a:srgbClr val="00E676"/>
              </a:gs>
              <a:gs pos="100000">
                <a:srgbClr val="0D1B2A"/>
              </a:gs>
            </a:gsLst>
            <a:lin ang="0" scaled="0"/>
          </a:gradFill>
          <a:effectLst/>
        </p:spPr>
        <p:txBody>
          <a:bodyPr anchor="ctr" wrap="square" vert="horz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1000" b="0" i="0" dirty="0">
                <a:solidFill>
                  <a:srgbClr val="FFFFFF"/>
                </a:solidFill>
                <a:latin typeface="Calibri"/>
              </a:rPr>
              <a:t>2,213</a:t>
            </a:r>
          </a:p>
        </p:txBody>
      </p:sp>
      <p:sp>
        <p:nvSpPr>
          <p:cNvPr id="19" name="Shape19"/>
          <p:cNvSpPr>
            <a:spLocks noGrp="1"/>
          </p:cNvSpPr>
          <p:nvPr/>
        </p:nvSpPr>
        <p:spPr>
          <a:xfrm>
            <a:off x="274320" y="4700016"/>
            <a:ext cx="1417320" cy="320040"/>
          </a:xfrm>
          <a:prstGeom prst="rect">
            <a:avLst/>
          </a:prstGeom>
          <a:solidFill>
            <a:srgbClr val="00000000"/>
          </a:solidFill>
          <a:effectLst/>
        </p:spPr>
        <p:txBody>
          <a:bodyPr anchor="ctr" wrap="square" vert="horz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100" b="0" i="0" dirty="0">
                <a:solidFill>
                  <a:srgbClr val="FFFFFF"/>
                </a:solidFill>
                <a:latin typeface="Calibri"/>
              </a:rPr>
              <a:t>tcp.len</a:t>
            </a:r>
          </a:p>
        </p:txBody>
      </p:sp>
      <p:sp>
        <p:nvSpPr>
          <p:cNvPr id="29" name="Shape29"/>
          <p:cNvSpPr>
            <a:spLocks noGrp="1"/>
          </p:cNvSpPr>
          <p:nvPr/>
        </p:nvSpPr>
        <p:spPr>
          <a:xfrm>
            <a:off x="1737360" y="4700016"/>
            <a:ext cx="770059" cy="292608"/>
          </a:xfrm>
          <a:prstGeom prst="roundRect">
            <a:avLst>
              <a:gd name="adj" fmla="val 5000"/>
            </a:avLst>
          </a:prstGeom>
          <a:gradFill>
            <a:gsLst>
              <a:gs pos="0">
                <a:srgbClr val="FF6B35"/>
              </a:gs>
              <a:gs pos="100000">
                <a:srgbClr val="0D1B2A"/>
              </a:gs>
            </a:gsLst>
            <a:lin ang="0" scaled="0"/>
          </a:gradFill>
          <a:effectLst/>
        </p:spPr>
        <p:txBody>
          <a:bodyPr anchor="ctr" wrap="square" vert="horz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1000" b="0" i="0" dirty="0">
                <a:solidFill>
                  <a:srgbClr val="FFFFFF"/>
                </a:solidFill>
                <a:latin typeface="Calibri"/>
              </a:rPr>
              <a:t>2,181</a:t>
            </a:r>
          </a:p>
        </p:txBody>
      </p:sp>
      <p:sp>
        <p:nvSpPr>
          <p:cNvPr id="20" name="Shape20"/>
          <p:cNvSpPr>
            <a:spLocks noGrp="1"/>
          </p:cNvSpPr>
          <p:nvPr/>
        </p:nvSpPr>
        <p:spPr>
          <a:xfrm>
            <a:off x="274320" y="5093208"/>
            <a:ext cx="1417320" cy="320040"/>
          </a:xfrm>
          <a:prstGeom prst="rect">
            <a:avLst/>
          </a:prstGeom>
          <a:solidFill>
            <a:srgbClr val="00000000"/>
          </a:solidFill>
          <a:effectLst/>
        </p:spPr>
        <p:txBody>
          <a:bodyPr anchor="ctr" wrap="square" vert="horz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100" b="0" i="0" dirty="0">
                <a:solidFill>
                  <a:srgbClr val="FFFFFF"/>
                </a:solidFill>
                <a:latin typeface="Calibri"/>
              </a:rPr>
              <a:t>udp.stream</a:t>
            </a:r>
          </a:p>
        </p:txBody>
      </p:sp>
      <p:sp>
        <p:nvSpPr>
          <p:cNvPr id="30" name="Shape30"/>
          <p:cNvSpPr>
            <a:spLocks noGrp="1"/>
          </p:cNvSpPr>
          <p:nvPr/>
        </p:nvSpPr>
        <p:spPr>
          <a:xfrm>
            <a:off x="1737360" y="5093208"/>
            <a:ext cx="709330" cy="292608"/>
          </a:xfrm>
          <a:prstGeom prst="roundRect">
            <a:avLst>
              <a:gd name="adj" fmla="val 5000"/>
            </a:avLst>
          </a:prstGeom>
          <a:gradFill>
            <a:gsLst>
              <a:gs pos="0">
                <a:srgbClr val="FFD600"/>
              </a:gs>
              <a:gs pos="100000">
                <a:srgbClr val="0D1B2A"/>
              </a:gs>
            </a:gsLst>
            <a:lin ang="0" scaled="0"/>
          </a:gradFill>
          <a:effectLst/>
        </p:spPr>
        <p:txBody>
          <a:bodyPr anchor="ctr" wrap="square" vert="horz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1000" b="0" i="0" dirty="0">
                <a:solidFill>
                  <a:srgbClr val="FFFFFF"/>
                </a:solidFill>
                <a:latin typeface="Calibri"/>
              </a:rPr>
              <a:t>2,009</a:t>
            </a:r>
          </a:p>
        </p:txBody>
      </p:sp>
      <p:sp>
        <p:nvSpPr>
          <p:cNvPr id="31" name="Shape31"/>
          <p:cNvSpPr>
            <a:spLocks noGrp="1"/>
          </p:cNvSpPr>
          <p:nvPr/>
        </p:nvSpPr>
        <p:spPr>
          <a:xfrm>
            <a:off x="7132320" y="960120"/>
            <a:ext cx="3749039" cy="5120640"/>
          </a:xfrm>
          <a:prstGeom prst="roundRect">
            <a:avLst>
              <a:gd name="adj" fmla="val 10000"/>
            </a:avLst>
          </a:prstGeom>
          <a:gradFill>
            <a:gsLst>
              <a:gs pos="0">
                <a:srgbClr val="0D1B2A"/>
              </a:gs>
              <a:gs pos="100000">
                <a:srgbClr val="060B18"/>
              </a:gs>
            </a:gsLst>
            <a:lin ang="5400000" scaled="0"/>
          </a:gradFill>
          <a:ln w="19050">
            <a:solidFill>
              <a:srgbClr val="00C6FF"/>
            </a:solidFill>
          </a:ln>
          <a:effectLst/>
        </p:spPr>
        <p:txBody>
          <a:bodyPr anchor="t" wrap="square" vert="horz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600" b="1" i="0" dirty="0">
                <a:solidFill>
                  <a:srgbClr val="00C6FF"/>
                </a:solidFill>
                <a:latin typeface="Calibri"/>
              </a:rPr>
              <a:t>Key Insights</a:t>
            </a:r>
          </a:p>
          <a:p>
            <a:endParaRPr lang="en-US" dirty="0"/>
          </a:p>
          <a:p>
            <a:pPr algn="l">
              <a:lnSpc>
                <a:spcPct val="100000"/>
              </a:lnSpc>
            </a:pPr>
            <a:r>
              <a:rPr lang="en-US" sz="1250" b="0" i="0" dirty="0">
                <a:solidFill>
                  <a:srgbClr val="FFFFFF"/>
                </a:solidFill>
                <a:latin typeface="Calibri"/>
              </a:rPr>
              <a:t>🔹 TCP port features dominate (srcport, dstport)</a:t>
            </a:r>
          </a:p>
          <a:p>
            <a:pPr algn="l">
              <a:lnSpc>
                <a:spcPct val="100000"/>
              </a:lnSpc>
            </a:pPr>
            <a:r>
              <a:rPr lang="en-US" sz="1150" b="0" i="0" dirty="0">
                <a:solidFill>
                  <a:srgbClr val="B0BEC5"/>
                </a:solidFill>
                <a:latin typeface="Calibri"/>
              </a:rPr>
              <a:t>   Different attack types use different ports.</a:t>
            </a:r>
          </a:p>
          <a:p>
            <a:endParaRPr lang="en-US" dirty="0"/>
          </a:p>
          <a:p>
            <a:pPr algn="l">
              <a:lnSpc>
                <a:spcPct val="100000"/>
              </a:lnSpc>
            </a:pPr>
            <a:r>
              <a:rPr lang="en-US" sz="1250" b="0" i="0" dirty="0">
                <a:solidFill>
                  <a:srgbClr val="FFFFFF"/>
                </a:solidFill>
                <a:latin typeface="Calibri"/>
              </a:rPr>
              <a:t>🔹 TCP control fields are highly discriminative</a:t>
            </a:r>
          </a:p>
          <a:p>
            <a:pPr algn="l">
              <a:lnSpc>
                <a:spcPct val="100000"/>
              </a:lnSpc>
            </a:pPr>
            <a:r>
              <a:rPr lang="en-US" sz="1150" b="0" i="0" dirty="0">
                <a:solidFill>
                  <a:srgbClr val="B0BEC5"/>
                </a:solidFill>
                <a:latin typeface="Calibri"/>
              </a:rPr>
              <a:t>   (ack, seq, checksum, options, flags)</a:t>
            </a:r>
          </a:p>
          <a:p>
            <a:endParaRPr lang="en-US" dirty="0"/>
          </a:p>
          <a:p>
            <a:pPr algn="l">
              <a:lnSpc>
                <a:spcPct val="100000"/>
              </a:lnSpc>
            </a:pPr>
            <a:r>
              <a:rPr lang="en-US" sz="1250" b="0" i="0" dirty="0">
                <a:solidFill>
                  <a:srgbClr val="FFFFFF"/>
                </a:solidFill>
                <a:latin typeface="Calibri"/>
              </a:rPr>
              <a:t>🔹 HTTP request method distinguishes web attacks</a:t>
            </a:r>
          </a:p>
          <a:p>
            <a:pPr algn="l">
              <a:lnSpc>
                <a:spcPct val="100000"/>
              </a:lnSpc>
            </a:pPr>
            <a:r>
              <a:rPr lang="en-US" sz="1150" b="0" i="0" dirty="0">
                <a:solidFill>
                  <a:srgbClr val="B0BEC5"/>
                </a:solidFill>
                <a:latin typeface="Calibri"/>
              </a:rPr>
              <a:t>   (SQL injection, XSS, upload attacks)</a:t>
            </a:r>
          </a:p>
          <a:p>
            <a:endParaRPr lang="en-US" dirty="0"/>
          </a:p>
          <a:p>
            <a:pPr algn="l">
              <a:lnSpc>
                <a:spcPct val="100000"/>
              </a:lnSpc>
            </a:pPr>
            <a:r>
              <a:rPr lang="en-US" sz="1250" b="0" i="0" dirty="0">
                <a:solidFill>
                  <a:srgbClr val="B0BEC5"/>
                </a:solidFill>
                <a:latin typeface="Calibri"/>
              </a:rPr>
              <a:t>🔹 ARP / DNS / MQTT fields score near zero</a:t>
            </a:r>
          </a:p>
          <a:p>
            <a:pPr algn="l">
              <a:lnSpc>
                <a:spcPct val="100000"/>
              </a:lnSpc>
            </a:pPr>
            <a:r>
              <a:rPr lang="en-US" sz="1150" b="0" i="0" dirty="0">
                <a:solidFill>
                  <a:srgbClr val="B0BEC5"/>
                </a:solidFill>
                <a:latin typeface="Calibri"/>
              </a:rPr>
              <a:t>   → Could be pruned to reduce model size</a:t>
            </a:r>
          </a:p>
          <a:p>
            <a:endParaRPr lang="en-US" dirty="0"/>
          </a:p>
          <a:p>
            <a:pPr algn="l">
              <a:lnSpc>
                <a:spcPct val="100000"/>
              </a:lnSpc>
            </a:pPr>
            <a:r>
              <a:rPr lang="en-US" sz="1300" b="1" i="0" dirty="0">
                <a:solidFill>
                  <a:srgbClr val="FFD600"/>
                </a:solidFill>
                <a:latin typeface="Calibri"/>
              </a:rPr>
              <a:t>Model uses 51 features → 11 carry 90%+ of signal</a:t>
            </a:r>
          </a:p>
        </p:txBody>
      </p:sp>
    </p:spTree>
  </p:cSld>
</p:sld>
</file>

<file path=ppt/slides/slide12.xml><?xml version="1.0" encoding="UTF-8" standalone="yes"?>
<p:sld xmlns:p="http://schemas.openxmlformats.org/presentationml/2006/main"
       xmlns:a="http://schemas.openxmlformats.org/drawingml/2006/main"
       xmlns:r="http://schemas.openxmlformats.org/officeDocument/2006/relationships">
  <p:cSld>
    <p:spTree>
      <p:nvGrpSpPr>
        <p:cNvPr id="1" name=""/>
        <p:cNvGrpSpPr/>
        <p:nvPr/>
      </p:nvGrpSpPr>
      <p:grpSpPr>
        <a:xfrm><a:off x="0" y="0"/><a:ext cx="12192000" cy="6858000"/>
        <a:chOff x="0" y="0"/><a:chExt cx="12192000" cy="6858000"/></a:xfrm>
      </p:grpSpPr>
      <p:sp>
  <p:nvSpPr>
    <p:cNvPr id="2" name="Shape2"/>
    <p:cNvSpPr><a:spLocks noGrp="1"/></p:cNvSpPr>
    <p:nvPr/>
  </p:nvSpPr>
  <p:spPr>
  <a:xfrm><a:off x="0" y="0"/><a:ext cx="12192000" cy="6858000"/></a:xfrm>
  <a:prstGeom prst="rect"><a:avLst/></a:prstGeom>
  <a:gradFill><a:gsLst>
      <a:gs pos="0"><a:srgbClr val="060B18"/></a:gs>
      <a:gs pos="100000"><a:srgbClr val="0D1B2A"/></a:gs>
    </a:gsLst><a:lin ang="5400000" scaled="0"/></a:gradFill>
  
  <a:effectLst/>
</p:spPr>
  <p:txBody>
  <a:bodyPr anchor="ctr" wrap="square" vert="horz">
    <a:normAutofit/>
  </a:bodyPr>
  <a:lstStyle/>
  <a:p><a:endParaRPr lang="en-US" dirty="0"/></a:p>
</p:txBody>
</p:sp>
<p:sp>
  <p:nvSpPr>
    <p:cNvPr id="3" name="Shape3"/>
    <p:cNvSpPr><a:spLocks noGrp="1"/></p:cNvSpPr>
    <p:nvPr/>
  </p:nvSpPr>
  <p:spPr>
  <a:xfrm><a:off x="0" y="0"/><a:ext cx="12192000" cy="777240"/></a:xfrm>
  <a:prstGeom prst="rect"><a:avLst/></a:prstGeom>
  <a:gradFill><a:gsLst>
      <a:gs pos="0"><a:srgbClr val="7B2FBE"/></a:gs>
      <a:gs pos="100000"><a:srgbClr val="00C6FF"/></a:gs>
    </a:gsLst><a:lin ang="0" scaled="0"/></a:gradFill>
  
  <a:effectLst/>
</p:spPr>
  <p:txBody>
  <a:bodyPr anchor="ctr" wrap="square" vert="horz">
    <a:normAutofit/>
  </a:bodyPr>
  <a:lstStyle/>
  <a:p><a:endParaRPr lang="en-US" dirty="0"/></a:p>
</p:txBody>
</p:sp>
<p:sp>
  <p:nvSpPr>
    <p:cNvPr id="4" name="Shape4"/>
    <p:cNvSpPr><a:spLocks noGrp="1"/></p:cNvSpPr>
    <p:nvPr/>
  </p:nvSpPr>
  <p:spPr>
  <a:xfrm><a:off x="0" y="777240"/><a:ext cx="54864" cy="6080760"/></a:xfrm>
  <a:prstGeom prst="rect"><a:avLst/></a:prstGeom>
  <a:solidFill><a:srgbClr val="00C6FF"/></a:solidFill>
  
  <a:effectLst/>
</p:spPr>
  <p:txBody>
  <a:bodyPr anchor="ctr" wrap="square" vert="horz">
    <a:normAutofit/>
  </a:bodyPr>
  <a:lstStyle/>
  <a:p><a:endParaRPr lang="en-US" dirty="0"/></a:p>
</p:txBody>
</p:sp>
<p:sp>
  <p:nvSpPr>
    <p:cNvPr id="5" name="Shape5"/>
    <p:cNvSpPr><a:spLocks noGrp="1"/></p:cNvSpPr>
    <p:nvPr/>
  </p:nvSpPr>
  <p:spPr>
  <a:xfrm><a:off x="0" y="6784848"/><a:ext cx="12192000" cy="73152"/></a:xfrm>
  <a:prstGeom prst="rect"><a:avLst/></a:prstGeom>
  <a:solidFill><a:srgbClr val="7B2FBE"/></a:solidFill>
  
  <a:effectLst/>
</p:spPr>
  <p:txBody>
  <a:bodyPr anchor="ctr" wrap="square" vert="horz">
    <a:normAutofit/>
  </a:bodyPr>
  <a:lstStyle/>
  <a:p><a:endParaRPr lang="en-US" dirty="0"/></a:p>
</p:txBody>
</p:sp>
<p:sp>
  <p:nvSpPr>
    <p:cNvPr id="6" name="Shape6"/>
    <p:cNvSpPr><a:spLocks noGrp="1"/></p:cNvSpPr>
    <p:nvPr/>
  </p:nvSpPr>
  <p:spPr>
  <a:xfrm><a:off x="11643360" y="6446520"/><a:ext cx="457200" cy="320040"/></a:xfrm>
  <a:prstGeom prst="rect"><a:avLst/></a:prstGeom>
  <a:solidFill><a:srgbClr val="00000000"/></a:solidFill>
  
  <a:effectLst/>
</p:spPr>
  <p:txBody>
  <a:bodyPr anchor="ctr" wrap="square" vert="horz">
    <a:normAutofit/>
  </a:bodyPr>
  <a:lstStyle/>
  <a:p>
  <a:pPr algn="r"><a:lnSpc><a:spcPct val="100000"/></a:lnSpc></a:pPr>
  <a:r><a:rPr lang="en-US" sz="1100" b="0" i="0" dirty="0">
    <a:solidFill><a:srgbClr val="B0BEC5"/></a:solidFill>
    <a:latin typeface="Calibri"/>
  </a:rPr><a:t>12</a:t></a:r>
</a:p>
</p:txBody>
</p:sp>
<p:sp>
  <p:nvSpPr>
    <p:cNvPr id="7" name="Shape7"/>
    <p:cNvSpPr><a:spLocks noGrp="1"/></p:cNvSpPr>
    <p:nvPr/>
  </p:nvSpPr>
  <p:spPr>
  <a:xfrm><a:off x="228600" y="73152"/><a:ext cx="11734800" cy="658368"/></a:xfrm>
  <a:prstGeom prst="rect"><a:avLst/></a:prstGeom>
  <a:solidFill><a:srgbClr val="00000000"/></a:solidFill>
  
  <a:effectLst/>
</p:spPr>
  <p:txBody>
  <a:bodyPr anchor="ctr" wrap="square" vert="horz">
    <a:normAutofit/>
  </a:bodyPr>
  <a:lstStyle/>
  <a:p>
  <a:pPr algn="l"><a:lnSpc><a:spcPct val="100000"/></a:lnSpc></a:pPr>
  <a:r><a:rPr lang="en-US" sz="2400" b="1" i="0" dirty="0">
    <a:solidFill><a:srgbClr val="FFFFFF"/></a:solidFill>
    <a:latin typeface="Calibri"/>
  </a:rPr><a:t>✅  Conclusions & Future Work</a:t></a:r>
</a:p>
</p:txBody>
</p:sp>
<p:sp>
  <p:nvSpPr>
    <p:cNvPr id="10" name="Shape10"/>
    <p:cNvSpPr><a:spLocks noGrp="1"/></p:cNvSpPr>
    <p:nvPr/>
  </p:nvSpPr>
  <p:spPr>
  <a:xfrm><a:off x="274320" y="960120"/><a:ext cx="5212080" cy="5029200"/></a:xfrm>
  <a:prstGeom prst="roundRect"><a:avLst><a:gd name="adj" fmla="val 10000"/></a:avLst></a:prstGeom>
  <a:gradFill><a:gsLst>
      <a:gs pos="0"><a:srgbClr val="001A00"/></a:gs>
      <a:gs pos="100000"><a:srgbClr val="0D1B2A"/></a:gs>
    </a:gsLst><a:lin ang="5400000" scaled="0"/></a:gradFill>
  <a:ln w="19050"><a:solidFill><a:srgbClr val="00E676"/></a:solidFill></a:ln>
  <a:effectLst/>
</p:spPr>
  <p:txBody>
  <a:bodyPr anchor="t" wrap="square" vert="horz">
    <a:normAutofit/>
  </a:bodyPr>
  <a:lstStyle/>
  <a:p>
  <a:pPr algn="l"><a:lnSpc><a:spcPct val="100000"/></a:lnSpc></a:pPr>
  <a:r><a:rPr lang="en-US" sz="1700" b="1" i="0" dirty="0">
    <a:solidFill><a:srgbClr val="00E676"/></a:solidFill>
    <a:latin typeface="Calibri"/>
  </a:rPr><a:t>Conclusions</a:t></a:r>
</a:p><a:p><a:endParaRPr lang="en-US" dirty="0"/></a:p><a:p>
  <a:pPr algn="l"><a:lnSpc><a:spcPct val="100000"/></a:lnSpc></a:pPr>
  <a:r><a:rPr lang="en-US" sz="1300" b="0" i="0" dirty="0">
    <a:solidFill><a:srgbClr val="FFFFFF"/></a:solidFill>
    <a:latin typeface="Calibri"/>
  </a:rPr><a:t>✅  Hybrid IDS successfully detects both known attacks</a:t></a:r>
</a:p><a:p>
  <a:pPr algn="l"><a:lnSpc><a:spcPct val="100000"/></a:lnSpc></a:pPr>
  <a:r><a:rPr lang="en-US" sz="1200" b="0" i="0" dirty="0">
    <a:solidFill><a:srgbClr val="B0BEC5"/></a:solidFill>
    <a:latin typeface="Calibri"/>
  </a:rPr><a:t>     and zero-day threats simultaneously.</a:t></a:r>
</a:p><a:p><a:endParaRPr lang="en-US" dirty="0"/></a:p><a:p>
  <a:pPr algn="l"><a:lnSpc><a:spcPct val="100000"/></a:lnSpc></a:pPr>
  <a:r><a:rPr lang="en-US" sz="1300" b="0" i="0" dirty="0">
    <a:solidFill><a:srgbClr val="FFFFFF"/></a:solidFill>
    <a:latin typeface="Calibri"/>
  </a:rPr><a:t>✅  LightGBM achieves 99.99% accuracy on 10 known</a:t></a:r>
</a:p><a:p>
  <a:pPr algn="l"><a:lnSpc><a:spcPct val="100000"/></a:lnSpc></a:pPr>
  <a:r><a:rPr lang="en-US" sz="1200" b="0" i="0" dirty="0">
    <a:solidFill><a:srgbClr val="B0BEC5"/></a:solidFill>
    <a:latin typeface="Calibri"/>
  </a:rPr><a:t>     attack types — near-perfect classification.</a:t></a:r>
</a:p><a:p><a:endParaRPr lang="en-US" dirty="0"/></a:p><a:p>
  <a:pPr algn="l"><a:lnSpc><a:spcPct val="100000"/></a:lnSpc></a:pPr>
  <a:r><a:rPr lang="en-US" sz="1300" b="0" i="0" dirty="0">
    <a:solidFill><a:srgbClr val="FFFFFF"/></a:solidFill>
    <a:latin typeface="Calibri"/>
  </a:rPr><a:t>✅  Autoencoder detects 5 unseen zero-day attack</a:t></a:r>
</a:p><a:p>
  <a:pPr algn="l"><a:lnSpc><a:spcPct val="100000"/></a:lnSpc></a:pPr>
  <a:r><a:rPr lang="en-US" sz="1200" b="0" i="0" dirty="0">
    <a:solidFill><a:srgbClr val="B0BEC5"/></a:solidFill>
    <a:latin typeface="Calibri"/>
  </a:rPr><a:t>     types with 99.19% overall accuracy.</a:t></a:r>
</a:p><a:p><a:endParaRPr lang="en-US" dirty="0"/></a:p><a:p>
  <a:pPr algn="l"><a:lnSpc><a:spcPct val="100000"/></a:lnSpc></a:pPr>
  <a:r><a:rPr lang="en-US" sz="1300" b="0" i="0" dirty="0">
    <a:solidFill><a:srgbClr val="FFFFFF"/></a:solidFill>
    <a:latin typeface="Calibri"/>
  </a:rPr><a:t>✅  Fusion Model: 96.82% on zero-day scenario</a:t></a:r>
</a:p><a:p>
  <a:pPr algn="l"><a:lnSpc><a:spcPct val="100000"/></a:lnSpc></a:pPr>
  <a:r><a:rPr lang="en-US" sz="1200" b="0" i="0" dirty="0">
    <a:solidFill><a:srgbClr val="B0BEC5"/></a:solidFill>
    <a:latin typeface="Calibri"/>
  </a:rPr><a:t>     vs Isolation Forest baseline of only 49%.</a:t></a:r>
</a:p><a:p><a:endParaRPr lang="en-US" dirty="0"/></a:p><a:p>
  <a:pPr algn="l"><a:lnSpc><a:spcPct val="100000"/></a:lnSpc></a:pPr>
  <a:r><a:rPr lang="en-US" sz="1300" b="0" i="0" dirty="0">
    <a:solidFill><a:srgbClr val="FFFFFF"/></a:solidFill>
    <a:latin typeface="Calibri"/>
  </a:rPr><a:t>✅  11,907 parameter Autoencoder — deployable on</a:t></a:r>
</a:p><a:p>
  <a:pPr algn="l"><a:lnSpc><a:spcPct val="100000"/></a:lnSpc></a:pPr>
  <a:r><a:rPr lang="en-US" sz="1200" b="0" i="0" dirty="0">
    <a:solidFill><a:srgbClr val="B0BEC5"/></a:solidFill>
    <a:latin typeface="Calibri"/>
  </a:rPr><a:t>     resource-constrained IoT edge devices.</a:t></a:r>
</a:p>
</p:txBody>
</p:sp><p:sp>
  <p:nvSpPr>
    <p:cNvPr id="11" name="Shape11"/>
    <p:cNvSpPr><a:spLocks noGrp="1"/></p:cNvSpPr>
    <p:nvPr/>
  </p:nvSpPr>
  <p:spPr>
  <a:xfrm><a:off x="5669280" y="960120"/><a:ext cx="5212080" cy="5029200"/></a:xfrm>
  <a:prstGeom prst="roundRect"><a:avLst><a:gd name="adj" fmla="val 10000"/></a:avLst></a:prstGeom>
  <a:gradFill><a:gsLst>
      <a:gs pos="0"><a:srgbClr val="07001A"/></a:gs>
      <a:gs pos="100000"><a:srgbClr val="0D1B2A"/></a:gs>
    </a:gsLst><a:lin ang="5400000" scaled="0"/></a:gradFill>
  <a:ln w="19050"><a:solidFill><a:srgbClr val="7B2FBE"/></a:solidFill></a:ln>
  <a:effectLst/>
</p:spPr>
  <p:txBody>
  <a:bodyPr anchor="t" wrap="square" vert="horz">
    <a:normAutofit/>
  </a:bodyPr>
  <a:lstStyle/>
  <a:p>
  <a:pPr algn="l"><a:lnSpc><a:spcPct val="100000"/></a:lnSpc></a:pPr>
  <a:r><a:rPr lang="en-US" sz="1700" b="1" i="0" dirty="0">
    <a:solidFill><a:srgbClr val="7B2FBE"/></a:solidFill>
    <a:latin typeface="Calibri"/>
  </a:rPr><a:t>Future Work</a:t></a:r>
</a:p><a:p><a:endParaRPr lang="en-US" dirty="0"/></a:p><a:p>
  <a:pPr algn="l"><a:lnSpc><a:spcPct val="100000"/></a:lnSpc></a:pPr>
  <a:r><a:rPr lang="en-US" sz="1300" b="0" i="0" dirty="0">
    <a:solidFill><a:srgbClr val="FFFFFF"/></a:solidFill>
    <a:latin typeface="Calibri"/>
  </a:rPr><a:t>🔮  Real-time packet capture & live inference</a:t></a:r>
</a:p><a:p>
  <a:pPr algn="l"><a:lnSpc><a:spcPct val="100000"/></a:lnSpc></a:pPr>
  <a:r><a:rPr lang="en-US" sz="1300" b="0" i="0" dirty="0">
    <a:solidFill><a:srgbClr val="FFFFFF"/></a:solidFill>
    <a:latin typeface="Calibri"/>
  </a:rPr><a:t>🔮  Deploy on actual IoT hardware (Raspberry Pi)</a:t></a:r>
</a:p><a:p>
  <a:pPr algn="l"><a:lnSpc><a:spcPct val="100000"/></a:lnSpc></a:pPr>
  <a:r><a:rPr lang="en-US" sz="1300" b="0" i="0" dirty="0">
    <a:solidFill><a:srgbClr val="FFFFFF"/></a:solidFill>
    <a:latin typeface="Calibri"/>
  </a:rPr><a:t>🔮  Identify specific zero-day attack category</a:t></a:r>
</a:p><a:p>
  <a:pPr algn="l"><a:lnSpc><a:spcPct val="100000"/></a:lnSpc></a:pPr>
  <a:r><a:rPr lang="en-US" sz="1300" b="0" i="0" dirty="0">
    <a:solidFill><a:srgbClr val="FFFFFF"/></a:solidFill>
    <a:latin typeface="Calibri"/>
  </a:rPr><a:t>🔮  Continual learning — model updates online</a:t></a:r>
</a:p><a:p>
  <a:pPr algn="l"><a:lnSpc><a:spcPct val="100000"/></a:lnSpc></a:pPr>
  <a:r><a:rPr lang="en-US" sz="1300" b="0" i="0" dirty="0">
    <a:solidFill><a:srgbClr val="FFFFFF"/></a:solidFill>
    <a:latin typeface="Calibri"/>
  </a:rPr><a:t>🔮  GAN-based anomaly detection for richer signal</a:t></a:r>
</a:p><a:p>
  <a:pPr algn="l"><a:lnSpc><a:spcPct val="100000"/></a:lnSpc></a:pPr>
  <a:r><a:rPr lang="en-US" sz="1300" b="0" i="0" dirty="0">
    <a:solidFill><a:srgbClr val="FFFFFF"/></a:solidFill>
    <a:latin typeface="Calibri"/>
  </a:rPr><a:t>🔮  Federated learning across distributed IoT nodes</a:t></a:r>
</a:p><a:p><a:endParaRPr lang="en-US" dirty="0"/></a:p><a:p>
  <a:pPr algn="l"><a:lnSpc><a:spcPct val="100000"/></a:lnSpc></a:pPr>
  <a:r><a:rPr lang="en-US" sz="1400" b="1" i="0" dirty="0">
    <a:solidFill><a:srgbClr val="FF6B35"/></a:solidFill>
    <a:latin typeface="Calibri"/>
  </a:rPr><a:t>Dataset Limitation:</a:t></a:r>
</a:p><a:p>
  <a:pPr algn="l"><a:lnSpc><a:spcPct val="100000"/></a:lnSpc></a:pPr>
  <a:r><a:rPr lang="en-US" sz="1200" b="0" i="0" dirty="0">
    <a:solidFill><a:srgbClr val="B0BEC5"/></a:solidFill>
    <a:latin typeface="Calibri"/>
  </a:rPr><a:t>Lab-collected traffic — real-world deployment</a:t></a:r>
</a:p><a:p>
  <a:pPr algn="l"><a:lnSpc><a:spcPct val="100000"/></a:lnSpc></a:pPr>
  <a:r><a:rPr lang="en-US" sz="1200" b="0" i="0" dirty="0">
    <a:solidFill><a:srgbClr val="B0BEC5"/></a:solidFill>
    <a:latin typeface="Calibri"/>
  </a:rPr><a:t>may show different distributions.</a:t></a:r>
</a:p>
</p:txBody>
</p:sp>
    </p:spTree>
  </p:cSld>
</p:sld>
</file>

<file path=ppt/slides/slide13.xml><?xml version="1.0" encoding="UTF-8" standalone="yes"?>
<p:sld xmlns:p="http://schemas.openxmlformats.org/presentationml/2006/main"
       xmlns:a="http://schemas.openxmlformats.org/drawingml/2006/main"
       xmlns:r="http://schemas.openxmlformats.org/officeDocument/2006/relationships">
  <p:cSld>
    <p:spTree>
      <p:nvGrpSpPr>
        <p:cNvPr id="1" name=""/>
        <p:cNvGrpSpPr/>
        <p:nvPr/>
      </p:nvGrpSpPr>
      <p:grpSpPr>
        <a:xfrm><a:off x="0" y="0"/><a:ext cx="12192000" cy="6858000"/>
        <a:chOff x="0" y="0"/><a:chExt cx="12192000" cy="6858000"/></a:xfrm>
      </p:grpSpPr>
      <p:sp>
  <p:nvSpPr>
    <p:cNvPr id="2" name="Shape2"/>
    <p:cNvSpPr><a:spLocks noGrp="1"/></p:cNvSpPr>
    <p:nvPr/>
  </p:nvSpPr>
  <p:spPr>
  <a:xfrm><a:off x="0" y="0"/><a:ext cx="12192000" cy="6858000"/></a:xfrm>
  <a:prstGeom prst="rect"><a:avLst/></a:prstGeom>
  <a:gradFill><a:gsLst>
      <a:gs pos="0"><a:srgbClr val="060B18"/></a:gs>
      <a:gs pos="100000"><a:srgbClr val="0D1B2A"/></a:gs>
    </a:gsLst><a:lin ang="5400000" scaled="0"/></a:gradFill>
  
  <a:effectLst/>
</p:spPr>
  <p:txBody>
  <a:bodyPr anchor="ctr" wrap="square" vert="horz">
    <a:normAutofit/>
  </a:bodyPr>
  <a:lstStyle/>
  <a:p><a:endParaRPr lang="en-US" dirty="0"/></a:p>
</p:txBody>
</p:sp>
<p:sp>
  <p:nvSpPr>
    <p:cNvPr id="3" name="Shape3"/>
    <p:cNvSpPr><a:spLocks noGrp="1"/></p:cNvSpPr>
    <p:nvPr/>
  </p:nvSpPr>
  <p:spPr>
  <a:xfrm><a:off x="0" y="0"/><a:ext cx="12192000" cy="109728"/></a:xfrm>
  <a:prstGeom prst="rect"><a:avLst/></a:prstGeom>
  <a:gradFill><a:gsLst>
      <a:gs pos="0"><a:srgbClr val="00C6FF"/></a:gs>
      <a:gs pos="100000"><a:srgbClr val="7B2FBE"/></a:gs>
    </a:gsLst><a:lin ang="0" scaled="0"/></a:gradFill>
  
  <a:effectLst/>
</p:spPr>
  <p:txBody>
  <a:bodyPr anchor="ctr" wrap="square" vert="horz">
    <a:normAutofit/>
  </a:bodyPr>
  <a:lstStyle/>
  <a:p><a:endParaRPr lang="en-US" dirty="0"/></a:p>
</p:txBody>
</p:sp>
<p:sp>
  <p:nvSpPr>
    <p:cNvPr id="4" name="Shape4"/>
    <p:cNvSpPr><a:spLocks noGrp="1"/></p:cNvSpPr>
    <p:nvPr/>
  </p:nvSpPr>
  <p:spPr>
  <a:xfrm><a:off x="0" y="6748272"/><a:ext cx="12192000" cy="109728"/></a:xfrm>
  <a:prstGeom prst="rect"><a:avLst/></a:prstGeom>
  <a:gradFill><a:gsLst>
      <a:gs pos="0"><a:srgbClr val="7B2FBE"/></a:gs>
      <a:gs pos="100000"><a:srgbClr val="00C6FF"/></a:gs>
    </a:gsLst><a:lin ang="0" scaled="0"/></a:gradFill>
  
  <a:effectLst/>
</p:spPr>
  <p:txBody>
  <a:bodyPr anchor="ctr" wrap="square" vert="horz">
    <a:normAutofit/>
  </a:bodyPr>
  <a:lstStyle/>
  <a:p><a:endParaRPr lang="en-US" dirty="0"/></a:p>
</p:txBody>
</p:sp>
<p:sp>
  <p:nvSpPr>
    <p:cNvPr id="5" name="Shape5"/>
    <p:cNvSpPr><a:spLocks noGrp="1"/></p:cNvSpPr>
    <p:nvPr/>
  </p:nvSpPr>
  <p:spPr>
  <a:xfrm><a:off x="0" y="109728"/><a:ext cx="54864" cy="6638544"/></a:xfrm>
  <a:prstGeom prst="rect"><a:avLst/></a:prstGeom>
  <a:solidFill><a:srgbClr val="00C6FF"/></a:solidFill>
  
  <a:effectLst/>
</p:spPr>
  <p:txBody>
  <a:bodyPr anchor="ctr" wrap="square" vert="horz">
    <a:normAutofit/>
  </a:bodyPr>
  <a:lstStyle/>
  <a:p><a:endParaRPr lang="en-US" dirty="0"/></a:p>
</p:txBody>
</p:sp>
<p:sp>
  <p:nvSpPr>
    <p:cNvPr id="6" name="Shape6"/>
    <p:cNvSpPr><a:spLocks noGrp="1"/></p:cNvSpPr>
    <p:nvPr/>
  </p:nvSpPr>
  <p:spPr>
  <a:xfrm><a:off x="1371600" y="731520"/><a:ext cx="8412480" cy="1371600"/></a:xfrm>
  <a:prstGeom prst="rect"><a:avLst/></a:prstGeom>
  <a:solidFill><a:srgbClr val="00000000"/></a:solidFill>
  
  <a:effectLst/>
</p:spPr>
  <p:txBody>
  <a:bodyPr anchor="ctr" wrap="square" vert="horz">
    <a:normAutofit/>
  </a:bodyPr>
  <a:lstStyle/>
  <a:p>
  <a:pPr algn="ctr"><a:lnSpc><a:spcPct val="100000"/></a:lnSpc></a:pPr>
  <a:r><a:rPr lang="en-US" sz="5400" b="1" i="0" dirty="0">
    <a:solidFill><a:srgbClr val="00C6FF"/></a:solidFill>
    <a:latin typeface="Calibri"/>
  </a:rPr><a:t>Thank You!</a:t></a:r>
</a:p>
</p:txBody>
</p:sp>
<p:sp>
  <p:nvSpPr>
    <p:cNvPr id="7" name="Shape7"/>
    <p:cNvSpPr><a:spLocks noGrp="1"/></p:cNvSpPr>
    <p:nvPr/>
  </p:nvSpPr>
  <p:spPr>
  <a:xfrm><a:off x="2286000" y="2194560"/><a:ext cx="6583680" cy="502920"/></a:xfrm>
  <a:prstGeom prst="rect"><a:avLst/></a:prstGeom>
  <a:solidFill><a:srgbClr val="00000000"/></a:solidFill>
  
  <a:effectLst/>
</p:spPr>
  <p:txBody>
  <a:bodyPr anchor="ctr" wrap="square" vert="horz">
    <a:normAutofit/>
  </a:bodyPr>
  <a:lstStyle/>
  <a:p>
  <a:pPr algn="ctr"><a:lnSpc><a:spcPct val="100000"/></a:lnSpc></a:pPr>
  <a:r><a:rPr lang="en-US" sz="1500" b="0" i="0" dirty="0">
    <a:solidFill><a:srgbClr val="B0BEC5"/></a:solidFill>
    <a:latin typeface="Calibri"/>
  </a:rPr><a:t>Zero-Day IoT Attack Detection Using Hybrid ML Approach</a:t></a:r>
</a:p>
</p:txBody>
</p:sp>
<p:sp>
  <p:nvSpPr>
    <p:cNvPr id="8" name="Shape8"/>
    <p:cNvSpPr><a:spLocks noGrp="1"/></p:cNvSpPr>
    <p:nvPr/>
  </p:nvSpPr>
  <p:spPr>
  <a:xfrm><a:off x="457200" y="2834640"/><a:ext cx="10241280" cy="1783080"/></a:xfrm>
  <a:prstGeom prst="roundRect"><a:avLst><a:gd name="adj" fmla="val 15000"/></a:avLst></a:prstGeom>
  <a:gradFill><a:gsLst>
      <a:gs pos="0"><a:srgbClr val="0D2137"/></a:gs>
      <a:gs pos="100000"><a:srgbClr val="071020"/></a:gs>
    </a:gsLst><a:lin ang="5400000" scaled="0"/></a:gradFill>
  <a:ln w="19050"><a:solidFill><a:srgbClr val="7B2FBE"/></a:solidFill></a:ln>
  <a:effectLst/>
</p:spPr>
  <p:txBody>
  <a:bodyPr anchor="ctr" wrap="square" vert="horz">
    <a:normAutofit/>
  </a:bodyPr>
  <a:lstStyle/>
  <a:p>
  <a:pPr algn="ctr"><a:lnSpc><a:spcPct val="100000"/></a:lnSpc></a:pPr>
  <a:r><a:rPr lang="en-US" sz="1300" b="1" i="0" dirty="0">
    <a:solidFill><a:srgbClr val="00C6FF"/></a:solidFill>
    <a:latin typeface="Calibri"/>
  </a:rPr><a:t>PROJECT TEAM  ·  B.Tech CSE  ·  MAY 2026</a:t></a:r>
</a:p><a:p><a:endParaRPr lang="en-US" dirty="0"/></a:p><a:p>
  <a:pPr algn="ctr"><a:lnSpc><a:spcPct val="100000"/></a:lnSpc></a:pPr>
  <a:r><a:rPr lang="en-US" sz="1300" b="0" i="0" dirty="0">
    <a:solidFill><a:srgbClr val="FFFFFF"/></a:solidFill>
    <a:latin typeface="Calibri"/>
  </a:rPr><a:t>Shahil Ahmed  (202202021046)   ·   Jagriti Shivam  (202202022091)</a:t></a:r>
</a:p><a:p>
  <a:pPr algn="ctr"><a:lnSpc><a:spcPct val="100000"/></a:lnSpc></a:pPr>
  <a:r><a:rPr lang="en-US" sz="1300" b="0" i="0" dirty="0">
    <a:solidFill><a:srgbClr val="FFFFFF"/></a:solidFill>
    <a:latin typeface="Calibri"/>
  </a:rPr><a:t>Khushi Das  (202202022113)   ·   Babul Hoque  (202202021020)</a:t></a:r>
</a:p><a:p><a:endParaRPr lang="en-US" dirty="0"/></a:p><a:p>
  <a:pPr algn="ctr"><a:lnSpc><a:spcPct val="100000"/></a:lnSpc></a:pPr>
  <a:r><a:rPr lang="en-US" sz="1200" b="0" i="0" dirty="0">
    <a:solidFill><a:srgbClr val="B0BEC5"/></a:solidFill>
    <a:latin typeface="Calibri"/>
  </a:rPr><a:t>Supervisor: Mr. Bikramjit Choudhury  |  Asst. Professor, Dept. of CSE</a:t></a:r>
</a:p>
</p:txBody>
</p:sp>
<p:sp>
  <p:nvSpPr>
    <p:cNvPr id="9" name="Shape9"/>
    <p:cNvSpPr><a:spLocks noGrp="1"/></p:cNvSpPr>
    <p:nvPr/>
  </p:nvSpPr>
  <p:spPr>
  <a:xfrm><a:off x="1371600" y="4800600"/><a:ext cx="8412480" cy="548640"/></a:xfrm>
  <a:prstGeom prst="rect"><a:avLst/></a:prstGeom>
  <a:solidFill><a:srgbClr val="00000000"/></a:solidFill>
  
  <a:effectLst/>
</p:spPr>
  <p:txBody>
  <a:bodyPr anchor="ctr" wrap="square" vert="horz">
    <a:normAutofit/>
  </a:bodyPr>
  <a:lstStyle/>
  <a:p>
  <a:pPr algn="ctr"><a:lnSpc><a:spcPct val="100000"/></a:lnSpc></a:pPr>
  <a:r><a:rPr lang="en-US" sz="1300" b="1" i="0" dirty="0">
    <a:solidFill><a:srgbClr val="FFD600"/></a:solidFill>
    <a:latin typeface="Calibri"/>
  </a:rPr><a:t>CENTRAL INSTITUTE OF TECHNOLOGY KOKRAJHAR, ASSAM  ·  www.cit.ac.in</a:t></a:r>
</a:p>
</p:txBody>
</p:sp>
<p:sp>
  <p:nvSpPr>
    <p:cNvPr id="10" name="Shape10"/>
    <p:cNvSpPr><a:spLocks noGrp="1"/></p:cNvSpPr>
    <p:nvPr/>
  </p:nvSpPr>
  <p:spPr>
  <a:xfrm><a:off x="3200400" y="5440680"/><a:ext cx="4754880" cy="502920"/></a:xfrm>
  <a:prstGeom prst="rect"><a:avLst/></a:prstGeom>
  <a:solidFill><a:srgbClr val="00000000"/></a:solidFill>
  
  <a:effectLst/>
</p:spPr>
  <p:txBody>
  <a:bodyPr anchor="ctr" wrap="square" vert="horz">
    <a:normAutofit/>
  </a:bodyPr>
  <a:lstStyle/>
  <a:p>
  <a:pPr algn="ctr"><a:lnSpc><a:spcPct val="100000"/></a:lnSpc></a:pPr>
  <a:r><a:rPr lang="en-US" sz="1400" b="1" i="0" dirty="0">
    <a:solidFill><a:srgbClr val="00E676"/></a:solidFill>
    <a:latin typeface="Calibri"/>
  </a:rPr><a:t>Questions & Discussion Welcome 🎯</a:t></a:r>
</a:p>
</p:txBody>
</p:sp>
    </p:spTree>
  </p:cSld>
</p:sld>
</file>

<file path=docProps/app.xml><?xml version="1.0" encoding="utf-8"?>
<Properties xmlns="http://schemas.openxmlformats.org/officeDocument/2006/extended-properties">
  <Application>Microsoft Office PowerPoint</Application>
  <Slides>13</Slides>
</Properties>
</file>

<file path=docProps/core.xml><?xml version="1.0" encoding="utf-8"?>
<cp:coreProperties xmlns:cp="http://schemas.openxmlformats.org/package/2006/metadata/core-properties" xmlns:dc="http://purl.org/dc/elements/1.1/">
  <dc:title>Zero-Day IoT Attack Detection Using Hybrid ML</dc:title>
  <dc:creator>Shahil Ahmed, Jagriti Shivam, Khushi Das, Babul Hoque</dc:creator>
  <dc:subject>CIT Kokrajhar B.Tech Final Year Project 2026</dc:subject>
</cp:coreProperties>
</file>