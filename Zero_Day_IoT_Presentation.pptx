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88952" cy="6858000" type="custom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4" Type="http://schemas.openxmlformats.org/officeDocument/2006/relationships/slide" Target="slides/slide1.xml"/>
  <Relationship Id="rId5" Type="http://schemas.openxmlformats.org/officeDocument/2006/relationships/slide" Target="slides/slide2.xml"/>
  <Relationship Id="rId6" Type="http://schemas.openxmlformats.org/officeDocument/2006/relationships/slide" Target="slides/slide3.xml"/>
  <Relationship Id="rId7" Type="http://schemas.openxmlformats.org/officeDocument/2006/relationships/slide" Target="slides/slide4.xml"/>
  <Relationship Id="rId8" Type="http://schemas.openxmlformats.org/officeDocument/2006/relationships/slide" Target="slides/slide5.xml"/>
  <Relationship Id="rId9" Type="http://schemas.openxmlformats.org/officeDocument/2006/relationships/slide" Target="slides/slide6.xml"/>
  <Relationship Id="rId10" Type="http://schemas.openxmlformats.org/officeDocument/2006/relationships/slide" Target="slides/slide7.xml"/>
  <Relationship Id="rId11" Type="http://schemas.openxmlformats.org/officeDocument/2006/relationships/slide" Target="slides/slide8.xml"/>
  <Relationship Id="rId12" Type="http://schemas.openxmlformats.org/officeDocument/2006/relationships/slide" Target="slides/slide9.xml"/>
  <Relationship Id="rId13" Type="http://schemas.openxmlformats.org/officeDocument/2006/relationships/slide" Target="slides/slide10.xml"/>
  <Relationship Id="rId14" Type="http://schemas.openxmlformats.org/officeDocument/2006/relationships/slide" Target="slides/slide11.xml"/>
  <Relationship Id="rId15" Type="http://schemas.openxmlformats.org/officeDocument/2006/relationships/slide" Target="slides/slide12.xml"/>
  <Relationship Id="rId16" Type="http://schemas.openxmlformats.org/officeDocument/2006/relationships/slide" Target="slides/slide13.xml"/>
  <Relationship Id="rId17" Type="http://schemas.openxmlformats.org/officeDocument/2006/relationships/slide" Target="slides/slide14.xml"/>
  <Relationship Id="rId18" Type="http://schemas.openxmlformats.org/officeDocument/2006/relationships/slide" Target="slides/slide15.xml"/>
  <Relationship Id="rId19" Type="http://schemas.openxmlformats.org/officeDocument/2006/relationships/slide" Target="slides/slide16.xml"/>
  <Relationship Id="rId20" Type="http://schemas.openxmlformats.org/officeDocument/2006/relationships/slide" Target="slides/slide17.xml"/>
  <Relationship Id="rId21" Type="http://schemas.openxmlformats.org/officeDocument/2006/relationships/slide" Target="slides/slide18.xml"/>
  <Relationship Id="rId22" Type="http://schemas.openxmlformats.org/officeDocument/2006/relationships/slide" Target="slides/slide19.xml"/>
  <Relationship Id="rId23" Type="http://schemas.openxmlformats.org/officeDocument/2006/relationships/slide" Target="slides/slide20.xml"/>
  <Relationship Id="rId24" Type="http://schemas.openxmlformats.org/officeDocument/2006/relationships/slide" Target="slides/slide21.xml"/>
  <Relationship Id="rId25" Type="http://schemas.openxmlformats.org/officeDocument/2006/relationships/slide" Target="slides/slide22.xml"/>
  <Relationship Id="rId26" Type="http://schemas.openxmlformats.org/officeDocument/2006/relationships/slide" Target="slides/slide23.xml"/>
  <Relationship Id="rId27" Type="http://schemas.openxmlformats.org/officeDocument/2006/relationships/slide" Target="slides/slide24.xml"/>
  <Relationship Id="rId28" Type="http://schemas.openxmlformats.org/officeDocument/2006/relationships/slide" Target="slides/slide25.xml"/>
  <Relationship Id="rId29" Type="http://schemas.openxmlformats.org/officeDocument/2006/relationships/slide" Target="slides/slide2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bg>
      <p:bgPr>
        <a:solidFill>
          <a:srgbClr val="05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101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2" name="topband"/>
          <p:cNvSpPr>
            <a:spLocks noGrp="1"/>
          </p:cNvSpPr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0E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3" name="circle1"/>
          <p:cNvSpPr>
            <a:spLocks noGrp="1"/>
          </p:cNvSpPr>
          <p:nvPr/>
        </p:nvSpPr>
        <p:spPr>
          <a:xfrm>
            <a:off x="8348472" y="-1371600"/>
            <a:ext cx="5029200" cy="5029200"/>
          </a:xfrm>
          <a:prstGeom prst="roundRect">
            <a:avLst>
              <a:gd name="adj" fmla="val 166666"/>
            </a:avLst>
          </a:prstGeom>
          <a:solidFill>
            <a:srgbClr val="091525"/>
          </a:solidFill>
          <a:ln w="254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04" name="circle2"/>
          <p:cNvSpPr>
            <a:spLocks noGrp="1"/>
          </p:cNvSpPr>
          <p:nvPr/>
        </p:nvSpPr>
        <p:spPr>
          <a:xfrm>
            <a:off x="8714232" y="-1005840"/>
            <a:ext cx="4297680" cy="4297680"/>
          </a:xfrm>
          <a:prstGeom prst="roundRect">
            <a:avLst>
              <a:gd name="adj" fmla="val 166666"/>
            </a:avLst>
          </a:prstGeom>
          <a:noFill/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05" name="circle3"/>
          <p:cNvSpPr>
            <a:spLocks noGrp="1"/>
          </p:cNvSpPr>
          <p:nvPr/>
        </p:nvSpPr>
        <p:spPr>
          <a:xfrm>
            <a:off x="9171432" y="-548640"/>
            <a:ext cx="3383280" cy="3383280"/>
          </a:xfrm>
          <a:prstGeom prst="roundRect">
            <a:avLst>
              <a:gd name="adj" fmla="val 166666"/>
            </a:avLst>
          </a:prstGeom>
          <a:noFill/>
          <a:ln w="635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06" name="lbar"/>
          <p:cNvSpPr>
            <a:spLocks noGrp="1"/>
          </p:cNvSpPr>
          <p:nvPr/>
        </p:nvSpPr>
        <p:spPr>
          <a:xfrm>
            <a:off x="320040" y="1371600"/>
            <a:ext cx="54864" cy="4114800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7" name="dept"/>
          <p:cNvSpPr>
            <a:spLocks noGrp="1"/>
          </p:cNvSpPr>
          <p:nvPr/>
        </p:nvSpPr>
        <p:spPr>
          <a:xfrm>
            <a:off x="502920" y="1417320"/>
            <a:ext cx="640080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B.Tech Final Year Project  |  Department of Computer Science &amp; Engineering</a:t>
            </a:r>
          </a:p>
        </p:txBody>
      </p:sp>
      <p:sp>
        <p:nvSpPr>
          <p:cNvPr id="108" name="maintitle"/>
          <p:cNvSpPr>
            <a:spLocks noGrp="1"/>
          </p:cNvSpPr>
          <p:nvPr/>
        </p:nvSpPr>
        <p:spPr>
          <a:xfrm>
            <a:off x="502920" y="1920240"/>
            <a:ext cx="8046720" cy="137160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44" dirty="0">
                <a:solidFill>
                  <a:srgbClr val="00D4FF"/>
                </a:solidFill>
                <a:latin typeface="Segoe UI"/>
                <a:b/>
              </a:rPr>
              <a:t>Zero Day IoT</a:t>
            </a:r>
          </a:p>
          <a:p>
            <a:pPr algn="l"/>
            <a:r>
              <a:rPr lang="en-US" sz="44" dirty="0">
                <a:solidFill>
                  <a:srgbClr val="FFFFFF"/>
                </a:solidFill>
                <a:latin typeface="Segoe UI"/>
                <a:b/>
              </a:rPr>
              <a:t>Attack Detection</a:t>
            </a:r>
          </a:p>
          <a:p>
            <a:pPr algn="l"/>
            <a:r>
              <a:rPr lang="en-US" sz="24" dirty="0">
                <a:solidFill>
                  <a:srgbClr val="B0C4DE"/>
                </a:solidFill>
                <a:latin typeface="Segoe UI"/>
              </a:rPr>
              <a:t>Using a Hybrid Machine Learning Approach</a:t>
            </a:r>
          </a:p>
        </p:txBody>
      </p:sp>
      <p:sp>
        <p:nvSpPr>
          <p:cNvPr id="109" name="subline"/>
          <p:cNvSpPr>
            <a:spLocks noGrp="1"/>
          </p:cNvSpPr>
          <p:nvPr/>
        </p:nvSpPr>
        <p:spPr>
          <a:xfrm>
            <a:off x="502920" y="3429000"/>
            <a:ext cx="502920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0" name="info0"/>
          <p:cNvSpPr>
            <a:spLocks noGrp="1"/>
          </p:cNvSpPr>
          <p:nvPr/>
        </p:nvSpPr>
        <p:spPr>
          <a:xfrm>
            <a:off x="502920" y="3657600"/>
            <a:ext cx="777240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👥 Team:  </a:t>
            </a:r>
            <a:r>
              <a:rPr lang="en-US" sz="13" dirty="0">
                <a:solidFill>
                  <a:srgbClr val="FFFFFF"/>
                </a:solidFill>
                <a:latin typeface="Segoe UI"/>
              </a:rPr>
              <a:t>Shahiil Ahmed  |  Final Year B.Tech CSE</a:t>
            </a:r>
          </a:p>
        </p:txBody>
      </p:sp>
      <p:sp>
        <p:nvSpPr>
          <p:cNvPr id="111" name="info1"/>
          <p:cNvSpPr>
            <a:spLocks noGrp="1"/>
          </p:cNvSpPr>
          <p:nvPr/>
        </p:nvSpPr>
        <p:spPr>
          <a:xfrm>
            <a:off x="502920" y="4251960"/>
            <a:ext cx="777240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🎓 Guide:  </a:t>
            </a:r>
            <a:r>
              <a:rPr lang="en-US" sz="13" dirty="0">
                <a:solidFill>
                  <a:srgbClr val="FFFFFF"/>
                </a:solidFill>
                <a:latin typeface="Segoe UI"/>
              </a:rPr>
              <a:t>Project Guide — Department of CSE</a:t>
            </a:r>
          </a:p>
        </p:txBody>
      </p:sp>
      <p:sp>
        <p:nvSpPr>
          <p:cNvPr id="112" name="info2"/>
          <p:cNvSpPr>
            <a:spLocks noGrp="1"/>
          </p:cNvSpPr>
          <p:nvPr/>
        </p:nvSpPr>
        <p:spPr>
          <a:xfrm>
            <a:off x="502920" y="4846320"/>
            <a:ext cx="777240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🏛 Institution:  </a:t>
            </a:r>
            <a:r>
              <a:rPr lang="en-US" sz="13" dirty="0">
                <a:solidFill>
                  <a:srgbClr val="FFFFFF"/>
                </a:solidFill>
                <a:latin typeface="Segoe UI"/>
              </a:rPr>
              <a:t>College of Information Technology (CIT)</a:t>
            </a:r>
          </a:p>
        </p:txBody>
      </p:sp>
      <p:sp>
        <p:nvSpPr>
          <p:cNvPr id="113" name="info3"/>
          <p:cNvSpPr>
            <a:spLocks noGrp="1"/>
          </p:cNvSpPr>
          <p:nvPr/>
        </p:nvSpPr>
        <p:spPr>
          <a:xfrm>
            <a:off x="502920" y="5440680"/>
            <a:ext cx="777240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📅 Academic Year:  </a:t>
            </a:r>
            <a:r>
              <a:rPr lang="en-US" sz="13" dirty="0">
                <a:solidFill>
                  <a:srgbClr val="FFFFFF"/>
                </a:solidFill>
                <a:latin typeface="Segoe UI"/>
              </a:rPr>
              <a:t>2024 – 2025</a:t>
            </a:r>
          </a:p>
        </p:txBody>
      </p:sp>
      <p:sp>
        <p:nvSpPr>
          <p:cNvPr id="114" name="btag"/>
          <p:cNvSpPr>
            <a:spLocks noGrp="1"/>
          </p:cNvSpPr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A0E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5" name="btxt"/>
          <p:cNvSpPr>
            <a:spLocks noGrp="1"/>
          </p:cNvSpPr>
          <p:nvPr/>
        </p:nvSpPr>
        <p:spPr>
          <a:xfrm>
            <a:off x="0" y="6446520"/>
            <a:ext cx="12188952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B0C4DE"/>
                </a:solidFill>
                <a:latin typeface="Segoe UI"/>
              </a:rPr>
              <a:t>Cybersecurity  ·  Artificial Intelligence  ·  IoT Edge Security  ·  Intrusion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116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7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8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9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120" name="title"/>
          <p:cNvSpPr>
            <a:spLocks noGrp="1"/>
          </p:cNvSpPr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Table of Contents</a:t>
            </a:r>
          </a:p>
        </p:txBody>
      </p:sp>
      <p:sp>
        <p:nvSpPr>
          <p:cNvPr id="121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2" name="tl0"/>
          <p:cNvSpPr>
            <a:spLocks noGrp="1"/>
          </p:cNvSpPr>
          <p:nvPr/>
        </p:nvSpPr>
        <p:spPr>
          <a:xfrm>
            <a:off x="365760" y="1005840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01</a:t>
            </a:r>
          </a:p>
        </p:txBody>
      </p:sp>
      <p:sp>
        <p:nvSpPr>
          <p:cNvPr id="123" name="ttxt0"/>
          <p:cNvSpPr>
            <a:spLocks noGrp="1"/>
          </p:cNvSpPr>
          <p:nvPr/>
        </p:nvSpPr>
        <p:spPr>
          <a:xfrm>
            <a:off x="886968" y="1005840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Introduction to IoT Security</a:t>
            </a:r>
          </a:p>
        </p:txBody>
      </p:sp>
      <p:sp>
        <p:nvSpPr>
          <p:cNvPr id="124" name="tl1"/>
          <p:cNvSpPr>
            <a:spLocks noGrp="1"/>
          </p:cNvSpPr>
          <p:nvPr/>
        </p:nvSpPr>
        <p:spPr>
          <a:xfrm>
            <a:off x="365760" y="1380744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02</a:t>
            </a:r>
          </a:p>
        </p:txBody>
      </p:sp>
      <p:sp>
        <p:nvSpPr>
          <p:cNvPr id="125" name="ttxt1"/>
          <p:cNvSpPr>
            <a:spLocks noGrp="1"/>
          </p:cNvSpPr>
          <p:nvPr/>
        </p:nvSpPr>
        <p:spPr>
          <a:xfrm>
            <a:off x="886968" y="1380744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Problem Statement</a:t>
            </a:r>
          </a:p>
        </p:txBody>
      </p:sp>
      <p:sp>
        <p:nvSpPr>
          <p:cNvPr id="126" name="tl2"/>
          <p:cNvSpPr>
            <a:spLocks noGrp="1"/>
          </p:cNvSpPr>
          <p:nvPr/>
        </p:nvSpPr>
        <p:spPr>
          <a:xfrm>
            <a:off x="365760" y="1755648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03</a:t>
            </a:r>
          </a:p>
        </p:txBody>
      </p:sp>
      <p:sp>
        <p:nvSpPr>
          <p:cNvPr id="127" name="ttxt2"/>
          <p:cNvSpPr>
            <a:spLocks noGrp="1"/>
          </p:cNvSpPr>
          <p:nvPr/>
        </p:nvSpPr>
        <p:spPr>
          <a:xfrm>
            <a:off x="886968" y="1755648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Project Objectives</a:t>
            </a:r>
          </a:p>
        </p:txBody>
      </p:sp>
      <p:sp>
        <p:nvSpPr>
          <p:cNvPr id="128" name="tl3"/>
          <p:cNvSpPr>
            <a:spLocks noGrp="1"/>
          </p:cNvSpPr>
          <p:nvPr/>
        </p:nvSpPr>
        <p:spPr>
          <a:xfrm>
            <a:off x="365760" y="2130552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04</a:t>
            </a:r>
          </a:p>
        </p:txBody>
      </p:sp>
      <p:sp>
        <p:nvSpPr>
          <p:cNvPr id="129" name="ttxt3"/>
          <p:cNvSpPr>
            <a:spLocks noGrp="1"/>
          </p:cNvSpPr>
          <p:nvPr/>
        </p:nvSpPr>
        <p:spPr>
          <a:xfrm>
            <a:off x="886968" y="2130552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Why Zero-Day Detection is Difficult</a:t>
            </a:r>
          </a:p>
        </p:txBody>
      </p:sp>
      <p:sp>
        <p:nvSpPr>
          <p:cNvPr id="130" name="tl4"/>
          <p:cNvSpPr>
            <a:spLocks noGrp="1"/>
          </p:cNvSpPr>
          <p:nvPr/>
        </p:nvSpPr>
        <p:spPr>
          <a:xfrm>
            <a:off x="365760" y="2505456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05</a:t>
            </a:r>
          </a:p>
        </p:txBody>
      </p:sp>
      <p:sp>
        <p:nvSpPr>
          <p:cNvPr id="131" name="ttxt4"/>
          <p:cNvSpPr>
            <a:spLocks noGrp="1"/>
          </p:cNvSpPr>
          <p:nvPr/>
        </p:nvSpPr>
        <p:spPr>
          <a:xfrm>
            <a:off x="886968" y="2505456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Dataset Overview — Edge-IIoT</a:t>
            </a:r>
          </a:p>
        </p:txBody>
      </p:sp>
      <p:sp>
        <p:nvSpPr>
          <p:cNvPr id="132" name="tl5"/>
          <p:cNvSpPr>
            <a:spLocks noGrp="1"/>
          </p:cNvSpPr>
          <p:nvPr/>
        </p:nvSpPr>
        <p:spPr>
          <a:xfrm>
            <a:off x="365760" y="2880360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06</a:t>
            </a:r>
          </a:p>
        </p:txBody>
      </p:sp>
      <p:sp>
        <p:nvSpPr>
          <p:cNvPr id="133" name="ttxt5"/>
          <p:cNvSpPr>
            <a:spLocks noGrp="1"/>
          </p:cNvSpPr>
          <p:nvPr/>
        </p:nvSpPr>
        <p:spPr>
          <a:xfrm>
            <a:off x="886968" y="2880360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Data Preprocessing</a:t>
            </a:r>
          </a:p>
        </p:txBody>
      </p:sp>
      <p:sp>
        <p:nvSpPr>
          <p:cNvPr id="134" name="tl6"/>
          <p:cNvSpPr>
            <a:spLocks noGrp="1"/>
          </p:cNvSpPr>
          <p:nvPr/>
        </p:nvSpPr>
        <p:spPr>
          <a:xfrm>
            <a:off x="365760" y="3255264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07</a:t>
            </a:r>
          </a:p>
        </p:txBody>
      </p:sp>
      <p:sp>
        <p:nvSpPr>
          <p:cNvPr id="135" name="ttxt6"/>
          <p:cNvSpPr>
            <a:spLocks noGrp="1"/>
          </p:cNvSpPr>
          <p:nvPr/>
        </p:nvSpPr>
        <p:spPr>
          <a:xfrm>
            <a:off x="886968" y="3255264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Known vs. Unknown Attack Split</a:t>
            </a:r>
          </a:p>
        </p:txBody>
      </p:sp>
      <p:sp>
        <p:nvSpPr>
          <p:cNvPr id="136" name="tl7"/>
          <p:cNvSpPr>
            <a:spLocks noGrp="1"/>
          </p:cNvSpPr>
          <p:nvPr/>
        </p:nvSpPr>
        <p:spPr>
          <a:xfrm>
            <a:off x="365760" y="3630168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08</a:t>
            </a:r>
          </a:p>
        </p:txBody>
      </p:sp>
      <p:sp>
        <p:nvSpPr>
          <p:cNvPr id="137" name="ttxt7"/>
          <p:cNvSpPr>
            <a:spLocks noGrp="1"/>
          </p:cNvSpPr>
          <p:nvPr/>
        </p:nvSpPr>
        <p:spPr>
          <a:xfrm>
            <a:off x="886968" y="3630168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Overall System Architecture</a:t>
            </a:r>
          </a:p>
        </p:txBody>
      </p:sp>
      <p:sp>
        <p:nvSpPr>
          <p:cNvPr id="138" name="tl8"/>
          <p:cNvSpPr>
            <a:spLocks noGrp="1"/>
          </p:cNvSpPr>
          <p:nvPr/>
        </p:nvSpPr>
        <p:spPr>
          <a:xfrm>
            <a:off x="365760" y="4005072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09</a:t>
            </a:r>
          </a:p>
        </p:txBody>
      </p:sp>
      <p:sp>
        <p:nvSpPr>
          <p:cNvPr id="139" name="ttxt8"/>
          <p:cNvSpPr>
            <a:spLocks noGrp="1"/>
          </p:cNvSpPr>
          <p:nvPr/>
        </p:nvSpPr>
        <p:spPr>
          <a:xfrm>
            <a:off x="886968" y="4005072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LightGBM — Known Attack Classifier</a:t>
            </a:r>
          </a:p>
        </p:txBody>
      </p:sp>
      <p:sp>
        <p:nvSpPr>
          <p:cNvPr id="140" name="tl9"/>
          <p:cNvSpPr>
            <a:spLocks noGrp="1"/>
          </p:cNvSpPr>
          <p:nvPr/>
        </p:nvSpPr>
        <p:spPr>
          <a:xfrm>
            <a:off x="365760" y="4379976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10</a:t>
            </a:r>
          </a:p>
        </p:txBody>
      </p:sp>
      <p:sp>
        <p:nvSpPr>
          <p:cNvPr id="141" name="ttxt9"/>
          <p:cNvSpPr>
            <a:spLocks noGrp="1"/>
          </p:cNvSpPr>
          <p:nvPr/>
        </p:nvSpPr>
        <p:spPr>
          <a:xfrm>
            <a:off x="886968" y="4379976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LightGBM Workflow &amp; Results</a:t>
            </a:r>
          </a:p>
        </p:txBody>
      </p:sp>
      <p:sp>
        <p:nvSpPr>
          <p:cNvPr id="142" name="tl10"/>
          <p:cNvSpPr>
            <a:spLocks noGrp="1"/>
          </p:cNvSpPr>
          <p:nvPr/>
        </p:nvSpPr>
        <p:spPr>
          <a:xfrm>
            <a:off x="365760" y="4754880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11</a:t>
            </a:r>
          </a:p>
        </p:txBody>
      </p:sp>
      <p:sp>
        <p:nvSpPr>
          <p:cNvPr id="143" name="ttxt10"/>
          <p:cNvSpPr>
            <a:spLocks noGrp="1"/>
          </p:cNvSpPr>
          <p:nvPr/>
        </p:nvSpPr>
        <p:spPr>
          <a:xfrm>
            <a:off x="886968" y="4754880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Autoencoder — Anomaly Detector</a:t>
            </a:r>
          </a:p>
        </p:txBody>
      </p:sp>
      <p:sp>
        <p:nvSpPr>
          <p:cNvPr id="144" name="tl11"/>
          <p:cNvSpPr>
            <a:spLocks noGrp="1"/>
          </p:cNvSpPr>
          <p:nvPr/>
        </p:nvSpPr>
        <p:spPr>
          <a:xfrm>
            <a:off x="365760" y="5129784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12</a:t>
            </a:r>
          </a:p>
        </p:txBody>
      </p:sp>
      <p:sp>
        <p:nvSpPr>
          <p:cNvPr id="145" name="ttxt11"/>
          <p:cNvSpPr>
            <a:spLocks noGrp="1"/>
          </p:cNvSpPr>
          <p:nvPr/>
        </p:nvSpPr>
        <p:spPr>
          <a:xfrm>
            <a:off x="886968" y="5129784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Autoencoder Architecture &amp; Results</a:t>
            </a:r>
          </a:p>
        </p:txBody>
      </p:sp>
      <p:sp>
        <p:nvSpPr>
          <p:cNvPr id="146" name="tl12"/>
          <p:cNvSpPr>
            <a:spLocks noGrp="1"/>
          </p:cNvSpPr>
          <p:nvPr/>
        </p:nvSpPr>
        <p:spPr>
          <a:xfrm>
            <a:off x="365760" y="5504688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13</a:t>
            </a:r>
          </a:p>
        </p:txBody>
      </p:sp>
      <p:sp>
        <p:nvSpPr>
          <p:cNvPr id="147" name="ttxt12"/>
          <p:cNvSpPr>
            <a:spLocks noGrp="1"/>
          </p:cNvSpPr>
          <p:nvPr/>
        </p:nvSpPr>
        <p:spPr>
          <a:xfrm>
            <a:off x="886968" y="5504688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Why Fusion Model?</a:t>
            </a:r>
          </a:p>
        </p:txBody>
      </p:sp>
      <p:sp>
        <p:nvSpPr>
          <p:cNvPr id="148" name="tl13"/>
          <p:cNvSpPr>
            <a:spLocks noGrp="1"/>
          </p:cNvSpPr>
          <p:nvPr/>
        </p:nvSpPr>
        <p:spPr>
          <a:xfrm>
            <a:off x="365760" y="5879592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14</a:t>
            </a:r>
          </a:p>
        </p:txBody>
      </p:sp>
      <p:sp>
        <p:nvSpPr>
          <p:cNvPr id="149" name="ttxt13"/>
          <p:cNvSpPr>
            <a:spLocks noGrp="1"/>
          </p:cNvSpPr>
          <p:nvPr/>
        </p:nvSpPr>
        <p:spPr>
          <a:xfrm>
            <a:off x="886968" y="5879592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Fusion Model Workflow &amp; Results</a:t>
            </a:r>
          </a:p>
        </p:txBody>
      </p:sp>
      <p:sp>
        <p:nvSpPr>
          <p:cNvPr id="150" name="tr0"/>
          <p:cNvSpPr>
            <a:spLocks noGrp="1"/>
          </p:cNvSpPr>
          <p:nvPr/>
        </p:nvSpPr>
        <p:spPr>
          <a:xfrm>
            <a:off x="6263640" y="1005840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15</a:t>
            </a:r>
          </a:p>
        </p:txBody>
      </p:sp>
      <p:sp>
        <p:nvSpPr>
          <p:cNvPr id="151" name="txttr0"/>
          <p:cNvSpPr>
            <a:spLocks noGrp="1"/>
          </p:cNvSpPr>
          <p:nvPr/>
        </p:nvSpPr>
        <p:spPr>
          <a:xfrm>
            <a:off x="6784848" y="1005840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Model Comparison</a:t>
            </a:r>
          </a:p>
        </p:txBody>
      </p:sp>
      <p:sp>
        <p:nvSpPr>
          <p:cNvPr id="152" name="tr1"/>
          <p:cNvSpPr>
            <a:spLocks noGrp="1"/>
          </p:cNvSpPr>
          <p:nvPr/>
        </p:nvSpPr>
        <p:spPr>
          <a:xfrm>
            <a:off x="6263640" y="1380744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16</a:t>
            </a:r>
          </a:p>
        </p:txBody>
      </p:sp>
      <p:sp>
        <p:nvSpPr>
          <p:cNvPr id="153" name="txttr1"/>
          <p:cNvSpPr>
            <a:spLocks noGrp="1"/>
          </p:cNvSpPr>
          <p:nvPr/>
        </p:nvSpPr>
        <p:spPr>
          <a:xfrm>
            <a:off x="6784848" y="1380744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Key Contributions</a:t>
            </a:r>
          </a:p>
        </p:txBody>
      </p:sp>
      <p:sp>
        <p:nvSpPr>
          <p:cNvPr id="154" name="tr2"/>
          <p:cNvSpPr>
            <a:spLocks noGrp="1"/>
          </p:cNvSpPr>
          <p:nvPr/>
        </p:nvSpPr>
        <p:spPr>
          <a:xfrm>
            <a:off x="6263640" y="1755648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17</a:t>
            </a:r>
          </a:p>
        </p:txBody>
      </p:sp>
      <p:sp>
        <p:nvSpPr>
          <p:cNvPr id="155" name="txttr2"/>
          <p:cNvSpPr>
            <a:spLocks noGrp="1"/>
          </p:cNvSpPr>
          <p:nvPr/>
        </p:nvSpPr>
        <p:spPr>
          <a:xfrm>
            <a:off x="6784848" y="1755648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Limitations</a:t>
            </a:r>
          </a:p>
        </p:txBody>
      </p:sp>
      <p:sp>
        <p:nvSpPr>
          <p:cNvPr id="156" name="tr3"/>
          <p:cNvSpPr>
            <a:spLocks noGrp="1"/>
          </p:cNvSpPr>
          <p:nvPr/>
        </p:nvSpPr>
        <p:spPr>
          <a:xfrm>
            <a:off x="6263640" y="2130552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18</a:t>
            </a:r>
          </a:p>
        </p:txBody>
      </p:sp>
      <p:sp>
        <p:nvSpPr>
          <p:cNvPr id="157" name="txttr3"/>
          <p:cNvSpPr>
            <a:spLocks noGrp="1"/>
          </p:cNvSpPr>
          <p:nvPr/>
        </p:nvSpPr>
        <p:spPr>
          <a:xfrm>
            <a:off x="6784848" y="2130552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Future Work</a:t>
            </a:r>
          </a:p>
        </p:txBody>
      </p:sp>
      <p:sp>
        <p:nvSpPr>
          <p:cNvPr id="158" name="tr4"/>
          <p:cNvSpPr>
            <a:spLocks noGrp="1"/>
          </p:cNvSpPr>
          <p:nvPr/>
        </p:nvSpPr>
        <p:spPr>
          <a:xfrm>
            <a:off x="6263640" y="2505456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19</a:t>
            </a:r>
          </a:p>
        </p:txBody>
      </p:sp>
      <p:sp>
        <p:nvSpPr>
          <p:cNvPr id="159" name="txttr4"/>
          <p:cNvSpPr>
            <a:spLocks noGrp="1"/>
          </p:cNvSpPr>
          <p:nvPr/>
        </p:nvSpPr>
        <p:spPr>
          <a:xfrm>
            <a:off x="6784848" y="2505456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Conclusion</a:t>
            </a:r>
          </a:p>
        </p:txBody>
      </p:sp>
      <p:sp>
        <p:nvSpPr>
          <p:cNvPr id="160" name="tr5"/>
          <p:cNvSpPr>
            <a:spLocks noGrp="1"/>
          </p:cNvSpPr>
          <p:nvPr/>
        </p:nvSpPr>
        <p:spPr>
          <a:xfrm>
            <a:off x="6263640" y="2880360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20</a:t>
            </a:r>
          </a:p>
        </p:txBody>
      </p:sp>
      <p:sp>
        <p:nvSpPr>
          <p:cNvPr id="161" name="txttr5"/>
          <p:cNvSpPr>
            <a:spLocks noGrp="1"/>
          </p:cNvSpPr>
          <p:nvPr/>
        </p:nvSpPr>
        <p:spPr>
          <a:xfrm>
            <a:off x="6784848" y="2880360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References</a:t>
            </a:r>
          </a:p>
        </p:txBody>
      </p:sp>
      <p:sp>
        <p:nvSpPr>
          <p:cNvPr id="162" name="tr6"/>
          <p:cNvSpPr>
            <a:spLocks noGrp="1"/>
          </p:cNvSpPr>
          <p:nvPr/>
        </p:nvSpPr>
        <p:spPr>
          <a:xfrm>
            <a:off x="6263640" y="3255264"/>
            <a:ext cx="438912" cy="301752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21</a:t>
            </a:r>
          </a:p>
        </p:txBody>
      </p:sp>
      <p:sp>
        <p:nvSpPr>
          <p:cNvPr id="163" name="txttr6"/>
          <p:cNvSpPr>
            <a:spLocks noGrp="1"/>
          </p:cNvSpPr>
          <p:nvPr/>
        </p:nvSpPr>
        <p:spPr>
          <a:xfrm>
            <a:off x="6784848" y="3255264"/>
            <a:ext cx="48463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Thank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164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65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66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67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168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Introduction to IoT Security</a:t>
            </a:r>
          </a:p>
        </p:txBody>
      </p:sp>
      <p:sp>
        <p:nvSpPr>
          <p:cNvPr id="169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70" name="stat"/>
          <p:cNvSpPr>
            <a:spLocks noGrp="1"/>
          </p:cNvSpPr>
          <p:nvPr/>
        </p:nvSpPr>
        <p:spPr>
          <a:xfrm>
            <a:off x="365760" y="1005840"/>
            <a:ext cx="265176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00FF88"/>
                </a:solidFill>
                <a:latin typeface="Segoe UI"/>
                <a:b/>
              </a:rPr>
              <a:t>15.9B+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IoT Devices
Worldwide (2023)</a:t>
            </a:r>
          </a:p>
        </p:txBody>
      </p:sp>
      <p:sp>
        <p:nvSpPr>
          <p:cNvPr id="171" name="stat"/>
          <p:cNvSpPr>
            <a:spLocks noGrp="1"/>
          </p:cNvSpPr>
          <p:nvPr/>
        </p:nvSpPr>
        <p:spPr>
          <a:xfrm>
            <a:off x="3200400" y="1005840"/>
            <a:ext cx="265176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00D4FF"/>
                </a:solidFill>
                <a:latin typeface="Segoe UI"/>
                <a:b/>
              </a:rPr>
              <a:t>75.4B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Projected by 2025</a:t>
            </a:r>
          </a:p>
        </p:txBody>
      </p:sp>
      <p:sp>
        <p:nvSpPr>
          <p:cNvPr id="172" name="stat"/>
          <p:cNvSpPr>
            <a:spLocks noGrp="1"/>
          </p:cNvSpPr>
          <p:nvPr/>
        </p:nvSpPr>
        <p:spPr>
          <a:xfrm>
            <a:off x="6035040" y="1005840"/>
            <a:ext cx="265176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FF4C4C"/>
                </a:solidFill>
                <a:latin typeface="Segoe UI"/>
                <a:b/>
              </a:rPr>
              <a:t>3x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Attack Surface
Growth Rate</a:t>
            </a:r>
          </a:p>
        </p:txBody>
      </p:sp>
      <p:sp>
        <p:nvSpPr>
          <p:cNvPr id="173" name="stat"/>
          <p:cNvSpPr>
            <a:spLocks noGrp="1"/>
          </p:cNvSpPr>
          <p:nvPr/>
        </p:nvSpPr>
        <p:spPr>
          <a:xfrm>
            <a:off x="8869680" y="1005840"/>
            <a:ext cx="265176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FFB800"/>
                </a:solidFill>
                <a:latin typeface="Segoe UI"/>
                <a:b/>
              </a:rPr>
              <a:t>$6T+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Annual Cybercrime
Cost by 2025</a:t>
            </a:r>
          </a:p>
        </p:txBody>
      </p:sp>
      <p:sp>
        <p:nvSpPr>
          <p:cNvPr id="174" name="bullet"/>
          <p:cNvSpPr>
            <a:spLocks noGrp="1"/>
          </p:cNvSpPr>
          <p:nvPr/>
        </p:nvSpPr>
        <p:spPr>
          <a:xfrm>
            <a:off x="365760" y="2377440"/>
            <a:ext cx="3657600" cy="393192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137160" rIns="91440" tIns="45720" bIns="45720" wrap="square"/>
          <a:lstStyle/>
          <a:p>
            <a:pPr algn="l"/>
            <a:r>
              <a:rPr lang="en-US" sz="19" dirty="0">
                <a:solidFill>
                  <a:srgbClr val="00D4FF"/>
                </a:solidFill>
                <a:latin typeface="Segoe UI"/>
                <a:b/>
              </a:rPr>
              <a:t>🔌  IoT Growth</a:t>
            </a:r>
          </a:p>
          <a:p>
            <a:pPr algn="l">
              <a:spcBef>
                <a:spcPts val="40"/>
              </a:spcBef>
            </a:pPr>
            <a:r>
              <a:rPr lang="en-US" sz="15" dirty="0">
                <a:solidFill>
                  <a:srgbClr val="FFFFFF"/>
                </a:solidFill>
                <a:latin typeface="Segoe UI"/>
              </a:rPr>
              <a:t>  ▸  Billions of smart devices: sensors, cameras, wearables</a:t>
            </a:r>
          </a:p>
          <a:p>
            <a:pPr algn="l">
              <a:spcBef>
                <a:spcPts val="40"/>
              </a:spcBef>
            </a:pPr>
            <a:r>
              <a:rPr lang="en-US" sz="15" dirty="0">
                <a:solidFill>
                  <a:srgbClr val="FFFFFF"/>
                </a:solidFill>
                <a:latin typeface="Segoe UI"/>
              </a:rPr>
              <a:t>  ▸  Embedded in hospitals, factories, smart cities, homes</a:t>
            </a:r>
          </a:p>
          <a:p>
            <a:pPr algn="l">
              <a:spcBef>
                <a:spcPts val="40"/>
              </a:spcBef>
            </a:pPr>
            <a:r>
              <a:rPr lang="en-US" sz="15" dirty="0">
                <a:solidFill>
                  <a:srgbClr val="FFFFFF"/>
                </a:solidFill>
                <a:latin typeface="Segoe UI"/>
              </a:rPr>
              <a:t>  ▸  Generating terabytes of network traffic daily</a:t>
            </a:r>
          </a:p>
          <a:p>
            <a:pPr algn="l">
              <a:spcBef>
                <a:spcPts val="40"/>
              </a:spcBef>
            </a:pPr>
            <a:r>
              <a:rPr lang="en-US" sz="15" dirty="0">
                <a:solidFill>
                  <a:srgbClr val="FFFFFF"/>
                </a:solidFill>
                <a:latin typeface="Segoe UI"/>
              </a:rPr>
              <a:t>  ▸  Connected via Wi-Fi, Bluetooth, Zigbee, MQTT, CoAP</a:t>
            </a:r>
          </a:p>
        </p:txBody>
      </p:sp>
      <p:sp>
        <p:nvSpPr>
          <p:cNvPr id="175" name="bullet"/>
          <p:cNvSpPr>
            <a:spLocks noGrp="1"/>
          </p:cNvSpPr>
          <p:nvPr/>
        </p:nvSpPr>
        <p:spPr>
          <a:xfrm>
            <a:off x="4297680" y="2377440"/>
            <a:ext cx="3657600" cy="393192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FF4C4C"/>
            </a:solidFill>
          </a:ln>
        </p:spPr>
        <p:txBody>
          <a:bodyPr anchor="ctr" vert="horz" lIns="137160" rIns="91440" tIns="45720" bIns="45720" wrap="square"/>
          <a:lstStyle/>
          <a:p>
            <a:pPr algn="l"/>
            <a:r>
              <a:rPr lang="en-US" sz="19" dirty="0">
                <a:solidFill>
                  <a:srgbClr val="FF4C4C"/>
                </a:solidFill>
                <a:latin typeface="Segoe UI"/>
                <a:b/>
              </a:rPr>
              <a:t>⚠️  Cyber Threats</a:t>
            </a:r>
          </a:p>
          <a:p>
            <a:pPr algn="l">
              <a:spcBef>
                <a:spcPts val="40"/>
              </a:spcBef>
            </a:pPr>
            <a:r>
              <a:rPr lang="en-US" sz="15" dirty="0">
                <a:solidFill>
                  <a:srgbClr val="FFFFFF"/>
                </a:solidFill>
                <a:latin typeface="Segoe UI"/>
              </a:rPr>
              <a:t>  ▸  IoT is top target: 1.5 billion attacks in H1 2021</a:t>
            </a:r>
          </a:p>
          <a:p>
            <a:pPr algn="l">
              <a:spcBef>
                <a:spcPts val="40"/>
              </a:spcBef>
            </a:pPr>
            <a:r>
              <a:rPr lang="en-US" sz="15" dirty="0">
                <a:solidFill>
                  <a:srgbClr val="FFFFFF"/>
                </a:solidFill>
                <a:latin typeface="Segoe UI"/>
              </a:rPr>
              <a:t>  ▸  DDoS botnets formed from compromised IoT devices</a:t>
            </a:r>
          </a:p>
          <a:p>
            <a:pPr algn="l">
              <a:spcBef>
                <a:spcPts val="40"/>
              </a:spcBef>
            </a:pPr>
            <a:r>
              <a:rPr lang="en-US" sz="15" dirty="0">
                <a:solidFill>
                  <a:srgbClr val="FFFFFF"/>
                </a:solidFill>
                <a:latin typeface="Segoe UI"/>
              </a:rPr>
              <a:t>  ▸  Ransomware, MITM, credential theft on the rise</a:t>
            </a:r>
          </a:p>
          <a:p>
            <a:pPr algn="l">
              <a:spcBef>
                <a:spcPts val="40"/>
              </a:spcBef>
            </a:pPr>
            <a:r>
              <a:rPr lang="en-US" sz="15" dirty="0">
                <a:solidFill>
                  <a:srgbClr val="FFFFFF"/>
                </a:solidFill>
                <a:latin typeface="Segoe UI"/>
              </a:rPr>
              <a:t>  ▸  Many devices ship with default/no security credentials</a:t>
            </a:r>
          </a:p>
        </p:txBody>
      </p:sp>
      <p:sp>
        <p:nvSpPr>
          <p:cNvPr id="176" name="bullet"/>
          <p:cNvSpPr>
            <a:spLocks noGrp="1"/>
          </p:cNvSpPr>
          <p:nvPr/>
        </p:nvSpPr>
        <p:spPr>
          <a:xfrm>
            <a:off x="8229600" y="2377440"/>
            <a:ext cx="3657600" cy="393192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137160" rIns="91440" tIns="45720" bIns="45720" wrap="square"/>
          <a:lstStyle/>
          <a:p>
            <a:pPr algn="l"/>
            <a:r>
              <a:rPr lang="en-US" sz="19" dirty="0">
                <a:solidFill>
                  <a:srgbClr val="FFB800"/>
                </a:solidFill>
                <a:latin typeface="Segoe UI"/>
                <a:b/>
              </a:rPr>
              <a:t>💡  Edge Limitations</a:t>
            </a:r>
          </a:p>
          <a:p>
            <a:pPr algn="l">
              <a:spcBef>
                <a:spcPts val="40"/>
              </a:spcBef>
            </a:pPr>
            <a:r>
              <a:rPr lang="en-US" sz="15" dirty="0">
                <a:solidFill>
                  <a:srgbClr val="FFFFFF"/>
                </a:solidFill>
                <a:latin typeface="Segoe UI"/>
              </a:rPr>
              <a:t>  ▸  Microcontrollers: 64KB–512KB RAM, slow CPUs</a:t>
            </a:r>
          </a:p>
          <a:p>
            <a:pPr algn="l">
              <a:spcBef>
                <a:spcPts val="40"/>
              </a:spcBef>
            </a:pPr>
            <a:r>
              <a:rPr lang="en-US" sz="15" dirty="0">
                <a:solidFill>
                  <a:srgbClr val="FFFFFF"/>
                </a:solidFill>
                <a:latin typeface="Segoe UI"/>
              </a:rPr>
              <a:t>  ▸  No space for heavy antivirus or deep learning models</a:t>
            </a:r>
          </a:p>
          <a:p>
            <a:pPr algn="l">
              <a:spcBef>
                <a:spcPts val="40"/>
              </a:spcBef>
            </a:pPr>
            <a:r>
              <a:rPr lang="en-US" sz="15" dirty="0">
                <a:solidFill>
                  <a:srgbClr val="FFFFFF"/>
                </a:solidFill>
                <a:latin typeface="Segoe UI"/>
              </a:rPr>
              <a:t>  ▸  Devices run 24/7, rarely receive security patches</a:t>
            </a:r>
          </a:p>
          <a:p>
            <a:pPr algn="l">
              <a:spcBef>
                <a:spcPts val="40"/>
              </a:spcBef>
            </a:pPr>
            <a:r>
              <a:rPr lang="en-US" sz="15" dirty="0">
                <a:solidFill>
                  <a:srgbClr val="FFFFFF"/>
                </a:solidFill>
                <a:latin typeface="Segoe UI"/>
              </a:rPr>
              <a:t>  ▸  Traditional IDS requires cloud round-trip — too slow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177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78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79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80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181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Problem Statement</a:t>
            </a:r>
          </a:p>
        </p:txBody>
      </p:sp>
      <p:sp>
        <p:nvSpPr>
          <p:cNvPr id="182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83" name="probdesc"/>
          <p:cNvSpPr>
            <a:spLocks noGrp="1"/>
          </p:cNvSpPr>
          <p:nvPr/>
        </p:nvSpPr>
        <p:spPr>
          <a:xfrm>
            <a:off x="457200" y="960120"/>
            <a:ext cx="11247120" cy="5486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B0C4DE"/>
                </a:solidFill>
                <a:latin typeface="Segoe UI"/>
              </a:rPr>
              <a:t>Traditional Intrusion Detection Systems (IDS) rely on known attack signatures — they are completely blind to novel, unseen (Zero-Day) attacks.</a:t>
            </a:r>
          </a:p>
        </p:txBody>
      </p:sp>
      <p:sp>
        <p:nvSpPr>
          <p:cNvPr id="184" name="knowncard"/>
          <p:cNvSpPr>
            <a:spLocks noGrp="1"/>
          </p:cNvSpPr>
          <p:nvPr/>
        </p:nvSpPr>
        <p:spPr>
          <a:xfrm>
            <a:off x="365760" y="1645920"/>
            <a:ext cx="5394960" cy="44805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85" name="knownhdr"/>
          <p:cNvSpPr>
            <a:spLocks noGrp="1"/>
          </p:cNvSpPr>
          <p:nvPr/>
        </p:nvSpPr>
        <p:spPr>
          <a:xfrm>
            <a:off x="457200" y="1691640"/>
            <a:ext cx="521208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7" dirty="0">
                <a:solidFill>
                  <a:srgbClr val="FFB800"/>
                </a:solidFill>
                <a:latin typeface="Segoe UI"/>
                <a:b/>
              </a:rPr>
              <a:t>⚡  Traditional IDS — Known Attacks</a:t>
            </a:r>
          </a:p>
        </p:txBody>
      </p:sp>
      <p:sp>
        <p:nvSpPr>
          <p:cNvPr id="186" name="kl0"/>
          <p:cNvSpPr>
            <a:spLocks noGrp="1"/>
          </p:cNvSpPr>
          <p:nvPr/>
        </p:nvSpPr>
        <p:spPr>
          <a:xfrm>
            <a:off x="502920" y="2240280"/>
            <a:ext cx="512064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5" dirty="0">
                <a:solidFill>
                  <a:srgbClr val="FFFFFF"/>
                </a:solidFill>
                <a:latin typeface="Segoe UI"/>
              </a:rPr>
              <a:t>  ✓  Signature-based detection (pattern matching)</a:t>
            </a:r>
          </a:p>
        </p:txBody>
      </p:sp>
      <p:sp>
        <p:nvSpPr>
          <p:cNvPr id="187" name="kl1"/>
          <p:cNvSpPr>
            <a:spLocks noGrp="1"/>
          </p:cNvSpPr>
          <p:nvPr/>
        </p:nvSpPr>
        <p:spPr>
          <a:xfrm>
            <a:off x="502920" y="2761487"/>
            <a:ext cx="512064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5" dirty="0">
                <a:solidFill>
                  <a:srgbClr val="FFFFFF"/>
                </a:solidFill>
                <a:latin typeface="Segoe UI"/>
              </a:rPr>
              <a:t>  ✓  Works well for previously catalogued attacks</a:t>
            </a:r>
          </a:p>
        </p:txBody>
      </p:sp>
      <p:sp>
        <p:nvSpPr>
          <p:cNvPr id="188" name="kl2"/>
          <p:cNvSpPr>
            <a:spLocks noGrp="1"/>
          </p:cNvSpPr>
          <p:nvPr/>
        </p:nvSpPr>
        <p:spPr>
          <a:xfrm>
            <a:off x="502920" y="3282694"/>
            <a:ext cx="512064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  ✗  Requires frequent signature database updates</a:t>
            </a:r>
          </a:p>
        </p:txBody>
      </p:sp>
      <p:sp>
        <p:nvSpPr>
          <p:cNvPr id="189" name="kl3"/>
          <p:cNvSpPr>
            <a:spLocks noGrp="1"/>
          </p:cNvSpPr>
          <p:nvPr/>
        </p:nvSpPr>
        <p:spPr>
          <a:xfrm>
            <a:off x="502920" y="3803901"/>
            <a:ext cx="512064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5" dirty="0">
                <a:solidFill>
                  <a:srgbClr val="FF4C4C"/>
                </a:solidFill>
                <a:latin typeface="Segoe UI"/>
                <a:b/>
              </a:rPr>
              <a:t>  ✗  Zero-Day attacks bypass signatures entirely</a:t>
            </a:r>
          </a:p>
        </p:txBody>
      </p:sp>
      <p:sp>
        <p:nvSpPr>
          <p:cNvPr id="190" name="kl4"/>
          <p:cNvSpPr>
            <a:spLocks noGrp="1"/>
          </p:cNvSpPr>
          <p:nvPr/>
        </p:nvSpPr>
        <p:spPr>
          <a:xfrm>
            <a:off x="502920" y="4325108"/>
            <a:ext cx="512064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5" dirty="0">
                <a:solidFill>
                  <a:srgbClr val="FF4C4C"/>
                </a:solidFill>
                <a:latin typeface="Segoe UI"/>
              </a:rPr>
              <a:t>  ✗  High computational cost for deep-learning IDS</a:t>
            </a:r>
          </a:p>
        </p:txBody>
      </p:sp>
      <p:sp>
        <p:nvSpPr>
          <p:cNvPr id="191" name="kl5"/>
          <p:cNvSpPr>
            <a:spLocks noGrp="1"/>
          </p:cNvSpPr>
          <p:nvPr/>
        </p:nvSpPr>
        <p:spPr>
          <a:xfrm>
            <a:off x="502920" y="4846315"/>
            <a:ext cx="512064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5" dirty="0">
                <a:solidFill>
                  <a:srgbClr val="FF4C4C"/>
                </a:solidFill>
                <a:latin typeface="Segoe UI"/>
              </a:rPr>
              <a:t>  ✗  Not suitable for lightweight IoT edge deployment</a:t>
            </a:r>
          </a:p>
        </p:txBody>
      </p:sp>
      <p:sp>
        <p:nvSpPr>
          <p:cNvPr id="192" name="zdcard"/>
          <p:cNvSpPr>
            <a:spLocks noGrp="1"/>
          </p:cNvSpPr>
          <p:nvPr/>
        </p:nvSpPr>
        <p:spPr>
          <a:xfrm>
            <a:off x="6126480" y="1645920"/>
            <a:ext cx="5669280" cy="44805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93" name="zdhdr"/>
          <p:cNvSpPr>
            <a:spLocks noGrp="1"/>
          </p:cNvSpPr>
          <p:nvPr/>
        </p:nvSpPr>
        <p:spPr>
          <a:xfrm>
            <a:off x="6217920" y="1691640"/>
            <a:ext cx="5486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7" dirty="0">
                <a:solidFill>
                  <a:srgbClr val="00D4FF"/>
                </a:solidFill>
                <a:latin typeface="Segoe UI"/>
                <a:b/>
              </a:rPr>
              <a:t>🛡  Zero-Day Attack Challenge</a:t>
            </a:r>
          </a:p>
        </p:txBody>
      </p:sp>
      <p:sp>
        <p:nvSpPr>
          <p:cNvPr id="194" name="zdl0"/>
          <p:cNvSpPr>
            <a:spLocks noGrp="1"/>
          </p:cNvSpPr>
          <p:nvPr/>
        </p:nvSpPr>
        <p:spPr>
          <a:xfrm>
            <a:off x="6172200" y="2240280"/>
            <a:ext cx="548640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5" dirty="0">
                <a:solidFill>
                  <a:srgbClr val="FF4C4C"/>
                </a:solidFill>
                <a:latin typeface="Segoe UI"/>
                <a:b/>
              </a:rPr>
              <a:t>  ⚠  Never-before-seen attack patterns</a:t>
            </a:r>
          </a:p>
        </p:txBody>
      </p:sp>
      <p:sp>
        <p:nvSpPr>
          <p:cNvPr id="195" name="zdl1"/>
          <p:cNvSpPr>
            <a:spLocks noGrp="1"/>
          </p:cNvSpPr>
          <p:nvPr/>
        </p:nvSpPr>
        <p:spPr>
          <a:xfrm>
            <a:off x="6172200" y="2761487"/>
            <a:ext cx="548640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5" dirty="0">
                <a:solidFill>
                  <a:srgbClr val="FF4C4C"/>
                </a:solidFill>
                <a:latin typeface="Segoe UI"/>
              </a:rPr>
              <a:t>  ⚠  No signatures available in any database</a:t>
            </a:r>
          </a:p>
        </p:txBody>
      </p:sp>
      <p:sp>
        <p:nvSpPr>
          <p:cNvPr id="196" name="zdl2"/>
          <p:cNvSpPr>
            <a:spLocks noGrp="1"/>
          </p:cNvSpPr>
          <p:nvPr/>
        </p:nvSpPr>
        <p:spPr>
          <a:xfrm>
            <a:off x="6172200" y="3282694"/>
            <a:ext cx="548640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  ✓  Attackers intentionally evolve techniques to evade</a:t>
            </a:r>
          </a:p>
        </p:txBody>
      </p:sp>
      <p:sp>
        <p:nvSpPr>
          <p:cNvPr id="197" name="zdl3"/>
          <p:cNvSpPr>
            <a:spLocks noGrp="1"/>
          </p:cNvSpPr>
          <p:nvPr/>
        </p:nvSpPr>
        <p:spPr>
          <a:xfrm>
            <a:off x="6172200" y="3803901"/>
            <a:ext cx="548640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5" dirty="0">
                <a:solidFill>
                  <a:srgbClr val="00FF88"/>
                </a:solidFill>
                <a:latin typeface="Segoe UI"/>
              </a:rPr>
              <a:t>  ✓  Requires behavioural / anomaly detection approach</a:t>
            </a:r>
          </a:p>
        </p:txBody>
      </p:sp>
      <p:sp>
        <p:nvSpPr>
          <p:cNvPr id="198" name="zdl4"/>
          <p:cNvSpPr>
            <a:spLocks noGrp="1"/>
          </p:cNvSpPr>
          <p:nvPr/>
        </p:nvSpPr>
        <p:spPr>
          <a:xfrm>
            <a:off x="6172200" y="4325108"/>
            <a:ext cx="548640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5" dirty="0">
                <a:solidFill>
                  <a:srgbClr val="00FF88"/>
                </a:solidFill>
                <a:latin typeface="Segoe UI"/>
                <a:b/>
              </a:rPr>
              <a:t>  ✓  Our Solution: Autoencoder-based anomaly detection</a:t>
            </a:r>
          </a:p>
        </p:txBody>
      </p:sp>
      <p:sp>
        <p:nvSpPr>
          <p:cNvPr id="199" name="zdl5"/>
          <p:cNvSpPr>
            <a:spLocks noGrp="1"/>
          </p:cNvSpPr>
          <p:nvPr/>
        </p:nvSpPr>
        <p:spPr>
          <a:xfrm>
            <a:off x="6172200" y="4846315"/>
            <a:ext cx="548640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5" dirty="0">
                <a:solidFill>
                  <a:srgbClr val="00FF88"/>
                </a:solidFill>
                <a:latin typeface="Segoe UI"/>
              </a:rPr>
              <a:t>  ✓  Detects abnormal behaviour without prior knowledge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200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01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02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03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204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Project Objectives</a:t>
            </a:r>
          </a:p>
        </p:txBody>
      </p:sp>
      <p:sp>
        <p:nvSpPr>
          <p:cNvPr id="205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06" name="ob0"/>
          <p:cNvSpPr>
            <a:spLocks noGrp="1"/>
          </p:cNvSpPr>
          <p:nvPr/>
        </p:nvSpPr>
        <p:spPr>
          <a:xfrm>
            <a:off x="365760" y="1051560"/>
            <a:ext cx="5760720" cy="16916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207" name="obn0"/>
          <p:cNvSpPr>
            <a:spLocks noGrp="1"/>
          </p:cNvSpPr>
          <p:nvPr/>
        </p:nvSpPr>
        <p:spPr>
          <a:xfrm>
            <a:off x="530352" y="1234440"/>
            <a:ext cx="438912" cy="438912"/>
          </a:xfrm>
          <a:prstGeom prst="roundRect">
            <a:avLst>
              <a:gd name="adj" fmla="val 166666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50B1F"/>
                </a:solidFill>
                <a:latin typeface="Segoe UI"/>
                <a:b/>
              </a:rPr>
              <a:t>01</a:t>
            </a:r>
          </a:p>
        </p:txBody>
      </p:sp>
      <p:sp>
        <p:nvSpPr>
          <p:cNvPr id="208" name="obt0"/>
          <p:cNvSpPr>
            <a:spLocks noGrp="1"/>
          </p:cNvSpPr>
          <p:nvPr/>
        </p:nvSpPr>
        <p:spPr>
          <a:xfrm>
            <a:off x="1078992" y="1216152"/>
            <a:ext cx="489204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00D4FF"/>
                </a:solidFill>
                <a:latin typeface="Segoe UI"/>
                <a:b/>
              </a:rPr>
              <a:t>Known Attack Detection</a:t>
            </a:r>
          </a:p>
        </p:txBody>
      </p:sp>
      <p:sp>
        <p:nvSpPr>
          <p:cNvPr id="209" name="obd0"/>
          <p:cNvSpPr>
            <a:spLocks noGrp="1"/>
          </p:cNvSpPr>
          <p:nvPr/>
        </p:nvSpPr>
        <p:spPr>
          <a:xfrm>
            <a:off x="548640" y="1737360"/>
            <a:ext cx="5394960" cy="91440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Build a supervised LightGBM classifier to identify 10 known IoT attack types with &gt;99% accuracy</a:t>
            </a:r>
          </a:p>
        </p:txBody>
      </p:sp>
      <p:sp>
        <p:nvSpPr>
          <p:cNvPr id="210" name="ob1"/>
          <p:cNvSpPr>
            <a:spLocks noGrp="1"/>
          </p:cNvSpPr>
          <p:nvPr/>
        </p:nvSpPr>
        <p:spPr>
          <a:xfrm>
            <a:off x="6309360" y="1051560"/>
            <a:ext cx="5760720" cy="16916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211" name="obn1"/>
          <p:cNvSpPr>
            <a:spLocks noGrp="1"/>
          </p:cNvSpPr>
          <p:nvPr/>
        </p:nvSpPr>
        <p:spPr>
          <a:xfrm>
            <a:off x="6473952" y="1234440"/>
            <a:ext cx="438912" cy="438912"/>
          </a:xfrm>
          <a:prstGeom prst="roundRect">
            <a:avLst>
              <a:gd name="adj" fmla="val 166666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50B1F"/>
                </a:solidFill>
                <a:latin typeface="Segoe UI"/>
                <a:b/>
              </a:rPr>
              <a:t>02</a:t>
            </a:r>
          </a:p>
        </p:txBody>
      </p:sp>
      <p:sp>
        <p:nvSpPr>
          <p:cNvPr id="212" name="obt1"/>
          <p:cNvSpPr>
            <a:spLocks noGrp="1"/>
          </p:cNvSpPr>
          <p:nvPr/>
        </p:nvSpPr>
        <p:spPr>
          <a:xfrm>
            <a:off x="7022592" y="1216152"/>
            <a:ext cx="489204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7B2FFF"/>
                </a:solidFill>
                <a:latin typeface="Segoe UI"/>
                <a:b/>
              </a:rPr>
              <a:t>Zero-Day Attack Detection</a:t>
            </a:r>
          </a:p>
        </p:txBody>
      </p:sp>
      <p:sp>
        <p:nvSpPr>
          <p:cNvPr id="213" name="obd1"/>
          <p:cNvSpPr>
            <a:spLocks noGrp="1"/>
          </p:cNvSpPr>
          <p:nvPr/>
        </p:nvSpPr>
        <p:spPr>
          <a:xfrm>
            <a:off x="6492240" y="1737360"/>
            <a:ext cx="5394960" cy="91440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Deploy an Autoencoder trained solely on normal traffic to detect unseen anomalous behaviour</a:t>
            </a:r>
          </a:p>
        </p:txBody>
      </p:sp>
      <p:sp>
        <p:nvSpPr>
          <p:cNvPr id="214" name="ob2"/>
          <p:cNvSpPr>
            <a:spLocks noGrp="1"/>
          </p:cNvSpPr>
          <p:nvPr/>
        </p:nvSpPr>
        <p:spPr>
          <a:xfrm>
            <a:off x="365760" y="2880360"/>
            <a:ext cx="5760720" cy="16916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215" name="obn2"/>
          <p:cNvSpPr>
            <a:spLocks noGrp="1"/>
          </p:cNvSpPr>
          <p:nvPr/>
        </p:nvSpPr>
        <p:spPr>
          <a:xfrm>
            <a:off x="530352" y="3063240"/>
            <a:ext cx="438912" cy="438912"/>
          </a:xfrm>
          <a:prstGeom prst="roundRect">
            <a:avLst>
              <a:gd name="adj" fmla="val 166666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50B1F"/>
                </a:solidFill>
                <a:latin typeface="Segoe UI"/>
                <a:b/>
              </a:rPr>
              <a:t>03</a:t>
            </a:r>
          </a:p>
        </p:txBody>
      </p:sp>
      <p:sp>
        <p:nvSpPr>
          <p:cNvPr id="216" name="obt2"/>
          <p:cNvSpPr>
            <a:spLocks noGrp="1"/>
          </p:cNvSpPr>
          <p:nvPr/>
        </p:nvSpPr>
        <p:spPr>
          <a:xfrm>
            <a:off x="1078992" y="3044952"/>
            <a:ext cx="489204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00FF88"/>
                </a:solidFill>
                <a:latin typeface="Segoe UI"/>
                <a:b/>
              </a:rPr>
              <a:t>Lightweight Architecture</a:t>
            </a:r>
          </a:p>
        </p:txBody>
      </p:sp>
      <p:sp>
        <p:nvSpPr>
          <p:cNvPr id="217" name="obd2"/>
          <p:cNvSpPr>
            <a:spLocks noGrp="1"/>
          </p:cNvSpPr>
          <p:nvPr/>
        </p:nvSpPr>
        <p:spPr>
          <a:xfrm>
            <a:off x="548640" y="3566160"/>
            <a:ext cx="5394960" cy="91440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Design a system deployable on edge gateways — Autoencoder has only 11,907 parameters</a:t>
            </a:r>
          </a:p>
        </p:txBody>
      </p:sp>
      <p:sp>
        <p:nvSpPr>
          <p:cNvPr id="218" name="ob3"/>
          <p:cNvSpPr>
            <a:spLocks noGrp="1"/>
          </p:cNvSpPr>
          <p:nvPr/>
        </p:nvSpPr>
        <p:spPr>
          <a:xfrm>
            <a:off x="6309360" y="2880360"/>
            <a:ext cx="5760720" cy="16916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219" name="obn3"/>
          <p:cNvSpPr>
            <a:spLocks noGrp="1"/>
          </p:cNvSpPr>
          <p:nvPr/>
        </p:nvSpPr>
        <p:spPr>
          <a:xfrm>
            <a:off x="6473952" y="3063240"/>
            <a:ext cx="438912" cy="438912"/>
          </a:xfrm>
          <a:prstGeom prst="roundRect">
            <a:avLst>
              <a:gd name="adj" fmla="val 166666"/>
            </a:avLst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50B1F"/>
                </a:solidFill>
                <a:latin typeface="Segoe UI"/>
                <a:b/>
              </a:rPr>
              <a:t>04</a:t>
            </a:r>
          </a:p>
        </p:txBody>
      </p:sp>
      <p:sp>
        <p:nvSpPr>
          <p:cNvPr id="220" name="obt3"/>
          <p:cNvSpPr>
            <a:spLocks noGrp="1"/>
          </p:cNvSpPr>
          <p:nvPr/>
        </p:nvSpPr>
        <p:spPr>
          <a:xfrm>
            <a:off x="7022592" y="3044952"/>
            <a:ext cx="489204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FFB800"/>
                </a:solidFill>
                <a:latin typeface="Segoe UI"/>
                <a:b/>
              </a:rPr>
              <a:t>Hybrid Fusion IDS</a:t>
            </a:r>
          </a:p>
        </p:txBody>
      </p:sp>
      <p:sp>
        <p:nvSpPr>
          <p:cNvPr id="221" name="obd3"/>
          <p:cNvSpPr>
            <a:spLocks noGrp="1"/>
          </p:cNvSpPr>
          <p:nvPr/>
        </p:nvSpPr>
        <p:spPr>
          <a:xfrm>
            <a:off x="6492240" y="3566160"/>
            <a:ext cx="5394960" cy="91440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Combine both models in a smart fusion layer for superior accuracy across known and zero-day threats</a:t>
            </a:r>
          </a:p>
        </p:txBody>
      </p:sp>
      <p:sp>
        <p:nvSpPr>
          <p:cNvPr id="222" name="ob4"/>
          <p:cNvSpPr>
            <a:spLocks noGrp="1"/>
          </p:cNvSpPr>
          <p:nvPr/>
        </p:nvSpPr>
        <p:spPr>
          <a:xfrm>
            <a:off x="365760" y="4709160"/>
            <a:ext cx="5760720" cy="16916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223" name="obn4"/>
          <p:cNvSpPr>
            <a:spLocks noGrp="1"/>
          </p:cNvSpPr>
          <p:nvPr/>
        </p:nvSpPr>
        <p:spPr>
          <a:xfrm>
            <a:off x="530352" y="4892040"/>
            <a:ext cx="438912" cy="438912"/>
          </a:xfrm>
          <a:prstGeom prst="roundRect">
            <a:avLst>
              <a:gd name="adj" fmla="val 166666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50B1F"/>
                </a:solidFill>
                <a:latin typeface="Segoe UI"/>
                <a:b/>
              </a:rPr>
              <a:t>05</a:t>
            </a:r>
          </a:p>
        </p:txBody>
      </p:sp>
      <p:sp>
        <p:nvSpPr>
          <p:cNvPr id="224" name="obt4"/>
          <p:cNvSpPr>
            <a:spLocks noGrp="1"/>
          </p:cNvSpPr>
          <p:nvPr/>
        </p:nvSpPr>
        <p:spPr>
          <a:xfrm>
            <a:off x="1078992" y="4873752"/>
            <a:ext cx="489204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FF4C4C"/>
                </a:solidFill>
                <a:latin typeface="Segoe UI"/>
                <a:b/>
              </a:rPr>
              <a:t>Research Contribution</a:t>
            </a:r>
          </a:p>
        </p:txBody>
      </p:sp>
      <p:sp>
        <p:nvSpPr>
          <p:cNvPr id="225" name="obd4"/>
          <p:cNvSpPr>
            <a:spLocks noGrp="1"/>
          </p:cNvSpPr>
          <p:nvPr/>
        </p:nvSpPr>
        <p:spPr>
          <a:xfrm>
            <a:off x="548640" y="5394960"/>
            <a:ext cx="5394960" cy="91440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Benchmark against Isolation Forest baseline and validate zero-day scenario with hidden attack split</a:t>
            </a:r>
          </a:p>
        </p:txBody>
      </p:sp>
      <p:sp>
        <p:nvSpPr>
          <p:cNvPr id="226" name="ob5"/>
          <p:cNvSpPr>
            <a:spLocks noGrp="1"/>
          </p:cNvSpPr>
          <p:nvPr/>
        </p:nvSpPr>
        <p:spPr>
          <a:xfrm>
            <a:off x="6309360" y="4709160"/>
            <a:ext cx="5760720" cy="16916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B0C4DE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227" name="obn5"/>
          <p:cNvSpPr>
            <a:spLocks noGrp="1"/>
          </p:cNvSpPr>
          <p:nvPr/>
        </p:nvSpPr>
        <p:spPr>
          <a:xfrm>
            <a:off x="6473952" y="4892040"/>
            <a:ext cx="438912" cy="438912"/>
          </a:xfrm>
          <a:prstGeom prst="roundRect">
            <a:avLst>
              <a:gd name="adj" fmla="val 166666"/>
            </a:avLst>
          </a:prstGeom>
          <a:solidFill>
            <a:srgbClr val="B0C4DE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50B1F"/>
                </a:solidFill>
                <a:latin typeface="Segoe UI"/>
                <a:b/>
              </a:rPr>
              <a:t>06</a:t>
            </a:r>
          </a:p>
        </p:txBody>
      </p:sp>
      <p:sp>
        <p:nvSpPr>
          <p:cNvPr id="228" name="obt5"/>
          <p:cNvSpPr>
            <a:spLocks noGrp="1"/>
          </p:cNvSpPr>
          <p:nvPr/>
        </p:nvSpPr>
        <p:spPr>
          <a:xfrm>
            <a:off x="7022592" y="4873752"/>
            <a:ext cx="489204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B0C4DE"/>
                </a:solidFill>
                <a:latin typeface="Segoe UI"/>
                <a:b/>
              </a:rPr>
              <a:t>Edge Deployment Suitability</a:t>
            </a:r>
          </a:p>
        </p:txBody>
      </p:sp>
      <p:sp>
        <p:nvSpPr>
          <p:cNvPr id="229" name="obd5"/>
          <p:cNvSpPr>
            <a:spLocks noGrp="1"/>
          </p:cNvSpPr>
          <p:nvPr/>
        </p:nvSpPr>
        <p:spPr>
          <a:xfrm>
            <a:off x="6492240" y="5394960"/>
            <a:ext cx="5394960" cy="91440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Achieve real-time detection capability suitable for resource-constrained IoT edge environments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230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31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32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33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234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Why Zero-Day Detection is Difficult</a:t>
            </a:r>
          </a:p>
        </p:txBody>
      </p:sp>
      <p:sp>
        <p:nvSpPr>
          <p:cNvPr id="235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36" name="wb0"/>
          <p:cNvSpPr>
            <a:spLocks noGrp="1"/>
          </p:cNvSpPr>
          <p:nvPr/>
        </p:nvSpPr>
        <p:spPr>
          <a:xfrm>
            <a:off x="365760" y="1051560"/>
            <a:ext cx="548640" cy="822960"/>
          </a:xfrm>
          <a:prstGeom prst="roundRect">
            <a:avLst>
              <a:gd name="adj" fmla="val 60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22" dirty="0">
                <a:solidFill>
                  <a:srgbClr val="050B1F"/>
                </a:solidFill>
                <a:latin typeface="Segoe UI"/>
                <a:b/>
              </a:rPr>
              <a:t>1</a:t>
            </a:r>
          </a:p>
        </p:txBody>
      </p:sp>
      <p:sp>
        <p:nvSpPr>
          <p:cNvPr id="237" name="wc0"/>
          <p:cNvSpPr>
            <a:spLocks noGrp="1"/>
          </p:cNvSpPr>
          <p:nvPr/>
        </p:nvSpPr>
        <p:spPr>
          <a:xfrm>
            <a:off x="1051560" y="1051560"/>
            <a:ext cx="10561320" cy="82296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238" name="wt0"/>
          <p:cNvSpPr>
            <a:spLocks noGrp="1"/>
          </p:cNvSpPr>
          <p:nvPr/>
        </p:nvSpPr>
        <p:spPr>
          <a:xfrm>
            <a:off x="1188720" y="1051560"/>
            <a:ext cx="1033272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FF4C4C"/>
                </a:solidFill>
                <a:latin typeface="Segoe UI"/>
                <a:b/>
              </a:rPr>
              <a:t>No Prior Signatures</a:t>
            </a:r>
          </a:p>
        </p:txBody>
      </p:sp>
      <p:sp>
        <p:nvSpPr>
          <p:cNvPr id="239" name="wd0"/>
          <p:cNvSpPr>
            <a:spLocks noGrp="1"/>
          </p:cNvSpPr>
          <p:nvPr/>
        </p:nvSpPr>
        <p:spPr>
          <a:xfrm>
            <a:off x="1188720" y="1435608"/>
            <a:ext cx="10332720" cy="41148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Zero-day attacks have never been catalogued. No fingerprint exists in any threat database.</a:t>
            </a:r>
          </a:p>
        </p:txBody>
      </p:sp>
      <p:sp>
        <p:nvSpPr>
          <p:cNvPr id="240" name="wb1"/>
          <p:cNvSpPr>
            <a:spLocks noGrp="1"/>
          </p:cNvSpPr>
          <p:nvPr/>
        </p:nvSpPr>
        <p:spPr>
          <a:xfrm>
            <a:off x="365760" y="2148840"/>
            <a:ext cx="548640" cy="822960"/>
          </a:xfrm>
          <a:prstGeom prst="roundRect">
            <a:avLst>
              <a:gd name="adj" fmla="val 6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22" dirty="0">
                <a:solidFill>
                  <a:srgbClr val="050B1F"/>
                </a:solidFill>
                <a:latin typeface="Segoe UI"/>
                <a:b/>
              </a:rPr>
              <a:t>2</a:t>
            </a:r>
          </a:p>
        </p:txBody>
      </p:sp>
      <p:sp>
        <p:nvSpPr>
          <p:cNvPr id="241" name="wc1"/>
          <p:cNvSpPr>
            <a:spLocks noGrp="1"/>
          </p:cNvSpPr>
          <p:nvPr/>
        </p:nvSpPr>
        <p:spPr>
          <a:xfrm>
            <a:off x="1051560" y="2148840"/>
            <a:ext cx="10561320" cy="82296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242" name="wt1"/>
          <p:cNvSpPr>
            <a:spLocks noGrp="1"/>
          </p:cNvSpPr>
          <p:nvPr/>
        </p:nvSpPr>
        <p:spPr>
          <a:xfrm>
            <a:off x="1188720" y="2148840"/>
            <a:ext cx="1033272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7B2FFF"/>
                </a:solidFill>
                <a:latin typeface="Segoe UI"/>
                <a:b/>
              </a:rPr>
              <a:t>Constantly Evolving Threats</a:t>
            </a:r>
          </a:p>
        </p:txBody>
      </p:sp>
      <p:sp>
        <p:nvSpPr>
          <p:cNvPr id="243" name="wd1"/>
          <p:cNvSpPr>
            <a:spLocks noGrp="1"/>
          </p:cNvSpPr>
          <p:nvPr/>
        </p:nvSpPr>
        <p:spPr>
          <a:xfrm>
            <a:off x="1188720" y="2532888"/>
            <a:ext cx="10332720" cy="41148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Attackers continuously mutate techniques to evade detection — polymorphic and metamorphic malware.</a:t>
            </a:r>
          </a:p>
        </p:txBody>
      </p:sp>
      <p:sp>
        <p:nvSpPr>
          <p:cNvPr id="244" name="wb2"/>
          <p:cNvSpPr>
            <a:spLocks noGrp="1"/>
          </p:cNvSpPr>
          <p:nvPr/>
        </p:nvSpPr>
        <p:spPr>
          <a:xfrm>
            <a:off x="365760" y="3246120"/>
            <a:ext cx="548640" cy="822960"/>
          </a:xfrm>
          <a:prstGeom prst="roundRect">
            <a:avLst>
              <a:gd name="adj" fmla="val 60000"/>
            </a:avLst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22" dirty="0">
                <a:solidFill>
                  <a:srgbClr val="050B1F"/>
                </a:solidFill>
                <a:latin typeface="Segoe UI"/>
                <a:b/>
              </a:rPr>
              <a:t>3</a:t>
            </a:r>
          </a:p>
        </p:txBody>
      </p:sp>
      <p:sp>
        <p:nvSpPr>
          <p:cNvPr id="245" name="wc2"/>
          <p:cNvSpPr>
            <a:spLocks noGrp="1"/>
          </p:cNvSpPr>
          <p:nvPr/>
        </p:nvSpPr>
        <p:spPr>
          <a:xfrm>
            <a:off x="1051560" y="3246120"/>
            <a:ext cx="10561320" cy="82296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246" name="wt2"/>
          <p:cNvSpPr>
            <a:spLocks noGrp="1"/>
          </p:cNvSpPr>
          <p:nvPr/>
        </p:nvSpPr>
        <p:spPr>
          <a:xfrm>
            <a:off x="1188720" y="3246120"/>
            <a:ext cx="1033272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FFB800"/>
                </a:solidFill>
                <a:latin typeface="Segoe UI"/>
                <a:b/>
              </a:rPr>
              <a:t>Normal vs. Malicious Boundary Blurs</a:t>
            </a:r>
          </a:p>
        </p:txBody>
      </p:sp>
      <p:sp>
        <p:nvSpPr>
          <p:cNvPr id="247" name="wd2"/>
          <p:cNvSpPr>
            <a:spLocks noGrp="1"/>
          </p:cNvSpPr>
          <p:nvPr/>
        </p:nvSpPr>
        <p:spPr>
          <a:xfrm>
            <a:off x="1188720" y="3630168"/>
            <a:ext cx="10332720" cy="41148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Sophisticated attacks mimic legitimate traffic patterns, making statistical separation extremely hard.</a:t>
            </a:r>
          </a:p>
        </p:txBody>
      </p:sp>
      <p:sp>
        <p:nvSpPr>
          <p:cNvPr id="248" name="wb3"/>
          <p:cNvSpPr>
            <a:spLocks noGrp="1"/>
          </p:cNvSpPr>
          <p:nvPr/>
        </p:nvSpPr>
        <p:spPr>
          <a:xfrm>
            <a:off x="365760" y="4343400"/>
            <a:ext cx="548640" cy="822960"/>
          </a:xfrm>
          <a:prstGeom prst="roundRect">
            <a:avLst>
              <a:gd name="adj" fmla="val 60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22" dirty="0">
                <a:solidFill>
                  <a:srgbClr val="050B1F"/>
                </a:solidFill>
                <a:latin typeface="Segoe UI"/>
                <a:b/>
              </a:rPr>
              <a:t>4</a:t>
            </a:r>
          </a:p>
        </p:txBody>
      </p:sp>
      <p:sp>
        <p:nvSpPr>
          <p:cNvPr id="249" name="wc3"/>
          <p:cNvSpPr>
            <a:spLocks noGrp="1"/>
          </p:cNvSpPr>
          <p:nvPr/>
        </p:nvSpPr>
        <p:spPr>
          <a:xfrm>
            <a:off x="1051560" y="4343400"/>
            <a:ext cx="10561320" cy="82296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250" name="wt3"/>
          <p:cNvSpPr>
            <a:spLocks noGrp="1"/>
          </p:cNvSpPr>
          <p:nvPr/>
        </p:nvSpPr>
        <p:spPr>
          <a:xfrm>
            <a:off x="1188720" y="4343400"/>
            <a:ext cx="1033272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00D4FF"/>
                </a:solidFill>
                <a:latin typeface="Segoe UI"/>
                <a:b/>
              </a:rPr>
              <a:t>High False Positive Risk</a:t>
            </a:r>
          </a:p>
        </p:txBody>
      </p:sp>
      <p:sp>
        <p:nvSpPr>
          <p:cNvPr id="251" name="wd3"/>
          <p:cNvSpPr>
            <a:spLocks noGrp="1"/>
          </p:cNvSpPr>
          <p:nvPr/>
        </p:nvSpPr>
        <p:spPr>
          <a:xfrm>
            <a:off x="1188720" y="4727448"/>
            <a:ext cx="10332720" cy="41148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Overly sensitive anomaly detectors flag normal traffic as attacks, causing alert fatigue.</a:t>
            </a:r>
          </a:p>
        </p:txBody>
      </p:sp>
      <p:sp>
        <p:nvSpPr>
          <p:cNvPr id="252" name="wb4"/>
          <p:cNvSpPr>
            <a:spLocks noGrp="1"/>
          </p:cNvSpPr>
          <p:nvPr/>
        </p:nvSpPr>
        <p:spPr>
          <a:xfrm>
            <a:off x="365760" y="5440680"/>
            <a:ext cx="548640" cy="822960"/>
          </a:xfrm>
          <a:prstGeom prst="roundRect">
            <a:avLst>
              <a:gd name="adj" fmla="val 6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22" dirty="0">
                <a:solidFill>
                  <a:srgbClr val="050B1F"/>
                </a:solidFill>
                <a:latin typeface="Segoe UI"/>
                <a:b/>
              </a:rPr>
              <a:t>5</a:t>
            </a:r>
          </a:p>
        </p:txBody>
      </p:sp>
      <p:sp>
        <p:nvSpPr>
          <p:cNvPr id="253" name="wc4"/>
          <p:cNvSpPr>
            <a:spLocks noGrp="1"/>
          </p:cNvSpPr>
          <p:nvPr/>
        </p:nvSpPr>
        <p:spPr>
          <a:xfrm>
            <a:off x="1051560" y="5440680"/>
            <a:ext cx="10561320" cy="82296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254" name="wt4"/>
          <p:cNvSpPr>
            <a:spLocks noGrp="1"/>
          </p:cNvSpPr>
          <p:nvPr/>
        </p:nvSpPr>
        <p:spPr>
          <a:xfrm>
            <a:off x="1188720" y="5440680"/>
            <a:ext cx="1033272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00FF88"/>
                </a:solidFill>
                <a:latin typeface="Segoe UI"/>
                <a:b/>
              </a:rPr>
              <a:t>Limited Training Data</a:t>
            </a:r>
          </a:p>
        </p:txBody>
      </p:sp>
      <p:sp>
        <p:nvSpPr>
          <p:cNvPr id="255" name="wd4"/>
          <p:cNvSpPr>
            <a:spLocks noGrp="1"/>
          </p:cNvSpPr>
          <p:nvPr/>
        </p:nvSpPr>
        <p:spPr>
          <a:xfrm>
            <a:off x="1188720" y="5824728"/>
            <a:ext cx="10332720" cy="41148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B0C4DE"/>
                </a:solidFill>
                <a:latin typeface="Segoe UI"/>
              </a:rPr>
              <a:t>By definition, zero-day samples cannot exist in training data — models must generalise beyond seen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256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57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58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59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260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Dataset Overview — Edge-IIoT</a:t>
            </a:r>
          </a:p>
        </p:txBody>
      </p:sp>
      <p:sp>
        <p:nvSpPr>
          <p:cNvPr id="261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62" name="stat"/>
          <p:cNvSpPr>
            <a:spLocks noGrp="1"/>
          </p:cNvSpPr>
          <p:nvPr/>
        </p:nvSpPr>
        <p:spPr>
          <a:xfrm>
            <a:off x="365760" y="1005840"/>
            <a:ext cx="2651760" cy="10515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00D4FF"/>
                </a:solidFill>
                <a:latin typeface="Segoe UI"/>
                <a:b/>
              </a:rPr>
              <a:t>157,800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Raw Rows</a:t>
            </a:r>
          </a:p>
        </p:txBody>
      </p:sp>
      <p:sp>
        <p:nvSpPr>
          <p:cNvPr id="263" name="stat"/>
          <p:cNvSpPr>
            <a:spLocks noGrp="1"/>
          </p:cNvSpPr>
          <p:nvPr/>
        </p:nvSpPr>
        <p:spPr>
          <a:xfrm>
            <a:off x="3200400" y="1005840"/>
            <a:ext cx="2651760" cy="10515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00FF88"/>
                </a:solidFill>
                <a:latin typeface="Segoe UI"/>
                <a:b/>
              </a:rPr>
              <a:t>152,389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After Cleaning</a:t>
            </a:r>
          </a:p>
        </p:txBody>
      </p:sp>
      <p:sp>
        <p:nvSpPr>
          <p:cNvPr id="264" name="stat"/>
          <p:cNvSpPr>
            <a:spLocks noGrp="1"/>
          </p:cNvSpPr>
          <p:nvPr/>
        </p:nvSpPr>
        <p:spPr>
          <a:xfrm>
            <a:off x="6035040" y="1005840"/>
            <a:ext cx="2651760" cy="10515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7B2FFF"/>
                </a:solidFill>
                <a:latin typeface="Segoe UI"/>
                <a:b/>
              </a:rPr>
              <a:t>63→53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Features</a:t>
            </a:r>
          </a:p>
        </p:txBody>
      </p:sp>
      <p:sp>
        <p:nvSpPr>
          <p:cNvPr id="265" name="stat"/>
          <p:cNvSpPr>
            <a:spLocks noGrp="1"/>
          </p:cNvSpPr>
          <p:nvPr/>
        </p:nvSpPr>
        <p:spPr>
          <a:xfrm>
            <a:off x="8869680" y="1005840"/>
            <a:ext cx="2651760" cy="10515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FFB800"/>
                </a:solidFill>
                <a:latin typeface="Segoe UI"/>
                <a:b/>
              </a:rPr>
              <a:t>15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Traffic Classes</a:t>
            </a:r>
          </a:p>
        </p:txBody>
      </p:sp>
      <p:sp>
        <p:nvSpPr>
          <p:cNvPr id="266" name="dsinfo"/>
          <p:cNvSpPr>
            <a:spLocks noGrp="1"/>
          </p:cNvSpPr>
          <p:nvPr/>
        </p:nvSpPr>
        <p:spPr>
          <a:xfrm>
            <a:off x="365760" y="2240280"/>
            <a:ext cx="4297680" cy="39319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267" name="dshdr"/>
          <p:cNvSpPr>
            <a:spLocks noGrp="1"/>
          </p:cNvSpPr>
          <p:nvPr/>
        </p:nvSpPr>
        <p:spPr>
          <a:xfrm>
            <a:off x="502920" y="2286000"/>
            <a:ext cx="402336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📊  Dataset Properties</a:t>
            </a:r>
          </a:p>
        </p:txBody>
      </p:sp>
      <p:sp>
        <p:nvSpPr>
          <p:cNvPr id="268" name="di0"/>
          <p:cNvSpPr>
            <a:spLocks noGrp="1"/>
          </p:cNvSpPr>
          <p:nvPr/>
        </p:nvSpPr>
        <p:spPr>
          <a:xfrm>
            <a:off x="502920" y="2788920"/>
            <a:ext cx="41148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Dataset:  </a:t>
            </a:r>
            <a:r>
              <a:rPr lang="en-US" sz="13" dirty="0">
                <a:solidFill>
                  <a:srgbClr val="B0C4DE"/>
                </a:solidFill>
                <a:latin typeface="Segoe UI"/>
              </a:rPr>
              <a:t>Edge-IIoT (ML-EdgeIIoT-dataset)</a:t>
            </a:r>
          </a:p>
        </p:txBody>
      </p:sp>
      <p:sp>
        <p:nvSpPr>
          <p:cNvPr id="269" name="di1"/>
          <p:cNvSpPr>
            <a:spLocks noGrp="1"/>
          </p:cNvSpPr>
          <p:nvPr/>
        </p:nvSpPr>
        <p:spPr>
          <a:xfrm>
            <a:off x="502920" y="3209544"/>
            <a:ext cx="41148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  <a:b/>
              </a:rPr>
              <a:t>Source:  </a:t>
            </a:r>
            <a:r>
              <a:rPr lang="en-US" sz="13" dirty="0">
                <a:solidFill>
                  <a:srgbClr val="B0C4DE"/>
                </a:solidFill>
                <a:latin typeface="Segoe UI"/>
              </a:rPr>
              <a:t>Kaggle — sibasispradhan/edge-iiotset-dataset</a:t>
            </a:r>
          </a:p>
        </p:txBody>
      </p:sp>
      <p:sp>
        <p:nvSpPr>
          <p:cNvPr id="270" name="di2"/>
          <p:cNvSpPr>
            <a:spLocks noGrp="1"/>
          </p:cNvSpPr>
          <p:nvPr/>
        </p:nvSpPr>
        <p:spPr>
          <a:xfrm>
            <a:off x="502920" y="3630168"/>
            <a:ext cx="41148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  <a:b/>
              </a:rPr>
              <a:t>Environment:  </a:t>
            </a:r>
            <a:r>
              <a:rPr lang="en-US" sz="13" dirty="0">
                <a:solidFill>
                  <a:srgbClr val="B0C4DE"/>
                </a:solidFill>
                <a:latin typeface="Segoe UI"/>
              </a:rPr>
              <a:t>Simulated IoT Lab — Real network traffic</a:t>
            </a:r>
          </a:p>
        </p:txBody>
      </p:sp>
      <p:sp>
        <p:nvSpPr>
          <p:cNvPr id="271" name="di3"/>
          <p:cNvSpPr>
            <a:spLocks noGrp="1"/>
          </p:cNvSpPr>
          <p:nvPr/>
        </p:nvSpPr>
        <p:spPr>
          <a:xfrm>
            <a:off x="502920" y="4050792"/>
            <a:ext cx="41148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  <a:b/>
              </a:rPr>
              <a:t>Protocol Coverage:  </a:t>
            </a:r>
            <a:r>
              <a:rPr lang="en-US" sz="13" dirty="0">
                <a:solidFill>
                  <a:srgbClr val="B0C4DE"/>
                </a:solidFill>
                <a:latin typeface="Segoe UI"/>
              </a:rPr>
              <a:t>TCP, UDP, ICMP, HTTP, DNS, MQTT, ARP, Modbus</a:t>
            </a:r>
          </a:p>
        </p:txBody>
      </p:sp>
      <p:sp>
        <p:nvSpPr>
          <p:cNvPr id="272" name="di4"/>
          <p:cNvSpPr>
            <a:spLocks noGrp="1"/>
          </p:cNvSpPr>
          <p:nvPr/>
        </p:nvSpPr>
        <p:spPr>
          <a:xfrm>
            <a:off x="502920" y="4471416"/>
            <a:ext cx="41148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FF88"/>
                </a:solidFill>
                <a:latin typeface="Segoe UI"/>
                <a:b/>
              </a:rPr>
              <a:t>Normal Traffic:  </a:t>
            </a:r>
            <a:r>
              <a:rPr lang="en-US" sz="13" dirty="0">
                <a:solidFill>
                  <a:srgbClr val="B0C4DE"/>
                </a:solidFill>
                <a:latin typeface="Segoe UI"/>
              </a:rPr>
              <a:t>24,152 rows (16%)</a:t>
            </a:r>
          </a:p>
        </p:txBody>
      </p:sp>
      <p:sp>
        <p:nvSpPr>
          <p:cNvPr id="273" name="di5"/>
          <p:cNvSpPr>
            <a:spLocks noGrp="1"/>
          </p:cNvSpPr>
          <p:nvPr/>
        </p:nvSpPr>
        <p:spPr>
          <a:xfrm>
            <a:off x="502920" y="4892040"/>
            <a:ext cx="41148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4C4C"/>
                </a:solidFill>
                <a:latin typeface="Segoe UI"/>
                <a:b/>
              </a:rPr>
              <a:t>Attack Traffic:  </a:t>
            </a:r>
            <a:r>
              <a:rPr lang="en-US" sz="13" dirty="0">
                <a:solidFill>
                  <a:srgbClr val="B0C4DE"/>
                </a:solidFill>
                <a:latin typeface="Segoe UI"/>
              </a:rPr>
              <a:t>128,237 rows (84%)</a:t>
            </a:r>
          </a:p>
        </p:txBody>
      </p:sp>
      <p:sp>
        <p:nvSpPr>
          <p:cNvPr id="274" name="di6"/>
          <p:cNvSpPr>
            <a:spLocks noGrp="1"/>
          </p:cNvSpPr>
          <p:nvPr/>
        </p:nvSpPr>
        <p:spPr>
          <a:xfrm>
            <a:off x="502920" y="5312664"/>
            <a:ext cx="41148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B800"/>
                </a:solidFill>
                <a:latin typeface="Segoe UI"/>
                <a:b/>
              </a:rPr>
              <a:t>Train Split (Known):  </a:t>
            </a:r>
            <a:r>
              <a:rPr lang="en-US" sz="13" dirty="0">
                <a:solidFill>
                  <a:srgbClr val="B0C4DE"/>
                </a:solidFill>
                <a:latin typeface="Segoe UI"/>
              </a:rPr>
              <a:t>121,293 rows — 10 known attack types</a:t>
            </a:r>
          </a:p>
        </p:txBody>
      </p:sp>
      <p:sp>
        <p:nvSpPr>
          <p:cNvPr id="275" name="di7"/>
          <p:cNvSpPr>
            <a:spLocks noGrp="1"/>
          </p:cNvSpPr>
          <p:nvPr/>
        </p:nvSpPr>
        <p:spPr>
          <a:xfrm>
            <a:off x="502920" y="5733288"/>
            <a:ext cx="41148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Zero-Day Hidden:  </a:t>
            </a:r>
            <a:r>
              <a:rPr lang="en-US" sz="13" dirty="0">
                <a:solidFill>
                  <a:srgbClr val="B0C4DE"/>
                </a:solidFill>
                <a:latin typeface="Segoe UI"/>
              </a:rPr>
              <a:t>31,096 rows — 5 unseen attack types</a:t>
            </a:r>
          </a:p>
        </p:txBody>
      </p:sp>
      <p:sp>
        <p:nvSpPr>
          <p:cNvPr id="276" name="distcard"/>
          <p:cNvSpPr>
            <a:spLocks noGrp="1"/>
          </p:cNvSpPr>
          <p:nvPr/>
        </p:nvSpPr>
        <p:spPr>
          <a:xfrm>
            <a:off x="4846320" y="2240280"/>
            <a:ext cx="6949440" cy="39319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277" name="disthdr"/>
          <p:cNvSpPr>
            <a:spLocks noGrp="1"/>
          </p:cNvSpPr>
          <p:nvPr/>
        </p:nvSpPr>
        <p:spPr>
          <a:xfrm>
            <a:off x="5029200" y="2304288"/>
            <a:ext cx="658368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5" dirty="0">
                <a:solidFill>
                  <a:srgbClr val="7B2FFF"/>
                </a:solidFill>
                <a:latin typeface="Segoe UI"/>
                <a:b/>
              </a:rPr>
              <a:t>Attack Type Distribution</a:t>
            </a:r>
          </a:p>
        </p:txBody>
      </p:sp>
      <p:sp>
        <p:nvSpPr>
          <p:cNvPr id="278" name="al0"/>
          <p:cNvSpPr>
            <a:spLocks noGrp="1"/>
          </p:cNvSpPr>
          <p:nvPr/>
        </p:nvSpPr>
        <p:spPr>
          <a:xfrm>
            <a:off x="4983480" y="2788920"/>
            <a:ext cx="192024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Normal</a:t>
            </a:r>
          </a:p>
        </p:txBody>
      </p:sp>
      <p:sp>
        <p:nvSpPr>
          <p:cNvPr id="279" name="at0"/>
          <p:cNvSpPr>
            <a:spLocks noGrp="1"/>
          </p:cNvSpPr>
          <p:nvPr/>
        </p:nvSpPr>
        <p:spPr>
          <a:xfrm>
            <a:off x="6949440" y="2843784"/>
            <a:ext cx="320040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80" name="ab0"/>
          <p:cNvSpPr>
            <a:spLocks noGrp="1"/>
          </p:cNvSpPr>
          <p:nvPr/>
        </p:nvSpPr>
        <p:spPr>
          <a:xfrm>
            <a:off x="6949440" y="2843784"/>
            <a:ext cx="3200400" cy="201168"/>
          </a:xfrm>
          <a:prstGeom prst="roundRect">
            <a:avLst>
              <a:gd name="adj" fmla="val 15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81" name="av0"/>
          <p:cNvSpPr>
            <a:spLocks noGrp="1"/>
          </p:cNvSpPr>
          <p:nvPr/>
        </p:nvSpPr>
        <p:spPr>
          <a:xfrm>
            <a:off x="10241280" y="2788920"/>
            <a:ext cx="13716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1" dirty="0">
                <a:solidFill>
                  <a:srgbClr val="00FF88"/>
                </a:solidFill>
                <a:latin typeface="Segoe UI"/>
              </a:rPr>
              <a:t>24,152</a:t>
            </a:r>
          </a:p>
        </p:txBody>
      </p:sp>
      <p:sp>
        <p:nvSpPr>
          <p:cNvPr id="282" name="al1"/>
          <p:cNvSpPr>
            <a:spLocks noGrp="1"/>
          </p:cNvSpPr>
          <p:nvPr/>
        </p:nvSpPr>
        <p:spPr>
          <a:xfrm>
            <a:off x="4983480" y="3163824"/>
            <a:ext cx="192024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DDoS_UDP</a:t>
            </a:r>
          </a:p>
        </p:txBody>
      </p:sp>
      <p:sp>
        <p:nvSpPr>
          <p:cNvPr id="283" name="at1"/>
          <p:cNvSpPr>
            <a:spLocks noGrp="1"/>
          </p:cNvSpPr>
          <p:nvPr/>
        </p:nvSpPr>
        <p:spPr>
          <a:xfrm>
            <a:off x="6949440" y="3218688"/>
            <a:ext cx="320040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84" name="ab1"/>
          <p:cNvSpPr>
            <a:spLocks noGrp="1"/>
          </p:cNvSpPr>
          <p:nvPr/>
        </p:nvSpPr>
        <p:spPr>
          <a:xfrm>
            <a:off x="6949440" y="3218688"/>
            <a:ext cx="1921141" cy="201168"/>
          </a:xfrm>
          <a:prstGeom prst="roundRect">
            <a:avLst>
              <a:gd name="adj" fmla="val 15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85" name="av1"/>
          <p:cNvSpPr>
            <a:spLocks noGrp="1"/>
          </p:cNvSpPr>
          <p:nvPr/>
        </p:nvSpPr>
        <p:spPr>
          <a:xfrm>
            <a:off x="10241280" y="3163824"/>
            <a:ext cx="13716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1" dirty="0">
                <a:solidFill>
                  <a:srgbClr val="FF4C4C"/>
                </a:solidFill>
                <a:latin typeface="Segoe UI"/>
              </a:rPr>
              <a:t>14,498</a:t>
            </a:r>
          </a:p>
        </p:txBody>
      </p:sp>
      <p:sp>
        <p:nvSpPr>
          <p:cNvPr id="286" name="al2"/>
          <p:cNvSpPr>
            <a:spLocks noGrp="1"/>
          </p:cNvSpPr>
          <p:nvPr/>
        </p:nvSpPr>
        <p:spPr>
          <a:xfrm>
            <a:off x="4983480" y="3538728"/>
            <a:ext cx="192024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DDoS_ICMP</a:t>
            </a:r>
          </a:p>
        </p:txBody>
      </p:sp>
      <p:sp>
        <p:nvSpPr>
          <p:cNvPr id="287" name="at2"/>
          <p:cNvSpPr>
            <a:spLocks noGrp="1"/>
          </p:cNvSpPr>
          <p:nvPr/>
        </p:nvSpPr>
        <p:spPr>
          <a:xfrm>
            <a:off x="6949440" y="3593592"/>
            <a:ext cx="320040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88" name="ab2"/>
          <p:cNvSpPr>
            <a:spLocks noGrp="1"/>
          </p:cNvSpPr>
          <p:nvPr/>
        </p:nvSpPr>
        <p:spPr>
          <a:xfrm>
            <a:off x="6949440" y="3593592"/>
            <a:ext cx="1735360" cy="201168"/>
          </a:xfrm>
          <a:prstGeom prst="roundRect">
            <a:avLst>
              <a:gd name="adj" fmla="val 15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89" name="av2"/>
          <p:cNvSpPr>
            <a:spLocks noGrp="1"/>
          </p:cNvSpPr>
          <p:nvPr/>
        </p:nvSpPr>
        <p:spPr>
          <a:xfrm>
            <a:off x="10241280" y="3538728"/>
            <a:ext cx="13716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1" dirty="0">
                <a:solidFill>
                  <a:srgbClr val="FF4C4C"/>
                </a:solidFill>
                <a:latin typeface="Segoe UI"/>
              </a:rPr>
              <a:t>13,096</a:t>
            </a:r>
          </a:p>
        </p:txBody>
      </p:sp>
      <p:sp>
        <p:nvSpPr>
          <p:cNvPr id="290" name="al3"/>
          <p:cNvSpPr>
            <a:spLocks noGrp="1"/>
          </p:cNvSpPr>
          <p:nvPr/>
        </p:nvSpPr>
        <p:spPr>
          <a:xfrm>
            <a:off x="4983480" y="3913632"/>
            <a:ext cx="192024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DDoS_HTTP</a:t>
            </a:r>
          </a:p>
        </p:txBody>
      </p:sp>
      <p:sp>
        <p:nvSpPr>
          <p:cNvPr id="291" name="at3"/>
          <p:cNvSpPr>
            <a:spLocks noGrp="1"/>
          </p:cNvSpPr>
          <p:nvPr/>
        </p:nvSpPr>
        <p:spPr>
          <a:xfrm>
            <a:off x="6949440" y="3968496"/>
            <a:ext cx="320040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92" name="ab3"/>
          <p:cNvSpPr>
            <a:spLocks noGrp="1"/>
          </p:cNvSpPr>
          <p:nvPr/>
        </p:nvSpPr>
        <p:spPr>
          <a:xfrm>
            <a:off x="6949440" y="3968496"/>
            <a:ext cx="1399181" cy="201168"/>
          </a:xfrm>
          <a:prstGeom prst="roundRect">
            <a:avLst>
              <a:gd name="adj" fmla="val 15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93" name="av3"/>
          <p:cNvSpPr>
            <a:spLocks noGrp="1"/>
          </p:cNvSpPr>
          <p:nvPr/>
        </p:nvSpPr>
        <p:spPr>
          <a:xfrm>
            <a:off x="10241280" y="3913632"/>
            <a:ext cx="13716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1" dirty="0">
                <a:solidFill>
                  <a:srgbClr val="FF4C4C"/>
                </a:solidFill>
                <a:latin typeface="Segoe UI"/>
              </a:rPr>
              <a:t>10,559</a:t>
            </a:r>
          </a:p>
        </p:txBody>
      </p:sp>
      <p:sp>
        <p:nvSpPr>
          <p:cNvPr id="294" name="al4"/>
          <p:cNvSpPr>
            <a:spLocks noGrp="1"/>
          </p:cNvSpPr>
          <p:nvPr/>
        </p:nvSpPr>
        <p:spPr>
          <a:xfrm>
            <a:off x="4983480" y="4288536"/>
            <a:ext cx="192024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SQL Injection</a:t>
            </a:r>
          </a:p>
        </p:txBody>
      </p:sp>
      <p:sp>
        <p:nvSpPr>
          <p:cNvPr id="295" name="at4"/>
          <p:cNvSpPr>
            <a:spLocks noGrp="1"/>
          </p:cNvSpPr>
          <p:nvPr/>
        </p:nvSpPr>
        <p:spPr>
          <a:xfrm>
            <a:off x="6949440" y="4343400"/>
            <a:ext cx="320040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96" name="ab4"/>
          <p:cNvSpPr>
            <a:spLocks noGrp="1"/>
          </p:cNvSpPr>
          <p:nvPr/>
        </p:nvSpPr>
        <p:spPr>
          <a:xfrm>
            <a:off x="6949440" y="4343400"/>
            <a:ext cx="1363005" cy="201168"/>
          </a:xfrm>
          <a:prstGeom prst="roundRect">
            <a:avLst>
              <a:gd name="adj" fmla="val 15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297" name="av4"/>
          <p:cNvSpPr>
            <a:spLocks noGrp="1"/>
          </p:cNvSpPr>
          <p:nvPr/>
        </p:nvSpPr>
        <p:spPr>
          <a:xfrm>
            <a:off x="10241280" y="4288536"/>
            <a:ext cx="13716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1" dirty="0">
                <a:solidFill>
                  <a:srgbClr val="7B2FFF"/>
                </a:solidFill>
                <a:latin typeface="Segoe UI"/>
              </a:rPr>
              <a:t>10,286</a:t>
            </a:r>
          </a:p>
        </p:txBody>
      </p:sp>
      <p:sp>
        <p:nvSpPr>
          <p:cNvPr id="298" name="al5"/>
          <p:cNvSpPr>
            <a:spLocks noGrp="1"/>
          </p:cNvSpPr>
          <p:nvPr/>
        </p:nvSpPr>
        <p:spPr>
          <a:xfrm>
            <a:off x="4983480" y="4663440"/>
            <a:ext cx="192024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DDoS_TCP</a:t>
            </a:r>
          </a:p>
        </p:txBody>
      </p:sp>
      <p:sp>
        <p:nvSpPr>
          <p:cNvPr id="299" name="at5"/>
          <p:cNvSpPr>
            <a:spLocks noGrp="1"/>
          </p:cNvSpPr>
          <p:nvPr/>
        </p:nvSpPr>
        <p:spPr>
          <a:xfrm>
            <a:off x="6949440" y="4718304"/>
            <a:ext cx="320040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00" name="ab5"/>
          <p:cNvSpPr>
            <a:spLocks noGrp="1"/>
          </p:cNvSpPr>
          <p:nvPr/>
        </p:nvSpPr>
        <p:spPr>
          <a:xfrm>
            <a:off x="6949440" y="4718304"/>
            <a:ext cx="1357837" cy="201168"/>
          </a:xfrm>
          <a:prstGeom prst="roundRect">
            <a:avLst>
              <a:gd name="adj" fmla="val 15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01" name="av5"/>
          <p:cNvSpPr>
            <a:spLocks noGrp="1"/>
          </p:cNvSpPr>
          <p:nvPr/>
        </p:nvSpPr>
        <p:spPr>
          <a:xfrm>
            <a:off x="10241280" y="4663440"/>
            <a:ext cx="13716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1" dirty="0">
                <a:solidFill>
                  <a:srgbClr val="FF4C4C"/>
                </a:solidFill>
                <a:latin typeface="Segoe UI"/>
              </a:rPr>
              <a:t>10,247</a:t>
            </a:r>
          </a:p>
        </p:txBody>
      </p:sp>
      <p:sp>
        <p:nvSpPr>
          <p:cNvPr id="302" name="al6"/>
          <p:cNvSpPr>
            <a:spLocks noGrp="1"/>
          </p:cNvSpPr>
          <p:nvPr/>
        </p:nvSpPr>
        <p:spPr>
          <a:xfrm>
            <a:off x="4983480" y="5038344"/>
            <a:ext cx="192024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Uploading*</a:t>
            </a:r>
          </a:p>
        </p:txBody>
      </p:sp>
      <p:sp>
        <p:nvSpPr>
          <p:cNvPr id="303" name="at6"/>
          <p:cNvSpPr>
            <a:spLocks noGrp="1"/>
          </p:cNvSpPr>
          <p:nvPr/>
        </p:nvSpPr>
        <p:spPr>
          <a:xfrm>
            <a:off x="6949440" y="5093208"/>
            <a:ext cx="320040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04" name="ab6"/>
          <p:cNvSpPr>
            <a:spLocks noGrp="1"/>
          </p:cNvSpPr>
          <p:nvPr/>
        </p:nvSpPr>
        <p:spPr>
          <a:xfrm>
            <a:off x="6949440" y="5093208"/>
            <a:ext cx="1356512" cy="201168"/>
          </a:xfrm>
          <a:prstGeom prst="roundRect">
            <a:avLst>
              <a:gd name="adj" fmla="val 15000"/>
            </a:avLst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05" name="av6"/>
          <p:cNvSpPr>
            <a:spLocks noGrp="1"/>
          </p:cNvSpPr>
          <p:nvPr/>
        </p:nvSpPr>
        <p:spPr>
          <a:xfrm>
            <a:off x="10241280" y="5038344"/>
            <a:ext cx="13716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1" dirty="0">
                <a:solidFill>
                  <a:srgbClr val="FFB800"/>
                </a:solidFill>
                <a:latin typeface="Segoe UI"/>
              </a:rPr>
              <a:t>10,237</a:t>
            </a:r>
          </a:p>
        </p:txBody>
      </p:sp>
      <p:sp>
        <p:nvSpPr>
          <p:cNvPr id="306" name="al7"/>
          <p:cNvSpPr>
            <a:spLocks noGrp="1"/>
          </p:cNvSpPr>
          <p:nvPr/>
        </p:nvSpPr>
        <p:spPr>
          <a:xfrm>
            <a:off x="4983480" y="5413248"/>
            <a:ext cx="192024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Vulnerability*</a:t>
            </a:r>
          </a:p>
        </p:txBody>
      </p:sp>
      <p:sp>
        <p:nvSpPr>
          <p:cNvPr id="307" name="at7"/>
          <p:cNvSpPr>
            <a:spLocks noGrp="1"/>
          </p:cNvSpPr>
          <p:nvPr/>
        </p:nvSpPr>
        <p:spPr>
          <a:xfrm>
            <a:off x="6949440" y="5468112"/>
            <a:ext cx="320040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08" name="ab7"/>
          <p:cNvSpPr>
            <a:spLocks noGrp="1"/>
          </p:cNvSpPr>
          <p:nvPr/>
        </p:nvSpPr>
        <p:spPr>
          <a:xfrm>
            <a:off x="6949440" y="5468112"/>
            <a:ext cx="1333323" cy="201168"/>
          </a:xfrm>
          <a:prstGeom prst="roundRect">
            <a:avLst>
              <a:gd name="adj" fmla="val 15000"/>
            </a:avLst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09" name="av7"/>
          <p:cNvSpPr>
            <a:spLocks noGrp="1"/>
          </p:cNvSpPr>
          <p:nvPr/>
        </p:nvSpPr>
        <p:spPr>
          <a:xfrm>
            <a:off x="10241280" y="5413248"/>
            <a:ext cx="13716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1" dirty="0">
                <a:solidFill>
                  <a:srgbClr val="FFB800"/>
                </a:solidFill>
                <a:latin typeface="Segoe UI"/>
              </a:rPr>
              <a:t>10,062</a:t>
            </a:r>
          </a:p>
        </p:txBody>
      </p:sp>
      <p:sp>
        <p:nvSpPr>
          <p:cNvPr id="310" name="al8"/>
          <p:cNvSpPr>
            <a:spLocks noGrp="1"/>
          </p:cNvSpPr>
          <p:nvPr/>
        </p:nvSpPr>
        <p:spPr>
          <a:xfrm>
            <a:off x="4983480" y="5788152"/>
            <a:ext cx="192024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Password</a:t>
            </a:r>
          </a:p>
        </p:txBody>
      </p:sp>
      <p:sp>
        <p:nvSpPr>
          <p:cNvPr id="311" name="at8"/>
          <p:cNvSpPr>
            <a:spLocks noGrp="1"/>
          </p:cNvSpPr>
          <p:nvPr/>
        </p:nvSpPr>
        <p:spPr>
          <a:xfrm>
            <a:off x="6949440" y="5843016"/>
            <a:ext cx="320040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12" name="ab8"/>
          <p:cNvSpPr>
            <a:spLocks noGrp="1"/>
          </p:cNvSpPr>
          <p:nvPr/>
        </p:nvSpPr>
        <p:spPr>
          <a:xfrm>
            <a:off x="6949440" y="5843016"/>
            <a:ext cx="1322192" cy="201168"/>
          </a:xfrm>
          <a:prstGeom prst="roundRect">
            <a:avLst>
              <a:gd name="adj" fmla="val 15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13" name="av8"/>
          <p:cNvSpPr>
            <a:spLocks noGrp="1"/>
          </p:cNvSpPr>
          <p:nvPr/>
        </p:nvSpPr>
        <p:spPr>
          <a:xfrm>
            <a:off x="10241280" y="5788152"/>
            <a:ext cx="13716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1" dirty="0">
                <a:solidFill>
                  <a:srgbClr val="00D4FF"/>
                </a:solidFill>
                <a:latin typeface="Segoe UI"/>
              </a:rPr>
              <a:t>9,978</a:t>
            </a:r>
          </a:p>
        </p:txBody>
      </p:sp>
      <p:sp>
        <p:nvSpPr>
          <p:cNvPr id="314" name="dsfoot"/>
          <p:cNvSpPr>
            <a:spLocks noGrp="1"/>
          </p:cNvSpPr>
          <p:nvPr/>
        </p:nvSpPr>
        <p:spPr>
          <a:xfrm>
            <a:off x="4983480" y="6126480"/>
            <a:ext cx="6583680" cy="228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1" dirty="0">
                <a:solidFill>
                  <a:srgbClr val="FFB800"/>
                </a:solidFill>
                <a:latin typeface="Segoe UI"/>
                <a:i/>
              </a:rPr>
              <a:t>* Marked types are Zero-Day (hidden during training)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315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16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17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18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319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Data Preprocessing Pipeline</a:t>
            </a:r>
          </a:p>
        </p:txBody>
      </p:sp>
      <p:sp>
        <p:nvSpPr>
          <p:cNvPr id="320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21" name="st0"/>
          <p:cNvSpPr>
            <a:spLocks noGrp="1"/>
          </p:cNvSpPr>
          <p:nvPr/>
        </p:nvSpPr>
        <p:spPr>
          <a:xfrm>
            <a:off x="320040" y="1097280"/>
            <a:ext cx="169164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322" name="stn0"/>
          <p:cNvSpPr>
            <a:spLocks noGrp="1"/>
          </p:cNvSpPr>
          <p:nvPr/>
        </p:nvSpPr>
        <p:spPr>
          <a:xfrm>
            <a:off x="845820" y="822960"/>
            <a:ext cx="640080" cy="347472"/>
          </a:xfrm>
          <a:prstGeom prst="roundRect">
            <a:avLst>
              <a:gd name="adj" fmla="val 60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01</a:t>
            </a:r>
          </a:p>
        </p:txBody>
      </p:sp>
      <p:sp>
        <p:nvSpPr>
          <p:cNvPr id="323" name="stt0"/>
          <p:cNvSpPr>
            <a:spLocks noGrp="1"/>
          </p:cNvSpPr>
          <p:nvPr/>
        </p:nvSpPr>
        <p:spPr>
          <a:xfrm>
            <a:off x="365760" y="1143000"/>
            <a:ext cx="1600200" cy="10972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Load</a:t>
            </a:r>
          </a:p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Read CSV
157,800 × 63</a:t>
            </a:r>
          </a:p>
        </p:txBody>
      </p:sp>
      <p:sp>
        <p:nvSpPr>
          <p:cNvPr id="324" name="arrowr"/>
          <p:cNvSpPr>
            <a:spLocks noGrp="1"/>
          </p:cNvSpPr>
          <p:nvPr/>
        </p:nvSpPr>
        <p:spPr>
          <a:xfrm>
            <a:off x="2084832" y="156362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325" name="st1"/>
          <p:cNvSpPr>
            <a:spLocks noGrp="1"/>
          </p:cNvSpPr>
          <p:nvPr/>
        </p:nvSpPr>
        <p:spPr>
          <a:xfrm>
            <a:off x="2286000" y="1097280"/>
            <a:ext cx="169164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326" name="stn1"/>
          <p:cNvSpPr>
            <a:spLocks noGrp="1"/>
          </p:cNvSpPr>
          <p:nvPr/>
        </p:nvSpPr>
        <p:spPr>
          <a:xfrm>
            <a:off x="2811780" y="822960"/>
            <a:ext cx="640080" cy="347472"/>
          </a:xfrm>
          <a:prstGeom prst="roundRect">
            <a:avLst>
              <a:gd name="adj" fmla="val 6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02</a:t>
            </a:r>
          </a:p>
        </p:txBody>
      </p:sp>
      <p:sp>
        <p:nvSpPr>
          <p:cNvPr id="327" name="stt1"/>
          <p:cNvSpPr>
            <a:spLocks noGrp="1"/>
          </p:cNvSpPr>
          <p:nvPr/>
        </p:nvSpPr>
        <p:spPr>
          <a:xfrm>
            <a:off x="2331720" y="1143000"/>
            <a:ext cx="1600200" cy="10972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7B2FFF"/>
                </a:solidFill>
                <a:latin typeface="Segoe UI"/>
                <a:b/>
              </a:rPr>
              <a:t>Drop</a:t>
            </a:r>
          </a:p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Remove 10
irrelevant cols</a:t>
            </a:r>
          </a:p>
        </p:txBody>
      </p:sp>
      <p:sp>
        <p:nvSpPr>
          <p:cNvPr id="328" name="arrowr"/>
          <p:cNvSpPr>
            <a:spLocks noGrp="1"/>
          </p:cNvSpPr>
          <p:nvPr/>
        </p:nvSpPr>
        <p:spPr>
          <a:xfrm>
            <a:off x="4050792" y="156362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329" name="st2"/>
          <p:cNvSpPr>
            <a:spLocks noGrp="1"/>
          </p:cNvSpPr>
          <p:nvPr/>
        </p:nvSpPr>
        <p:spPr>
          <a:xfrm>
            <a:off x="4251960" y="1097280"/>
            <a:ext cx="169164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330" name="stn2"/>
          <p:cNvSpPr>
            <a:spLocks noGrp="1"/>
          </p:cNvSpPr>
          <p:nvPr/>
        </p:nvSpPr>
        <p:spPr>
          <a:xfrm>
            <a:off x="4777740" y="822960"/>
            <a:ext cx="640080" cy="347472"/>
          </a:xfrm>
          <a:prstGeom prst="roundRect">
            <a:avLst>
              <a:gd name="adj" fmla="val 60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03</a:t>
            </a:r>
          </a:p>
        </p:txBody>
      </p:sp>
      <p:sp>
        <p:nvSpPr>
          <p:cNvPr id="331" name="stt2"/>
          <p:cNvSpPr>
            <a:spLocks noGrp="1"/>
          </p:cNvSpPr>
          <p:nvPr/>
        </p:nvSpPr>
        <p:spPr>
          <a:xfrm>
            <a:off x="4297680" y="1143000"/>
            <a:ext cx="1600200" cy="10972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FF4C4C"/>
                </a:solidFill>
                <a:latin typeface="Segoe UI"/>
                <a:b/>
              </a:rPr>
              <a:t>Clean</a:t>
            </a:r>
          </a:p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Remove nulls
&amp; duplicates</a:t>
            </a:r>
          </a:p>
        </p:txBody>
      </p:sp>
      <p:sp>
        <p:nvSpPr>
          <p:cNvPr id="332" name="arrowr"/>
          <p:cNvSpPr>
            <a:spLocks noGrp="1"/>
          </p:cNvSpPr>
          <p:nvPr/>
        </p:nvSpPr>
        <p:spPr>
          <a:xfrm>
            <a:off x="6016752" y="156362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333" name="st3"/>
          <p:cNvSpPr>
            <a:spLocks noGrp="1"/>
          </p:cNvSpPr>
          <p:nvPr/>
        </p:nvSpPr>
        <p:spPr>
          <a:xfrm>
            <a:off x="6217920" y="1097280"/>
            <a:ext cx="169164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334" name="stn3"/>
          <p:cNvSpPr>
            <a:spLocks noGrp="1"/>
          </p:cNvSpPr>
          <p:nvPr/>
        </p:nvSpPr>
        <p:spPr>
          <a:xfrm>
            <a:off x="6743700" y="822960"/>
            <a:ext cx="640080" cy="347472"/>
          </a:xfrm>
          <a:prstGeom prst="roundRect">
            <a:avLst>
              <a:gd name="adj" fmla="val 60000"/>
            </a:avLst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04</a:t>
            </a:r>
          </a:p>
        </p:txBody>
      </p:sp>
      <p:sp>
        <p:nvSpPr>
          <p:cNvPr id="335" name="stt3"/>
          <p:cNvSpPr>
            <a:spLocks noGrp="1"/>
          </p:cNvSpPr>
          <p:nvPr/>
        </p:nvSpPr>
        <p:spPr>
          <a:xfrm>
            <a:off x="6263640" y="1143000"/>
            <a:ext cx="1600200" cy="10972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FFB800"/>
                </a:solidFill>
                <a:latin typeface="Segoe UI"/>
                <a:b/>
              </a:rPr>
              <a:t>Encode</a:t>
            </a:r>
          </a:p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Label-encode
text columns</a:t>
            </a:r>
          </a:p>
        </p:txBody>
      </p:sp>
      <p:sp>
        <p:nvSpPr>
          <p:cNvPr id="336" name="arrowr"/>
          <p:cNvSpPr>
            <a:spLocks noGrp="1"/>
          </p:cNvSpPr>
          <p:nvPr/>
        </p:nvSpPr>
        <p:spPr>
          <a:xfrm>
            <a:off x="7982712" y="156362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337" name="st4"/>
          <p:cNvSpPr>
            <a:spLocks noGrp="1"/>
          </p:cNvSpPr>
          <p:nvPr/>
        </p:nvSpPr>
        <p:spPr>
          <a:xfrm>
            <a:off x="8183880" y="1097280"/>
            <a:ext cx="169164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338" name="stn4"/>
          <p:cNvSpPr>
            <a:spLocks noGrp="1"/>
          </p:cNvSpPr>
          <p:nvPr/>
        </p:nvSpPr>
        <p:spPr>
          <a:xfrm>
            <a:off x="8709660" y="822960"/>
            <a:ext cx="640080" cy="347472"/>
          </a:xfrm>
          <a:prstGeom prst="roundRect">
            <a:avLst>
              <a:gd name="adj" fmla="val 6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05</a:t>
            </a:r>
          </a:p>
        </p:txBody>
      </p:sp>
      <p:sp>
        <p:nvSpPr>
          <p:cNvPr id="339" name="stt4"/>
          <p:cNvSpPr>
            <a:spLocks noGrp="1"/>
          </p:cNvSpPr>
          <p:nvPr/>
        </p:nvSpPr>
        <p:spPr>
          <a:xfrm>
            <a:off x="8229600" y="1143000"/>
            <a:ext cx="1600200" cy="10972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FF88"/>
                </a:solidFill>
                <a:latin typeface="Segoe UI"/>
                <a:b/>
              </a:rPr>
              <a:t>Scale</a:t>
            </a:r>
          </a:p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StandardScaler
on normal traffic</a:t>
            </a:r>
          </a:p>
        </p:txBody>
      </p:sp>
      <p:sp>
        <p:nvSpPr>
          <p:cNvPr id="340" name="arrowr"/>
          <p:cNvSpPr>
            <a:spLocks noGrp="1"/>
          </p:cNvSpPr>
          <p:nvPr/>
        </p:nvSpPr>
        <p:spPr>
          <a:xfrm>
            <a:off x="9948672" y="156362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341" name="st5"/>
          <p:cNvSpPr>
            <a:spLocks noGrp="1"/>
          </p:cNvSpPr>
          <p:nvPr/>
        </p:nvSpPr>
        <p:spPr>
          <a:xfrm>
            <a:off x="10149840" y="1097280"/>
            <a:ext cx="169164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342" name="stn5"/>
          <p:cNvSpPr>
            <a:spLocks noGrp="1"/>
          </p:cNvSpPr>
          <p:nvPr/>
        </p:nvSpPr>
        <p:spPr>
          <a:xfrm>
            <a:off x="10675620" y="822960"/>
            <a:ext cx="640080" cy="347472"/>
          </a:xfrm>
          <a:prstGeom prst="roundRect">
            <a:avLst>
              <a:gd name="adj" fmla="val 60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06</a:t>
            </a:r>
          </a:p>
        </p:txBody>
      </p:sp>
      <p:sp>
        <p:nvSpPr>
          <p:cNvPr id="343" name="stt5"/>
          <p:cNvSpPr>
            <a:spLocks noGrp="1"/>
          </p:cNvSpPr>
          <p:nvPr/>
        </p:nvSpPr>
        <p:spPr>
          <a:xfrm>
            <a:off x="10195560" y="1143000"/>
            <a:ext cx="1600200" cy="10972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Split</a:t>
            </a:r>
          </a:p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Known(121K)
+ Zero-Day(31K)</a:t>
            </a:r>
          </a:p>
        </p:txBody>
      </p:sp>
      <p:sp>
        <p:nvSpPr>
          <p:cNvPr id="344" name="bullet"/>
          <p:cNvSpPr>
            <a:spLocks noGrp="1"/>
          </p:cNvSpPr>
          <p:nvPr/>
        </p:nvSpPr>
        <p:spPr>
          <a:xfrm>
            <a:off x="320040" y="2514600"/>
            <a:ext cx="2788920" cy="361188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FF4C4C"/>
            </a:solidFill>
          </a:ln>
        </p:spPr>
        <p:txBody>
          <a:bodyPr anchor="ctr" vert="horz" lIns="137160" rIns="91440" tIns="45720" bIns="45720" wrap="square"/>
          <a:lstStyle/>
          <a:p>
            <a:pPr algn="l"/>
            <a:r>
              <a:rPr lang="en-US" sz="19" dirty="0">
                <a:solidFill>
                  <a:srgbClr val="FF4C4C"/>
                </a:solidFill>
                <a:latin typeface="Segoe UI"/>
                <a:b/>
              </a:rPr>
              <a:t>🗑  Columns Dropped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frame.time, ip.src_host, ip.dst_host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http.request.full_uri, http.file_data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icmp.transmit_timestamp, mqtt.msg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Reason: identifiers ≠ behaviour patterns</a:t>
            </a:r>
          </a:p>
        </p:txBody>
      </p:sp>
      <p:sp>
        <p:nvSpPr>
          <p:cNvPr id="345" name="bullet"/>
          <p:cNvSpPr>
            <a:spLocks noGrp="1"/>
          </p:cNvSpPr>
          <p:nvPr/>
        </p:nvSpPr>
        <p:spPr>
          <a:xfrm>
            <a:off x="3264408" y="2514600"/>
            <a:ext cx="2788920" cy="361188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137160" rIns="91440" tIns="45720" bIns="45720" wrap="square"/>
          <a:lstStyle/>
          <a:p>
            <a:pPr algn="l"/>
            <a:r>
              <a:rPr lang="en-US" sz="19" dirty="0">
                <a:solidFill>
                  <a:srgbClr val="FFB800"/>
                </a:solidFill>
                <a:latin typeface="Segoe UI"/>
                <a:b/>
              </a:rPr>
              <a:t>🔢  Encoding &amp; Memory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Object columns → Label Encoding (.cat.codes)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float64 → float32  (50% memory reduction)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int64 → int32 / int8 as appropriate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152,389 rows × 53 features final shape</a:t>
            </a:r>
          </a:p>
        </p:txBody>
      </p:sp>
      <p:sp>
        <p:nvSpPr>
          <p:cNvPr id="346" name="bullet"/>
          <p:cNvSpPr>
            <a:spLocks noGrp="1"/>
          </p:cNvSpPr>
          <p:nvPr/>
        </p:nvSpPr>
        <p:spPr>
          <a:xfrm>
            <a:off x="6208776" y="2514600"/>
            <a:ext cx="2788920" cy="361188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137160" rIns="91440" tIns="45720" bIns="45720" wrap="square"/>
          <a:lstStyle/>
          <a:p>
            <a:pPr algn="l"/>
            <a:r>
              <a:rPr lang="en-US" sz="19" dirty="0">
                <a:solidFill>
                  <a:srgbClr val="00FF88"/>
                </a:solidFill>
                <a:latin typeface="Segoe UI"/>
                <a:b/>
              </a:rPr>
              <a:t>⚖  StandardScaler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Fit ONLY on normal traffic (24,152 rows)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Transform: (x − mean) / std → mean=0, std=1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Saved as scaler.pkl — used in all models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Critical: Autoencoder sensitive to scale</a:t>
            </a:r>
          </a:p>
        </p:txBody>
      </p:sp>
      <p:sp>
        <p:nvSpPr>
          <p:cNvPr id="347" name="bullet"/>
          <p:cNvSpPr>
            <a:spLocks noGrp="1"/>
          </p:cNvSpPr>
          <p:nvPr/>
        </p:nvSpPr>
        <p:spPr>
          <a:xfrm>
            <a:off x="9153144" y="2514600"/>
            <a:ext cx="2788920" cy="361188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137160" rIns="91440" tIns="45720" bIns="45720" wrap="square"/>
          <a:lstStyle/>
          <a:p>
            <a:pPr algn="l"/>
            <a:r>
              <a:rPr lang="en-US" sz="19" dirty="0">
                <a:solidFill>
                  <a:srgbClr val="00D4FF"/>
                </a:solidFill>
                <a:latin typeface="Segoe UI"/>
                <a:b/>
              </a:rPr>
              <a:t>📂  Output Files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master_clean.parquet — full 152,389 rows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known_train.parquet — 121,293 known rows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zero_day_test.parquet — 31,096 hidden rows</a:t>
            </a:r>
          </a:p>
          <a:p>
            <a:pPr algn="l">
              <a:spcBef>
                <a:spcPts val="40"/>
              </a:spcBef>
            </a:pPr>
            <a:r>
              <a:rPr lang="en-US" sz="13" dirty="0">
                <a:solidFill>
                  <a:srgbClr val="FFFFFF"/>
                </a:solidFill>
                <a:latin typeface="Segoe UI"/>
              </a:rPr>
              <a:t>  ▸  scaler.pkl — fitted StandardScaler saved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348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49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50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51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352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Known vs. Unknown Attack Split</a:t>
            </a:r>
          </a:p>
        </p:txBody>
      </p:sp>
      <p:sp>
        <p:nvSpPr>
          <p:cNvPr id="353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54" name="expl"/>
          <p:cNvSpPr>
            <a:spLocks noGrp="1"/>
          </p:cNvSpPr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B0C4DE"/>
                </a:solidFill>
                <a:latin typeface="Segoe UI"/>
              </a:rPr>
              <a:t>The most critical experimental design decision: 5 attack types are deliberately hidden from all training — simulating real-world zero-day scenarios.</a:t>
            </a:r>
          </a:p>
        </p:txBody>
      </p:sp>
      <p:sp>
        <p:nvSpPr>
          <p:cNvPr id="355" name="kcard"/>
          <p:cNvSpPr>
            <a:spLocks noGrp="1"/>
          </p:cNvSpPr>
          <p:nvPr/>
        </p:nvSpPr>
        <p:spPr>
          <a:xfrm>
            <a:off x="365760" y="1554480"/>
            <a:ext cx="5486400" cy="48463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356" name="khdr"/>
          <p:cNvSpPr>
            <a:spLocks noGrp="1"/>
          </p:cNvSpPr>
          <p:nvPr/>
        </p:nvSpPr>
        <p:spPr>
          <a:xfrm>
            <a:off x="457200" y="1600200"/>
            <a:ext cx="530352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7" dirty="0">
                <a:solidFill>
                  <a:srgbClr val="FFB800"/>
                </a:solidFill>
                <a:latin typeface="Segoe UI"/>
                <a:b/>
              </a:rPr>
              <a:t>✅  KNOWN — Used in Training</a:t>
            </a:r>
          </a:p>
        </p:txBody>
      </p:sp>
      <p:sp>
        <p:nvSpPr>
          <p:cNvPr id="357" name="kcolhdr"/>
          <p:cNvSpPr>
            <a:spLocks noGrp="1"/>
          </p:cNvSpPr>
          <p:nvPr/>
        </p:nvSpPr>
        <p:spPr>
          <a:xfrm>
            <a:off x="502920" y="2148840"/>
            <a:ext cx="521208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B800"/>
                </a:solidFill>
                <a:latin typeface="Segoe UI"/>
                <a:b/>
              </a:rPr>
              <a:t>Attack Type</a:t>
            </a:r>
            <a:r>
              <a:rPr lang="en-US" sz="13" dirty="0">
                <a:solidFill>
                  <a:srgbClr val="FFB800"/>
                </a:solidFill>
                <a:latin typeface="Segoe UI"/>
                <a:b/>
              </a:rPr>
              <a:t>                    Count</a:t>
            </a:r>
          </a:p>
        </p:txBody>
      </p:sp>
      <p:sp>
        <p:nvSpPr>
          <p:cNvPr id="358" name="khr"/>
          <p:cNvSpPr>
            <a:spLocks noGrp="1"/>
          </p:cNvSpPr>
          <p:nvPr/>
        </p:nvSpPr>
        <p:spPr>
          <a:xfrm>
            <a:off x="502920" y="2487168"/>
            <a:ext cx="5166360" cy="27432"/>
          </a:xfrm>
          <a:prstGeom prst="rect">
            <a:avLst/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59" name="kr0"/>
          <p:cNvSpPr>
            <a:spLocks noGrp="1"/>
          </p:cNvSpPr>
          <p:nvPr/>
        </p:nvSpPr>
        <p:spPr>
          <a:xfrm>
            <a:off x="502920" y="2560320"/>
            <a:ext cx="5166360" cy="356616"/>
          </a:xfrm>
          <a:prstGeom prst="roundRect">
            <a:avLst>
              <a:gd name="adj" fmla="val 2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60" name="kn0"/>
          <p:cNvSpPr>
            <a:spLocks noGrp="1"/>
          </p:cNvSpPr>
          <p:nvPr/>
        </p:nvSpPr>
        <p:spPr>
          <a:xfrm>
            <a:off x="594360" y="2560320"/>
            <a:ext cx="347472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Normal</a:t>
            </a:r>
          </a:p>
        </p:txBody>
      </p:sp>
      <p:sp>
        <p:nvSpPr>
          <p:cNvPr id="361" name="kc0"/>
          <p:cNvSpPr>
            <a:spLocks noGrp="1"/>
          </p:cNvSpPr>
          <p:nvPr/>
        </p:nvSpPr>
        <p:spPr>
          <a:xfrm>
            <a:off x="4114800" y="2560320"/>
            <a:ext cx="146304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00FF88"/>
                </a:solidFill>
                <a:latin typeface="Segoe UI"/>
                <a:b/>
              </a:rPr>
              <a:t>24,152</a:t>
            </a:r>
          </a:p>
        </p:txBody>
      </p:sp>
      <p:sp>
        <p:nvSpPr>
          <p:cNvPr id="362" name="kr1"/>
          <p:cNvSpPr>
            <a:spLocks noGrp="1"/>
          </p:cNvSpPr>
          <p:nvPr/>
        </p:nvSpPr>
        <p:spPr>
          <a:xfrm>
            <a:off x="502920" y="2935224"/>
            <a:ext cx="5166360" cy="356616"/>
          </a:xfrm>
          <a:prstGeom prst="roundRect">
            <a:avLst>
              <a:gd name="adj" fmla="val 20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63" name="kn1"/>
          <p:cNvSpPr>
            <a:spLocks noGrp="1"/>
          </p:cNvSpPr>
          <p:nvPr/>
        </p:nvSpPr>
        <p:spPr>
          <a:xfrm>
            <a:off x="594360" y="2935224"/>
            <a:ext cx="347472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DDoS_UDP</a:t>
            </a:r>
          </a:p>
        </p:txBody>
      </p:sp>
      <p:sp>
        <p:nvSpPr>
          <p:cNvPr id="364" name="kc1"/>
          <p:cNvSpPr>
            <a:spLocks noGrp="1"/>
          </p:cNvSpPr>
          <p:nvPr/>
        </p:nvSpPr>
        <p:spPr>
          <a:xfrm>
            <a:off x="4114800" y="2935224"/>
            <a:ext cx="146304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FF4C4C"/>
                </a:solidFill>
                <a:latin typeface="Segoe UI"/>
                <a:b/>
              </a:rPr>
              <a:t>14,498</a:t>
            </a:r>
          </a:p>
        </p:txBody>
      </p:sp>
      <p:sp>
        <p:nvSpPr>
          <p:cNvPr id="365" name="kr2"/>
          <p:cNvSpPr>
            <a:spLocks noGrp="1"/>
          </p:cNvSpPr>
          <p:nvPr/>
        </p:nvSpPr>
        <p:spPr>
          <a:xfrm>
            <a:off x="502920" y="3310128"/>
            <a:ext cx="5166360" cy="356616"/>
          </a:xfrm>
          <a:prstGeom prst="roundRect">
            <a:avLst>
              <a:gd name="adj" fmla="val 2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66" name="kn2"/>
          <p:cNvSpPr>
            <a:spLocks noGrp="1"/>
          </p:cNvSpPr>
          <p:nvPr/>
        </p:nvSpPr>
        <p:spPr>
          <a:xfrm>
            <a:off x="594360" y="3310128"/>
            <a:ext cx="347472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DDoS_ICMP</a:t>
            </a:r>
          </a:p>
        </p:txBody>
      </p:sp>
      <p:sp>
        <p:nvSpPr>
          <p:cNvPr id="367" name="kc2"/>
          <p:cNvSpPr>
            <a:spLocks noGrp="1"/>
          </p:cNvSpPr>
          <p:nvPr/>
        </p:nvSpPr>
        <p:spPr>
          <a:xfrm>
            <a:off x="4114800" y="3310128"/>
            <a:ext cx="146304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FF4C4C"/>
                </a:solidFill>
                <a:latin typeface="Segoe UI"/>
                <a:b/>
              </a:rPr>
              <a:t>13,096</a:t>
            </a:r>
          </a:p>
        </p:txBody>
      </p:sp>
      <p:sp>
        <p:nvSpPr>
          <p:cNvPr id="368" name="kr3"/>
          <p:cNvSpPr>
            <a:spLocks noGrp="1"/>
          </p:cNvSpPr>
          <p:nvPr/>
        </p:nvSpPr>
        <p:spPr>
          <a:xfrm>
            <a:off x="502920" y="3685032"/>
            <a:ext cx="5166360" cy="356616"/>
          </a:xfrm>
          <a:prstGeom prst="roundRect">
            <a:avLst>
              <a:gd name="adj" fmla="val 20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69" name="kn3"/>
          <p:cNvSpPr>
            <a:spLocks noGrp="1"/>
          </p:cNvSpPr>
          <p:nvPr/>
        </p:nvSpPr>
        <p:spPr>
          <a:xfrm>
            <a:off x="594360" y="3685032"/>
            <a:ext cx="347472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DDoS_HTTP</a:t>
            </a:r>
          </a:p>
        </p:txBody>
      </p:sp>
      <p:sp>
        <p:nvSpPr>
          <p:cNvPr id="370" name="kc3"/>
          <p:cNvSpPr>
            <a:spLocks noGrp="1"/>
          </p:cNvSpPr>
          <p:nvPr/>
        </p:nvSpPr>
        <p:spPr>
          <a:xfrm>
            <a:off x="4114800" y="3685032"/>
            <a:ext cx="146304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FF4C4C"/>
                </a:solidFill>
                <a:latin typeface="Segoe UI"/>
                <a:b/>
              </a:rPr>
              <a:t>10,559</a:t>
            </a:r>
          </a:p>
        </p:txBody>
      </p:sp>
      <p:sp>
        <p:nvSpPr>
          <p:cNvPr id="371" name="kr4"/>
          <p:cNvSpPr>
            <a:spLocks noGrp="1"/>
          </p:cNvSpPr>
          <p:nvPr/>
        </p:nvSpPr>
        <p:spPr>
          <a:xfrm>
            <a:off x="502920" y="4059936"/>
            <a:ext cx="5166360" cy="356616"/>
          </a:xfrm>
          <a:prstGeom prst="roundRect">
            <a:avLst>
              <a:gd name="adj" fmla="val 2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72" name="kn4"/>
          <p:cNvSpPr>
            <a:spLocks noGrp="1"/>
          </p:cNvSpPr>
          <p:nvPr/>
        </p:nvSpPr>
        <p:spPr>
          <a:xfrm>
            <a:off x="594360" y="4059936"/>
            <a:ext cx="347472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SQL_injection</a:t>
            </a:r>
          </a:p>
        </p:txBody>
      </p:sp>
      <p:sp>
        <p:nvSpPr>
          <p:cNvPr id="373" name="kc4"/>
          <p:cNvSpPr>
            <a:spLocks noGrp="1"/>
          </p:cNvSpPr>
          <p:nvPr/>
        </p:nvSpPr>
        <p:spPr>
          <a:xfrm>
            <a:off x="4114800" y="4059936"/>
            <a:ext cx="146304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10,286</a:t>
            </a:r>
          </a:p>
        </p:txBody>
      </p:sp>
      <p:sp>
        <p:nvSpPr>
          <p:cNvPr id="374" name="kr5"/>
          <p:cNvSpPr>
            <a:spLocks noGrp="1"/>
          </p:cNvSpPr>
          <p:nvPr/>
        </p:nvSpPr>
        <p:spPr>
          <a:xfrm>
            <a:off x="502920" y="4434840"/>
            <a:ext cx="5166360" cy="356616"/>
          </a:xfrm>
          <a:prstGeom prst="roundRect">
            <a:avLst>
              <a:gd name="adj" fmla="val 20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75" name="kn5"/>
          <p:cNvSpPr>
            <a:spLocks noGrp="1"/>
          </p:cNvSpPr>
          <p:nvPr/>
        </p:nvSpPr>
        <p:spPr>
          <a:xfrm>
            <a:off x="594360" y="4434840"/>
            <a:ext cx="347472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DDoS_TCP</a:t>
            </a:r>
          </a:p>
        </p:txBody>
      </p:sp>
      <p:sp>
        <p:nvSpPr>
          <p:cNvPr id="376" name="kc5"/>
          <p:cNvSpPr>
            <a:spLocks noGrp="1"/>
          </p:cNvSpPr>
          <p:nvPr/>
        </p:nvSpPr>
        <p:spPr>
          <a:xfrm>
            <a:off x="4114800" y="4434840"/>
            <a:ext cx="146304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FF4C4C"/>
                </a:solidFill>
                <a:latin typeface="Segoe UI"/>
                <a:b/>
              </a:rPr>
              <a:t>10,247</a:t>
            </a:r>
          </a:p>
        </p:txBody>
      </p:sp>
      <p:sp>
        <p:nvSpPr>
          <p:cNvPr id="377" name="kr6"/>
          <p:cNvSpPr>
            <a:spLocks noGrp="1"/>
          </p:cNvSpPr>
          <p:nvPr/>
        </p:nvSpPr>
        <p:spPr>
          <a:xfrm>
            <a:off x="502920" y="4809744"/>
            <a:ext cx="5166360" cy="356616"/>
          </a:xfrm>
          <a:prstGeom prst="roundRect">
            <a:avLst>
              <a:gd name="adj" fmla="val 2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78" name="kn6"/>
          <p:cNvSpPr>
            <a:spLocks noGrp="1"/>
          </p:cNvSpPr>
          <p:nvPr/>
        </p:nvSpPr>
        <p:spPr>
          <a:xfrm>
            <a:off x="594360" y="4809744"/>
            <a:ext cx="347472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Password</a:t>
            </a:r>
          </a:p>
        </p:txBody>
      </p:sp>
      <p:sp>
        <p:nvSpPr>
          <p:cNvPr id="379" name="kc6"/>
          <p:cNvSpPr>
            <a:spLocks noGrp="1"/>
          </p:cNvSpPr>
          <p:nvPr/>
        </p:nvSpPr>
        <p:spPr>
          <a:xfrm>
            <a:off x="4114800" y="4809744"/>
            <a:ext cx="146304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9,978</a:t>
            </a:r>
          </a:p>
        </p:txBody>
      </p:sp>
      <p:sp>
        <p:nvSpPr>
          <p:cNvPr id="380" name="kr7"/>
          <p:cNvSpPr>
            <a:spLocks noGrp="1"/>
          </p:cNvSpPr>
          <p:nvPr/>
        </p:nvSpPr>
        <p:spPr>
          <a:xfrm>
            <a:off x="502920" y="5184648"/>
            <a:ext cx="5166360" cy="356616"/>
          </a:xfrm>
          <a:prstGeom prst="roundRect">
            <a:avLst>
              <a:gd name="adj" fmla="val 20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81" name="kn7"/>
          <p:cNvSpPr>
            <a:spLocks noGrp="1"/>
          </p:cNvSpPr>
          <p:nvPr/>
        </p:nvSpPr>
        <p:spPr>
          <a:xfrm>
            <a:off x="594360" y="5184648"/>
            <a:ext cx="347472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Backdoor</a:t>
            </a:r>
          </a:p>
        </p:txBody>
      </p:sp>
      <p:sp>
        <p:nvSpPr>
          <p:cNvPr id="382" name="kc7"/>
          <p:cNvSpPr>
            <a:spLocks noGrp="1"/>
          </p:cNvSpPr>
          <p:nvPr/>
        </p:nvSpPr>
        <p:spPr>
          <a:xfrm>
            <a:off x="4114800" y="5184648"/>
            <a:ext cx="146304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9,866</a:t>
            </a:r>
          </a:p>
        </p:txBody>
      </p:sp>
      <p:sp>
        <p:nvSpPr>
          <p:cNvPr id="383" name="kr8"/>
          <p:cNvSpPr>
            <a:spLocks noGrp="1"/>
          </p:cNvSpPr>
          <p:nvPr/>
        </p:nvSpPr>
        <p:spPr>
          <a:xfrm>
            <a:off x="502920" y="5559552"/>
            <a:ext cx="5166360" cy="356616"/>
          </a:xfrm>
          <a:prstGeom prst="roundRect">
            <a:avLst>
              <a:gd name="adj" fmla="val 2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84" name="kn8"/>
          <p:cNvSpPr>
            <a:spLocks noGrp="1"/>
          </p:cNvSpPr>
          <p:nvPr/>
        </p:nvSpPr>
        <p:spPr>
          <a:xfrm>
            <a:off x="594360" y="5559552"/>
            <a:ext cx="347472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Ransomware</a:t>
            </a:r>
          </a:p>
        </p:txBody>
      </p:sp>
      <p:sp>
        <p:nvSpPr>
          <p:cNvPr id="385" name="kc8"/>
          <p:cNvSpPr>
            <a:spLocks noGrp="1"/>
          </p:cNvSpPr>
          <p:nvPr/>
        </p:nvSpPr>
        <p:spPr>
          <a:xfrm>
            <a:off x="4114800" y="5559552"/>
            <a:ext cx="146304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9,690</a:t>
            </a:r>
          </a:p>
        </p:txBody>
      </p:sp>
      <p:sp>
        <p:nvSpPr>
          <p:cNvPr id="386" name="kr9"/>
          <p:cNvSpPr>
            <a:spLocks noGrp="1"/>
          </p:cNvSpPr>
          <p:nvPr/>
        </p:nvSpPr>
        <p:spPr>
          <a:xfrm>
            <a:off x="502920" y="5934456"/>
            <a:ext cx="5166360" cy="356616"/>
          </a:xfrm>
          <a:prstGeom prst="roundRect">
            <a:avLst>
              <a:gd name="adj" fmla="val 20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87" name="kn9"/>
          <p:cNvSpPr>
            <a:spLocks noGrp="1"/>
          </p:cNvSpPr>
          <p:nvPr/>
        </p:nvSpPr>
        <p:spPr>
          <a:xfrm>
            <a:off x="594360" y="5934456"/>
            <a:ext cx="347472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Port_Scanning</a:t>
            </a:r>
          </a:p>
        </p:txBody>
      </p:sp>
      <p:sp>
        <p:nvSpPr>
          <p:cNvPr id="388" name="kc9"/>
          <p:cNvSpPr>
            <a:spLocks noGrp="1"/>
          </p:cNvSpPr>
          <p:nvPr/>
        </p:nvSpPr>
        <p:spPr>
          <a:xfrm>
            <a:off x="4114800" y="5934456"/>
            <a:ext cx="1463040" cy="3566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8,921</a:t>
            </a:r>
          </a:p>
        </p:txBody>
      </p:sp>
      <p:sp>
        <p:nvSpPr>
          <p:cNvPr id="389" name="ktot"/>
          <p:cNvSpPr>
            <a:spLocks noGrp="1"/>
          </p:cNvSpPr>
          <p:nvPr/>
        </p:nvSpPr>
        <p:spPr>
          <a:xfrm>
            <a:off x="502920" y="6309360"/>
            <a:ext cx="516636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FFB800"/>
                </a:solidFill>
                <a:latin typeface="Segoe UI"/>
                <a:b/>
              </a:rPr>
              <a:t>TOTAL  →  121,293 rows</a:t>
            </a:r>
          </a:p>
        </p:txBody>
      </p:sp>
      <p:sp>
        <p:nvSpPr>
          <p:cNvPr id="390" name="zdcard"/>
          <p:cNvSpPr>
            <a:spLocks noGrp="1"/>
          </p:cNvSpPr>
          <p:nvPr/>
        </p:nvSpPr>
        <p:spPr>
          <a:xfrm>
            <a:off x="6126480" y="1554480"/>
            <a:ext cx="5669280" cy="48463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391" name="zdhdr"/>
          <p:cNvSpPr>
            <a:spLocks noGrp="1"/>
          </p:cNvSpPr>
          <p:nvPr/>
        </p:nvSpPr>
        <p:spPr>
          <a:xfrm>
            <a:off x="6217920" y="1600200"/>
            <a:ext cx="5486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FF4C4C"/>
                </a:solidFill>
                <a:latin typeface="Segoe UI"/>
                <a:b/>
              </a:rPr>
              <a:t>🚨  ZERO-DAY — Hidden (Not in Training)</a:t>
            </a:r>
          </a:p>
        </p:txBody>
      </p:sp>
      <p:sp>
        <p:nvSpPr>
          <p:cNvPr id="392" name="zdcolhdr"/>
          <p:cNvSpPr>
            <a:spLocks noGrp="1"/>
          </p:cNvSpPr>
          <p:nvPr/>
        </p:nvSpPr>
        <p:spPr>
          <a:xfrm>
            <a:off x="6263640" y="2148840"/>
            <a:ext cx="539496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4C4C"/>
                </a:solidFill>
                <a:latin typeface="Segoe UI"/>
                <a:b/>
              </a:rPr>
              <a:t>Attack Type</a:t>
            </a:r>
            <a:r>
              <a:rPr lang="en-US" sz="13" dirty="0">
                <a:solidFill>
                  <a:srgbClr val="FF4C4C"/>
                </a:solidFill>
                <a:latin typeface="Segoe UI"/>
                <a:b/>
              </a:rPr>
              <a:t>         Count   Category</a:t>
            </a:r>
          </a:p>
        </p:txBody>
      </p:sp>
      <p:sp>
        <p:nvSpPr>
          <p:cNvPr id="393" name="zdhr"/>
          <p:cNvSpPr>
            <a:spLocks noGrp="1"/>
          </p:cNvSpPr>
          <p:nvPr/>
        </p:nvSpPr>
        <p:spPr>
          <a:xfrm>
            <a:off x="6263640" y="2487168"/>
            <a:ext cx="5394960" cy="27432"/>
          </a:xfrm>
          <a:prstGeom prst="rect">
            <a:avLst/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94" name="zdr0"/>
          <p:cNvSpPr>
            <a:spLocks noGrp="1"/>
          </p:cNvSpPr>
          <p:nvPr/>
        </p:nvSpPr>
        <p:spPr>
          <a:xfrm>
            <a:off x="6263640" y="2560320"/>
            <a:ext cx="5394960" cy="530352"/>
          </a:xfrm>
          <a:prstGeom prst="roundRect">
            <a:avLst>
              <a:gd name="adj" fmla="val 2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95" name="zdn0"/>
          <p:cNvSpPr>
            <a:spLocks noGrp="1"/>
          </p:cNvSpPr>
          <p:nvPr/>
        </p:nvSpPr>
        <p:spPr>
          <a:xfrm>
            <a:off x="6355080" y="2560320"/>
            <a:ext cx="265176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Uploading</a:t>
            </a:r>
          </a:p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  <a:i/>
              </a:rPr>
              <a:t>Data Exfiltration</a:t>
            </a:r>
          </a:p>
        </p:txBody>
      </p:sp>
      <p:sp>
        <p:nvSpPr>
          <p:cNvPr id="396" name="zdc0"/>
          <p:cNvSpPr>
            <a:spLocks noGrp="1"/>
          </p:cNvSpPr>
          <p:nvPr/>
        </p:nvSpPr>
        <p:spPr>
          <a:xfrm>
            <a:off x="9052560" y="2560320"/>
            <a:ext cx="237744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4" dirty="0">
                <a:solidFill>
                  <a:srgbClr val="FF4C4C"/>
                </a:solidFill>
                <a:latin typeface="Segoe UI"/>
                <a:b/>
              </a:rPr>
              <a:t>10,237</a:t>
            </a:r>
          </a:p>
        </p:txBody>
      </p:sp>
      <p:sp>
        <p:nvSpPr>
          <p:cNvPr id="397" name="zdr1"/>
          <p:cNvSpPr>
            <a:spLocks noGrp="1"/>
          </p:cNvSpPr>
          <p:nvPr/>
        </p:nvSpPr>
        <p:spPr>
          <a:xfrm>
            <a:off x="6263640" y="3154680"/>
            <a:ext cx="5394960" cy="530352"/>
          </a:xfrm>
          <a:prstGeom prst="roundRect">
            <a:avLst>
              <a:gd name="adj" fmla="val 2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398" name="zdn1"/>
          <p:cNvSpPr>
            <a:spLocks noGrp="1"/>
          </p:cNvSpPr>
          <p:nvPr/>
        </p:nvSpPr>
        <p:spPr>
          <a:xfrm>
            <a:off x="6355080" y="3154680"/>
            <a:ext cx="265176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Vulnerability Scanner</a:t>
            </a:r>
          </a:p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  <a:i/>
              </a:rPr>
              <a:t>Reconnaissance</a:t>
            </a:r>
          </a:p>
        </p:txBody>
      </p:sp>
      <p:sp>
        <p:nvSpPr>
          <p:cNvPr id="399" name="zdc1"/>
          <p:cNvSpPr>
            <a:spLocks noGrp="1"/>
          </p:cNvSpPr>
          <p:nvPr/>
        </p:nvSpPr>
        <p:spPr>
          <a:xfrm>
            <a:off x="9052560" y="3154680"/>
            <a:ext cx="237744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4" dirty="0">
                <a:solidFill>
                  <a:srgbClr val="FF4C4C"/>
                </a:solidFill>
                <a:latin typeface="Segoe UI"/>
                <a:b/>
              </a:rPr>
              <a:t>10,062</a:t>
            </a:r>
          </a:p>
        </p:txBody>
      </p:sp>
      <p:sp>
        <p:nvSpPr>
          <p:cNvPr id="400" name="zdr2"/>
          <p:cNvSpPr>
            <a:spLocks noGrp="1"/>
          </p:cNvSpPr>
          <p:nvPr/>
        </p:nvSpPr>
        <p:spPr>
          <a:xfrm>
            <a:off x="6263640" y="3749040"/>
            <a:ext cx="5394960" cy="530352"/>
          </a:xfrm>
          <a:prstGeom prst="roundRect">
            <a:avLst>
              <a:gd name="adj" fmla="val 2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01" name="zdn2"/>
          <p:cNvSpPr>
            <a:spLocks noGrp="1"/>
          </p:cNvSpPr>
          <p:nvPr/>
        </p:nvSpPr>
        <p:spPr>
          <a:xfrm>
            <a:off x="6355080" y="3749040"/>
            <a:ext cx="265176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XSS</a:t>
            </a:r>
          </a:p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  <a:i/>
              </a:rPr>
              <a:t>Web Attack</a:t>
            </a:r>
          </a:p>
        </p:txBody>
      </p:sp>
      <p:sp>
        <p:nvSpPr>
          <p:cNvPr id="402" name="zdc2"/>
          <p:cNvSpPr>
            <a:spLocks noGrp="1"/>
          </p:cNvSpPr>
          <p:nvPr/>
        </p:nvSpPr>
        <p:spPr>
          <a:xfrm>
            <a:off x="9052560" y="3749040"/>
            <a:ext cx="237744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4" dirty="0">
                <a:solidFill>
                  <a:srgbClr val="FF4C4C"/>
                </a:solidFill>
                <a:latin typeface="Segoe UI"/>
                <a:b/>
              </a:rPr>
              <a:t>9,550</a:t>
            </a:r>
          </a:p>
        </p:txBody>
      </p:sp>
      <p:sp>
        <p:nvSpPr>
          <p:cNvPr id="403" name="zdr3"/>
          <p:cNvSpPr>
            <a:spLocks noGrp="1"/>
          </p:cNvSpPr>
          <p:nvPr/>
        </p:nvSpPr>
        <p:spPr>
          <a:xfrm>
            <a:off x="6263640" y="4343400"/>
            <a:ext cx="5394960" cy="530352"/>
          </a:xfrm>
          <a:prstGeom prst="roundRect">
            <a:avLst>
              <a:gd name="adj" fmla="val 2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04" name="zdn3"/>
          <p:cNvSpPr>
            <a:spLocks noGrp="1"/>
          </p:cNvSpPr>
          <p:nvPr/>
        </p:nvSpPr>
        <p:spPr>
          <a:xfrm>
            <a:off x="6355080" y="4343400"/>
            <a:ext cx="265176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Fingerprinting</a:t>
            </a:r>
          </a:p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  <a:i/>
              </a:rPr>
              <a:t>Reconnaissance</a:t>
            </a:r>
          </a:p>
        </p:txBody>
      </p:sp>
      <p:sp>
        <p:nvSpPr>
          <p:cNvPr id="405" name="zdc3"/>
          <p:cNvSpPr>
            <a:spLocks noGrp="1"/>
          </p:cNvSpPr>
          <p:nvPr/>
        </p:nvSpPr>
        <p:spPr>
          <a:xfrm>
            <a:off x="9052560" y="4343400"/>
            <a:ext cx="237744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4" dirty="0">
                <a:solidFill>
                  <a:srgbClr val="FF4C4C"/>
                </a:solidFill>
                <a:latin typeface="Segoe UI"/>
                <a:b/>
              </a:rPr>
              <a:t>853</a:t>
            </a:r>
          </a:p>
        </p:txBody>
      </p:sp>
      <p:sp>
        <p:nvSpPr>
          <p:cNvPr id="406" name="zdr4"/>
          <p:cNvSpPr>
            <a:spLocks noGrp="1"/>
          </p:cNvSpPr>
          <p:nvPr/>
        </p:nvSpPr>
        <p:spPr>
          <a:xfrm>
            <a:off x="6263640" y="4937760"/>
            <a:ext cx="5394960" cy="530352"/>
          </a:xfrm>
          <a:prstGeom prst="roundRect">
            <a:avLst>
              <a:gd name="adj" fmla="val 2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07" name="zdn4"/>
          <p:cNvSpPr>
            <a:spLocks noGrp="1"/>
          </p:cNvSpPr>
          <p:nvPr/>
        </p:nvSpPr>
        <p:spPr>
          <a:xfrm>
            <a:off x="6355080" y="4937760"/>
            <a:ext cx="265176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FFFF"/>
                </a:solidFill>
                <a:latin typeface="Segoe UI"/>
              </a:rPr>
              <a:t>MITM</a:t>
            </a:r>
          </a:p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  <a:i/>
              </a:rPr>
              <a:t>Man-in-the-Middle</a:t>
            </a:r>
          </a:p>
        </p:txBody>
      </p:sp>
      <p:sp>
        <p:nvSpPr>
          <p:cNvPr id="408" name="zdc4"/>
          <p:cNvSpPr>
            <a:spLocks noGrp="1"/>
          </p:cNvSpPr>
          <p:nvPr/>
        </p:nvSpPr>
        <p:spPr>
          <a:xfrm>
            <a:off x="9052560" y="4937760"/>
            <a:ext cx="2377440" cy="5303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4" dirty="0">
                <a:solidFill>
                  <a:srgbClr val="FF4C4C"/>
                </a:solidFill>
                <a:latin typeface="Segoe UI"/>
                <a:b/>
              </a:rPr>
              <a:t>394</a:t>
            </a:r>
          </a:p>
        </p:txBody>
      </p:sp>
      <p:sp>
        <p:nvSpPr>
          <p:cNvPr id="409" name="zdtot"/>
          <p:cNvSpPr>
            <a:spLocks noGrp="1"/>
          </p:cNvSpPr>
          <p:nvPr/>
        </p:nvSpPr>
        <p:spPr>
          <a:xfrm>
            <a:off x="6263640" y="5577840"/>
            <a:ext cx="539496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FF4C4C"/>
                </a:solidFill>
                <a:latin typeface="Segoe UI"/>
                <a:b/>
              </a:rPr>
              <a:t>TOTAL  →  31,096 rows</a:t>
            </a:r>
          </a:p>
        </p:txBody>
      </p:sp>
      <p:sp>
        <p:nvSpPr>
          <p:cNvPr id="410" name="zdnote"/>
          <p:cNvSpPr>
            <a:spLocks noGrp="1"/>
          </p:cNvSpPr>
          <p:nvPr/>
        </p:nvSpPr>
        <p:spPr>
          <a:xfrm>
            <a:off x="6263640" y="6080760"/>
            <a:ext cx="539496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⚡  LightGBM NEVER sees these during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411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12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13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14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415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Overall System Architecture</a:t>
            </a:r>
          </a:p>
        </p:txBody>
      </p:sp>
      <p:sp>
        <p:nvSpPr>
          <p:cNvPr id="416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17" name="ff0"/>
          <p:cNvSpPr>
            <a:spLocks noGrp="1"/>
          </p:cNvSpPr>
          <p:nvPr/>
        </p:nvSpPr>
        <p:spPr>
          <a:xfrm>
            <a:off x="457200" y="1051560"/>
            <a:ext cx="4754880" cy="713232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18" name="fft0"/>
          <p:cNvSpPr>
            <a:spLocks noGrp="1"/>
          </p:cNvSpPr>
          <p:nvPr/>
        </p:nvSpPr>
        <p:spPr>
          <a:xfrm>
            <a:off x="594360" y="1051560"/>
            <a:ext cx="4617720" cy="384048"/>
          </a:xfrm>
          <a:prstGeom prst="rect">
            <a:avLst/>
          </a:prstGeom>
          <a:noFill/>
        </p:spPr>
        <p:txBody>
          <a:bodyPr anchor="b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🌐  IoT Traffic Input</a:t>
            </a:r>
          </a:p>
        </p:txBody>
      </p:sp>
      <p:sp>
        <p:nvSpPr>
          <p:cNvPr id="419" name="ffs0"/>
          <p:cNvSpPr>
            <a:spLocks noGrp="1"/>
          </p:cNvSpPr>
          <p:nvPr/>
        </p:nvSpPr>
        <p:spPr>
          <a:xfrm>
            <a:off x="594360" y="1435608"/>
            <a:ext cx="4617720" cy="301752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157,800 packets — 63 features</a:t>
            </a:r>
          </a:p>
        </p:txBody>
      </p:sp>
      <p:sp>
        <p:nvSpPr>
          <p:cNvPr id="420" name="arrow"/>
          <p:cNvSpPr>
            <a:spLocks noGrp="1"/>
          </p:cNvSpPr>
          <p:nvPr/>
        </p:nvSpPr>
        <p:spPr>
          <a:xfrm>
            <a:off x="2674620" y="1764792"/>
            <a:ext cx="320040" cy="228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▼</a:t>
            </a:r>
          </a:p>
        </p:txBody>
      </p:sp>
      <p:sp>
        <p:nvSpPr>
          <p:cNvPr id="421" name="ff1"/>
          <p:cNvSpPr>
            <a:spLocks noGrp="1"/>
          </p:cNvSpPr>
          <p:nvPr/>
        </p:nvSpPr>
        <p:spPr>
          <a:xfrm>
            <a:off x="457200" y="1965960"/>
            <a:ext cx="4754880" cy="713232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22" name="fft1"/>
          <p:cNvSpPr>
            <a:spLocks noGrp="1"/>
          </p:cNvSpPr>
          <p:nvPr/>
        </p:nvSpPr>
        <p:spPr>
          <a:xfrm>
            <a:off x="594360" y="1965960"/>
            <a:ext cx="4617720" cy="384048"/>
          </a:xfrm>
          <a:prstGeom prst="rect">
            <a:avLst/>
          </a:prstGeom>
          <a:noFill/>
        </p:spPr>
        <p:txBody>
          <a:bodyPr anchor="b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7B2FFF"/>
                </a:solidFill>
                <a:latin typeface="Segoe UI"/>
                <a:b/>
              </a:rPr>
              <a:t>⚙  Preprocessing</a:t>
            </a:r>
          </a:p>
        </p:txBody>
      </p:sp>
      <p:sp>
        <p:nvSpPr>
          <p:cNvPr id="423" name="ffs1"/>
          <p:cNvSpPr>
            <a:spLocks noGrp="1"/>
          </p:cNvSpPr>
          <p:nvPr/>
        </p:nvSpPr>
        <p:spPr>
          <a:xfrm>
            <a:off x="594360" y="2350008"/>
            <a:ext cx="4617720" cy="301752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Clean · Encode · Normalise · Split</a:t>
            </a:r>
          </a:p>
        </p:txBody>
      </p:sp>
      <p:sp>
        <p:nvSpPr>
          <p:cNvPr id="424" name="arrow"/>
          <p:cNvSpPr>
            <a:spLocks noGrp="1"/>
          </p:cNvSpPr>
          <p:nvPr/>
        </p:nvSpPr>
        <p:spPr>
          <a:xfrm>
            <a:off x="2674620" y="2679192"/>
            <a:ext cx="320040" cy="228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▼</a:t>
            </a:r>
          </a:p>
        </p:txBody>
      </p:sp>
      <p:sp>
        <p:nvSpPr>
          <p:cNvPr id="425" name="ff2"/>
          <p:cNvSpPr>
            <a:spLocks noGrp="1"/>
          </p:cNvSpPr>
          <p:nvPr/>
        </p:nvSpPr>
        <p:spPr>
          <a:xfrm>
            <a:off x="457200" y="2880360"/>
            <a:ext cx="4754880" cy="713232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26" name="fft2"/>
          <p:cNvSpPr>
            <a:spLocks noGrp="1"/>
          </p:cNvSpPr>
          <p:nvPr/>
        </p:nvSpPr>
        <p:spPr>
          <a:xfrm>
            <a:off x="594360" y="2880360"/>
            <a:ext cx="4617720" cy="384048"/>
          </a:xfrm>
          <a:prstGeom prst="rect">
            <a:avLst/>
          </a:prstGeom>
          <a:noFill/>
        </p:spPr>
        <p:txBody>
          <a:bodyPr anchor="b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FFB800"/>
                </a:solidFill>
                <a:latin typeface="Segoe UI"/>
                <a:b/>
              </a:rPr>
              <a:t>🌿  LightGBM Classifier</a:t>
            </a:r>
          </a:p>
        </p:txBody>
      </p:sp>
      <p:sp>
        <p:nvSpPr>
          <p:cNvPr id="427" name="ffs2"/>
          <p:cNvSpPr>
            <a:spLocks noGrp="1"/>
          </p:cNvSpPr>
          <p:nvPr/>
        </p:nvSpPr>
        <p:spPr>
          <a:xfrm>
            <a:off x="594360" y="3264408"/>
            <a:ext cx="4617720" cy="301752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Trained on 10 known attack types</a:t>
            </a:r>
          </a:p>
        </p:txBody>
      </p:sp>
      <p:sp>
        <p:nvSpPr>
          <p:cNvPr id="428" name="arrow"/>
          <p:cNvSpPr>
            <a:spLocks noGrp="1"/>
          </p:cNvSpPr>
          <p:nvPr/>
        </p:nvSpPr>
        <p:spPr>
          <a:xfrm>
            <a:off x="2674620" y="3593592"/>
            <a:ext cx="320040" cy="228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▼</a:t>
            </a:r>
          </a:p>
        </p:txBody>
      </p:sp>
      <p:sp>
        <p:nvSpPr>
          <p:cNvPr id="429" name="ff3"/>
          <p:cNvSpPr>
            <a:spLocks noGrp="1"/>
          </p:cNvSpPr>
          <p:nvPr/>
        </p:nvSpPr>
        <p:spPr>
          <a:xfrm>
            <a:off x="457200" y="3794760"/>
            <a:ext cx="4754880" cy="713232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30" name="fft3"/>
          <p:cNvSpPr>
            <a:spLocks noGrp="1"/>
          </p:cNvSpPr>
          <p:nvPr/>
        </p:nvSpPr>
        <p:spPr>
          <a:xfrm>
            <a:off x="594360" y="3794760"/>
            <a:ext cx="4617720" cy="384048"/>
          </a:xfrm>
          <a:prstGeom prst="rect">
            <a:avLst/>
          </a:prstGeom>
          <a:noFill/>
        </p:spPr>
        <p:txBody>
          <a:bodyPr anchor="b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00FF88"/>
                </a:solidFill>
                <a:latin typeface="Segoe UI"/>
                <a:b/>
              </a:rPr>
              <a:t>🧠  Autoencoder</a:t>
            </a:r>
          </a:p>
        </p:txBody>
      </p:sp>
      <p:sp>
        <p:nvSpPr>
          <p:cNvPr id="431" name="ffs3"/>
          <p:cNvSpPr>
            <a:spLocks noGrp="1"/>
          </p:cNvSpPr>
          <p:nvPr/>
        </p:nvSpPr>
        <p:spPr>
          <a:xfrm>
            <a:off x="594360" y="4178808"/>
            <a:ext cx="4617720" cy="301752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Trained on normal traffic only</a:t>
            </a:r>
          </a:p>
        </p:txBody>
      </p:sp>
      <p:sp>
        <p:nvSpPr>
          <p:cNvPr id="432" name="arrow"/>
          <p:cNvSpPr>
            <a:spLocks noGrp="1"/>
          </p:cNvSpPr>
          <p:nvPr/>
        </p:nvSpPr>
        <p:spPr>
          <a:xfrm>
            <a:off x="2674620" y="4507992"/>
            <a:ext cx="320040" cy="228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▼</a:t>
            </a:r>
          </a:p>
        </p:txBody>
      </p:sp>
      <p:sp>
        <p:nvSpPr>
          <p:cNvPr id="433" name="ff4"/>
          <p:cNvSpPr>
            <a:spLocks noGrp="1"/>
          </p:cNvSpPr>
          <p:nvPr/>
        </p:nvSpPr>
        <p:spPr>
          <a:xfrm>
            <a:off x="457200" y="4709160"/>
            <a:ext cx="4754880" cy="713232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34" name="fft4"/>
          <p:cNvSpPr>
            <a:spLocks noGrp="1"/>
          </p:cNvSpPr>
          <p:nvPr/>
        </p:nvSpPr>
        <p:spPr>
          <a:xfrm>
            <a:off x="594360" y="4709160"/>
            <a:ext cx="4617720" cy="384048"/>
          </a:xfrm>
          <a:prstGeom prst="rect">
            <a:avLst/>
          </a:prstGeom>
          <a:noFill/>
        </p:spPr>
        <p:txBody>
          <a:bodyPr anchor="b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7B2FFF"/>
                </a:solidFill>
                <a:latin typeface="Segoe UI"/>
                <a:b/>
              </a:rPr>
              <a:t>🔀  Fusion Logic</a:t>
            </a:r>
          </a:p>
        </p:txBody>
      </p:sp>
      <p:sp>
        <p:nvSpPr>
          <p:cNvPr id="435" name="ffs4"/>
          <p:cNvSpPr>
            <a:spLocks noGrp="1"/>
          </p:cNvSpPr>
          <p:nvPr/>
        </p:nvSpPr>
        <p:spPr>
          <a:xfrm>
            <a:off x="594360" y="5093208"/>
            <a:ext cx="4617720" cy="301752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IF confidence ≥90% normal → accept  ELSE → AE</a:t>
            </a:r>
          </a:p>
        </p:txBody>
      </p:sp>
      <p:sp>
        <p:nvSpPr>
          <p:cNvPr id="436" name="arrow"/>
          <p:cNvSpPr>
            <a:spLocks noGrp="1"/>
          </p:cNvSpPr>
          <p:nvPr/>
        </p:nvSpPr>
        <p:spPr>
          <a:xfrm>
            <a:off x="2674620" y="5422392"/>
            <a:ext cx="320040" cy="228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▼</a:t>
            </a:r>
          </a:p>
        </p:txBody>
      </p:sp>
      <p:sp>
        <p:nvSpPr>
          <p:cNvPr id="437" name="ff5"/>
          <p:cNvSpPr>
            <a:spLocks noGrp="1"/>
          </p:cNvSpPr>
          <p:nvPr/>
        </p:nvSpPr>
        <p:spPr>
          <a:xfrm>
            <a:off x="457200" y="5623560"/>
            <a:ext cx="4754880" cy="713232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38" name="fft5"/>
          <p:cNvSpPr>
            <a:spLocks noGrp="1"/>
          </p:cNvSpPr>
          <p:nvPr/>
        </p:nvSpPr>
        <p:spPr>
          <a:xfrm>
            <a:off x="594360" y="5623560"/>
            <a:ext cx="4617720" cy="384048"/>
          </a:xfrm>
          <a:prstGeom prst="rect">
            <a:avLst/>
          </a:prstGeom>
          <a:noFill/>
        </p:spPr>
        <p:txBody>
          <a:bodyPr anchor="b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🛡  Final IDS Decision</a:t>
            </a:r>
          </a:p>
        </p:txBody>
      </p:sp>
      <p:sp>
        <p:nvSpPr>
          <p:cNvPr id="439" name="ffs5"/>
          <p:cNvSpPr>
            <a:spLocks noGrp="1"/>
          </p:cNvSpPr>
          <p:nvPr/>
        </p:nvSpPr>
        <p:spPr>
          <a:xfrm>
            <a:off x="594360" y="6007608"/>
            <a:ext cx="4617720" cy="301752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Known Attack Type  |  Zero-Day Anomaly  |  Normal</a:t>
            </a:r>
          </a:p>
        </p:txBody>
      </p:sp>
      <p:sp>
        <p:nvSpPr>
          <p:cNvPr id="440" name="rcard"/>
          <p:cNvSpPr>
            <a:spLocks noGrp="1"/>
          </p:cNvSpPr>
          <p:nvPr/>
        </p:nvSpPr>
        <p:spPr>
          <a:xfrm>
            <a:off x="5577840" y="1051560"/>
            <a:ext cx="6217920" cy="53949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41" name="archdr"/>
          <p:cNvSpPr>
            <a:spLocks noGrp="1"/>
          </p:cNvSpPr>
          <p:nvPr/>
        </p:nvSpPr>
        <p:spPr>
          <a:xfrm>
            <a:off x="5715000" y="1097280"/>
            <a:ext cx="594360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7" dirty="0">
                <a:solidFill>
                  <a:srgbClr val="00D4FF"/>
                </a:solidFill>
                <a:latin typeface="Segoe UI"/>
                <a:b/>
              </a:rPr>
              <a:t>Architecture Highlights</a:t>
            </a:r>
          </a:p>
        </p:txBody>
      </p:sp>
      <p:sp>
        <p:nvSpPr>
          <p:cNvPr id="442" name="hc0"/>
          <p:cNvSpPr>
            <a:spLocks noGrp="1"/>
          </p:cNvSpPr>
          <p:nvPr/>
        </p:nvSpPr>
        <p:spPr>
          <a:xfrm>
            <a:off x="5715000" y="1691640"/>
            <a:ext cx="5852160" cy="141732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43" name="hct0"/>
          <p:cNvSpPr>
            <a:spLocks noGrp="1"/>
          </p:cNvSpPr>
          <p:nvPr/>
        </p:nvSpPr>
        <p:spPr>
          <a:xfrm>
            <a:off x="5852160" y="1764792"/>
            <a:ext cx="5577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5" dirty="0">
                <a:solidFill>
                  <a:srgbClr val="FFB800"/>
                </a:solidFill>
                <a:latin typeface="Segoe UI"/>
                <a:b/>
              </a:rPr>
              <a:t>■  LightGBM</a:t>
            </a:r>
          </a:p>
        </p:txBody>
      </p:sp>
      <p:sp>
        <p:nvSpPr>
          <p:cNvPr id="444" name="hcp00"/>
          <p:cNvSpPr>
            <a:spLocks noGrp="1"/>
          </p:cNvSpPr>
          <p:nvPr/>
        </p:nvSpPr>
        <p:spPr>
          <a:xfrm>
            <a:off x="5943600" y="2167128"/>
            <a:ext cx="544068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  •  Gradient boosting — 10-class supervised classifier</a:t>
            </a:r>
          </a:p>
        </p:txBody>
      </p:sp>
      <p:sp>
        <p:nvSpPr>
          <p:cNvPr id="445" name="hcp01"/>
          <p:cNvSpPr>
            <a:spLocks noGrp="1"/>
          </p:cNvSpPr>
          <p:nvPr/>
        </p:nvSpPr>
        <p:spPr>
          <a:xfrm>
            <a:off x="5943600" y="2468880"/>
            <a:ext cx="544068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  •  99.99% accuracy on known attack types</a:t>
            </a:r>
          </a:p>
        </p:txBody>
      </p:sp>
      <p:sp>
        <p:nvSpPr>
          <p:cNvPr id="446" name="hcp02"/>
          <p:cNvSpPr>
            <a:spLocks noGrp="1"/>
          </p:cNvSpPr>
          <p:nvPr/>
        </p:nvSpPr>
        <p:spPr>
          <a:xfrm>
            <a:off x="5943600" y="2770632"/>
            <a:ext cx="544068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  •  Fast inference — tree-based (edge-friendly)</a:t>
            </a:r>
          </a:p>
        </p:txBody>
      </p:sp>
      <p:sp>
        <p:nvSpPr>
          <p:cNvPr id="447" name="hc1"/>
          <p:cNvSpPr>
            <a:spLocks noGrp="1"/>
          </p:cNvSpPr>
          <p:nvPr/>
        </p:nvSpPr>
        <p:spPr>
          <a:xfrm>
            <a:off x="5715000" y="3246120"/>
            <a:ext cx="5852160" cy="141732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48" name="hct1"/>
          <p:cNvSpPr>
            <a:spLocks noGrp="1"/>
          </p:cNvSpPr>
          <p:nvPr/>
        </p:nvSpPr>
        <p:spPr>
          <a:xfrm>
            <a:off x="5852160" y="3319272"/>
            <a:ext cx="5577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5" dirty="0">
                <a:solidFill>
                  <a:srgbClr val="00FF88"/>
                </a:solidFill>
                <a:latin typeface="Segoe UI"/>
                <a:b/>
              </a:rPr>
              <a:t>■  Autoencoder</a:t>
            </a:r>
          </a:p>
        </p:txBody>
      </p:sp>
      <p:sp>
        <p:nvSpPr>
          <p:cNvPr id="449" name="hcp10"/>
          <p:cNvSpPr>
            <a:spLocks noGrp="1"/>
          </p:cNvSpPr>
          <p:nvPr/>
        </p:nvSpPr>
        <p:spPr>
          <a:xfrm>
            <a:off x="5943600" y="3721608"/>
            <a:ext cx="544068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  •  51→64→32→16→32→64→51 symmetric architecture</a:t>
            </a:r>
          </a:p>
        </p:txBody>
      </p:sp>
      <p:sp>
        <p:nvSpPr>
          <p:cNvPr id="450" name="hcp11"/>
          <p:cNvSpPr>
            <a:spLocks noGrp="1"/>
          </p:cNvSpPr>
          <p:nvPr/>
        </p:nvSpPr>
        <p:spPr>
          <a:xfrm>
            <a:off x="5943600" y="4023360"/>
            <a:ext cx="544068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  •  Only 11,907 parameters — ultra-lightweight</a:t>
            </a:r>
          </a:p>
        </p:txBody>
      </p:sp>
      <p:sp>
        <p:nvSpPr>
          <p:cNvPr id="451" name="hcp12"/>
          <p:cNvSpPr>
            <a:spLocks noGrp="1"/>
          </p:cNvSpPr>
          <p:nvPr/>
        </p:nvSpPr>
        <p:spPr>
          <a:xfrm>
            <a:off x="5943600" y="4325112"/>
            <a:ext cx="544068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  •  Detects anomalies via reconstruction error &gt; 0.0122</a:t>
            </a:r>
          </a:p>
        </p:txBody>
      </p:sp>
      <p:sp>
        <p:nvSpPr>
          <p:cNvPr id="452" name="hc2"/>
          <p:cNvSpPr>
            <a:spLocks noGrp="1"/>
          </p:cNvSpPr>
          <p:nvPr/>
        </p:nvSpPr>
        <p:spPr>
          <a:xfrm>
            <a:off x="5715000" y="4800600"/>
            <a:ext cx="5852160" cy="141732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53" name="hct2"/>
          <p:cNvSpPr>
            <a:spLocks noGrp="1"/>
          </p:cNvSpPr>
          <p:nvPr/>
        </p:nvSpPr>
        <p:spPr>
          <a:xfrm>
            <a:off x="5852160" y="4873752"/>
            <a:ext cx="5577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5" dirty="0">
                <a:solidFill>
                  <a:srgbClr val="7B2FFF"/>
                </a:solidFill>
                <a:latin typeface="Segoe UI"/>
                <a:b/>
              </a:rPr>
              <a:t>■  Fusion Layer</a:t>
            </a:r>
          </a:p>
        </p:txBody>
      </p:sp>
      <p:sp>
        <p:nvSpPr>
          <p:cNvPr id="454" name="hcp20"/>
          <p:cNvSpPr>
            <a:spLocks noGrp="1"/>
          </p:cNvSpPr>
          <p:nvPr/>
        </p:nvSpPr>
        <p:spPr>
          <a:xfrm>
            <a:off x="5943600" y="5276088"/>
            <a:ext cx="544068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  •  Threshold-based confidence routing</a:t>
            </a:r>
          </a:p>
        </p:txBody>
      </p:sp>
      <p:sp>
        <p:nvSpPr>
          <p:cNvPr id="455" name="hcp21"/>
          <p:cNvSpPr>
            <a:spLocks noGrp="1"/>
          </p:cNvSpPr>
          <p:nvPr/>
        </p:nvSpPr>
        <p:spPr>
          <a:xfrm>
            <a:off x="5943600" y="5577840"/>
            <a:ext cx="544068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  •  LightGBM handles known, AE handles unknown</a:t>
            </a:r>
          </a:p>
        </p:txBody>
      </p:sp>
      <p:sp>
        <p:nvSpPr>
          <p:cNvPr id="456" name="hcp22"/>
          <p:cNvSpPr>
            <a:spLocks noGrp="1"/>
          </p:cNvSpPr>
          <p:nvPr/>
        </p:nvSpPr>
        <p:spPr>
          <a:xfrm>
            <a:off x="5943600" y="5879592"/>
            <a:ext cx="544068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  •  96.82% accuracy on zero-day scenario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457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58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59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60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461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LightGBM — Known Attack Classifier</a:t>
            </a:r>
          </a:p>
        </p:txBody>
      </p:sp>
      <p:sp>
        <p:nvSpPr>
          <p:cNvPr id="462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63" name="lgbcard"/>
          <p:cNvSpPr>
            <a:spLocks noGrp="1"/>
          </p:cNvSpPr>
          <p:nvPr/>
        </p:nvSpPr>
        <p:spPr>
          <a:xfrm>
            <a:off x="365760" y="1051560"/>
            <a:ext cx="5212080" cy="53949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64" name="whyhdr"/>
          <p:cNvSpPr>
            <a:spLocks noGrp="1"/>
          </p:cNvSpPr>
          <p:nvPr/>
        </p:nvSpPr>
        <p:spPr>
          <a:xfrm>
            <a:off x="502920" y="1097280"/>
            <a:ext cx="493776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8" dirty="0">
                <a:solidFill>
                  <a:srgbClr val="FFB800"/>
                </a:solidFill>
                <a:latin typeface="Segoe UI"/>
                <a:b/>
              </a:rPr>
              <a:t>⚡  Why LightGBM?</a:t>
            </a:r>
          </a:p>
        </p:txBody>
      </p:sp>
      <p:sp>
        <p:nvSpPr>
          <p:cNvPr id="465" name="wp0"/>
          <p:cNvSpPr>
            <a:spLocks noGrp="1"/>
          </p:cNvSpPr>
          <p:nvPr/>
        </p:nvSpPr>
        <p:spPr>
          <a:xfrm>
            <a:off x="502920" y="1691640"/>
            <a:ext cx="4937760" cy="77724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66" name="wpt0"/>
          <p:cNvSpPr>
            <a:spLocks noGrp="1"/>
          </p:cNvSpPr>
          <p:nvPr/>
        </p:nvSpPr>
        <p:spPr>
          <a:xfrm>
            <a:off x="640080" y="1737360"/>
            <a:ext cx="46634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FFB800"/>
                </a:solidFill>
                <a:latin typeface="Segoe UI"/>
                <a:b/>
              </a:rPr>
              <a:t>▸  Lightweight &amp; Fast</a:t>
            </a:r>
          </a:p>
        </p:txBody>
      </p:sp>
      <p:sp>
        <p:nvSpPr>
          <p:cNvPr id="467" name="wpd0"/>
          <p:cNvSpPr>
            <a:spLocks noGrp="1"/>
          </p:cNvSpPr>
          <p:nvPr/>
        </p:nvSpPr>
        <p:spPr>
          <a:xfrm>
            <a:off x="640080" y="2075688"/>
            <a:ext cx="4663440" cy="36576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Tree-based model — no GPU needed, runs on edge CPUs in microseconds</a:t>
            </a:r>
          </a:p>
        </p:txBody>
      </p:sp>
      <p:sp>
        <p:nvSpPr>
          <p:cNvPr id="468" name="wp1"/>
          <p:cNvSpPr>
            <a:spLocks noGrp="1"/>
          </p:cNvSpPr>
          <p:nvPr/>
        </p:nvSpPr>
        <p:spPr>
          <a:xfrm>
            <a:off x="502920" y="2578608"/>
            <a:ext cx="4937760" cy="77724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69" name="wpt1"/>
          <p:cNvSpPr>
            <a:spLocks noGrp="1"/>
          </p:cNvSpPr>
          <p:nvPr/>
        </p:nvSpPr>
        <p:spPr>
          <a:xfrm>
            <a:off x="640080" y="2624328"/>
            <a:ext cx="46634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▸  High Accuracy</a:t>
            </a:r>
          </a:p>
        </p:txBody>
      </p:sp>
      <p:sp>
        <p:nvSpPr>
          <p:cNvPr id="470" name="wpd1"/>
          <p:cNvSpPr>
            <a:spLocks noGrp="1"/>
          </p:cNvSpPr>
          <p:nvPr/>
        </p:nvSpPr>
        <p:spPr>
          <a:xfrm>
            <a:off x="640080" y="2962656"/>
            <a:ext cx="4663440" cy="36576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Gradient boosting with leaf-wise growth achieves state-of-art tabular accuracy</a:t>
            </a:r>
          </a:p>
        </p:txBody>
      </p:sp>
      <p:sp>
        <p:nvSpPr>
          <p:cNvPr id="471" name="wp2"/>
          <p:cNvSpPr>
            <a:spLocks noGrp="1"/>
          </p:cNvSpPr>
          <p:nvPr/>
        </p:nvSpPr>
        <p:spPr>
          <a:xfrm>
            <a:off x="502920" y="3465576"/>
            <a:ext cx="4937760" cy="77724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72" name="wpt2"/>
          <p:cNvSpPr>
            <a:spLocks noGrp="1"/>
          </p:cNvSpPr>
          <p:nvPr/>
        </p:nvSpPr>
        <p:spPr>
          <a:xfrm>
            <a:off x="640080" y="3511296"/>
            <a:ext cx="46634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00FF88"/>
                </a:solidFill>
                <a:latin typeface="Segoe UI"/>
                <a:b/>
              </a:rPr>
              <a:t>▸  Handles Imbalanced Data</a:t>
            </a:r>
          </a:p>
        </p:txBody>
      </p:sp>
      <p:sp>
        <p:nvSpPr>
          <p:cNvPr id="473" name="wpd2"/>
          <p:cNvSpPr>
            <a:spLocks noGrp="1"/>
          </p:cNvSpPr>
          <p:nvPr/>
        </p:nvSpPr>
        <p:spPr>
          <a:xfrm>
            <a:off x="640080" y="3849624"/>
            <a:ext cx="4663440" cy="36576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Built-in class_weight support for unequal attack class distribution</a:t>
            </a:r>
          </a:p>
        </p:txBody>
      </p:sp>
      <p:sp>
        <p:nvSpPr>
          <p:cNvPr id="474" name="wp3"/>
          <p:cNvSpPr>
            <a:spLocks noGrp="1"/>
          </p:cNvSpPr>
          <p:nvPr/>
        </p:nvSpPr>
        <p:spPr>
          <a:xfrm>
            <a:off x="502920" y="4352544"/>
            <a:ext cx="4937760" cy="77724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75" name="wpt3"/>
          <p:cNvSpPr>
            <a:spLocks noGrp="1"/>
          </p:cNvSpPr>
          <p:nvPr/>
        </p:nvSpPr>
        <p:spPr>
          <a:xfrm>
            <a:off x="640080" y="4398264"/>
            <a:ext cx="46634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7B2FFF"/>
                </a:solidFill>
                <a:latin typeface="Segoe UI"/>
                <a:b/>
              </a:rPr>
              <a:t>▸  Feature Importance</a:t>
            </a:r>
          </a:p>
        </p:txBody>
      </p:sp>
      <p:sp>
        <p:nvSpPr>
          <p:cNvPr id="476" name="wpd3"/>
          <p:cNvSpPr>
            <a:spLocks noGrp="1"/>
          </p:cNvSpPr>
          <p:nvPr/>
        </p:nvSpPr>
        <p:spPr>
          <a:xfrm>
            <a:off x="640080" y="4736592"/>
            <a:ext cx="4663440" cy="36576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Provides interpretable feature rankings — critical for research validation</a:t>
            </a:r>
          </a:p>
        </p:txBody>
      </p:sp>
      <p:sp>
        <p:nvSpPr>
          <p:cNvPr id="477" name="wp4"/>
          <p:cNvSpPr>
            <a:spLocks noGrp="1"/>
          </p:cNvSpPr>
          <p:nvPr/>
        </p:nvSpPr>
        <p:spPr>
          <a:xfrm>
            <a:off x="502920" y="5239512"/>
            <a:ext cx="4937760" cy="77724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78" name="wpt4"/>
          <p:cNvSpPr>
            <a:spLocks noGrp="1"/>
          </p:cNvSpPr>
          <p:nvPr/>
        </p:nvSpPr>
        <p:spPr>
          <a:xfrm>
            <a:off x="640080" y="5285232"/>
            <a:ext cx="46634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FF4C4C"/>
                </a:solidFill>
                <a:latin typeface="Segoe UI"/>
                <a:b/>
              </a:rPr>
              <a:t>▸  Multi-Class Native</a:t>
            </a:r>
          </a:p>
        </p:txBody>
      </p:sp>
      <p:sp>
        <p:nvSpPr>
          <p:cNvPr id="479" name="wpd4"/>
          <p:cNvSpPr>
            <a:spLocks noGrp="1"/>
          </p:cNvSpPr>
          <p:nvPr/>
        </p:nvSpPr>
        <p:spPr>
          <a:xfrm>
            <a:off x="640080" y="5623560"/>
            <a:ext cx="4663440" cy="36576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Single model natively classifies 10 attack categories simultaneously</a:t>
            </a:r>
          </a:p>
        </p:txBody>
      </p:sp>
      <p:sp>
        <p:nvSpPr>
          <p:cNvPr id="480" name="lgbdetail"/>
          <p:cNvSpPr>
            <a:spLocks noGrp="1"/>
          </p:cNvSpPr>
          <p:nvPr/>
        </p:nvSpPr>
        <p:spPr>
          <a:xfrm>
            <a:off x="5760720" y="1051560"/>
            <a:ext cx="6035040" cy="53949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481" name="modcfghdr"/>
          <p:cNvSpPr>
            <a:spLocks noGrp="1"/>
          </p:cNvSpPr>
          <p:nvPr/>
        </p:nvSpPr>
        <p:spPr>
          <a:xfrm>
            <a:off x="5897880" y="1097280"/>
            <a:ext cx="576072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8" dirty="0">
                <a:solidFill>
                  <a:srgbClr val="00D4FF"/>
                </a:solidFill>
                <a:latin typeface="Segoe UI"/>
                <a:b/>
              </a:rPr>
              <a:t>🌿  Model Configuration</a:t>
            </a:r>
          </a:p>
        </p:txBody>
      </p:sp>
      <p:sp>
        <p:nvSpPr>
          <p:cNvPr id="482" name="cfgcolhdr"/>
          <p:cNvSpPr>
            <a:spLocks noGrp="1"/>
          </p:cNvSpPr>
          <p:nvPr/>
        </p:nvSpPr>
        <p:spPr>
          <a:xfrm>
            <a:off x="5897880" y="1627632"/>
            <a:ext cx="576072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Parameter</a:t>
            </a:r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                                Value</a:t>
            </a:r>
          </a:p>
        </p:txBody>
      </p:sp>
      <p:sp>
        <p:nvSpPr>
          <p:cNvPr id="483" name="cfghr"/>
          <p:cNvSpPr>
            <a:spLocks noGrp="1"/>
          </p:cNvSpPr>
          <p:nvPr/>
        </p:nvSpPr>
        <p:spPr>
          <a:xfrm>
            <a:off x="5897880" y="1984248"/>
            <a:ext cx="5760720" cy="27432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84" name="cfgr0"/>
          <p:cNvSpPr>
            <a:spLocks noGrp="1"/>
          </p:cNvSpPr>
          <p:nvPr/>
        </p:nvSpPr>
        <p:spPr>
          <a:xfrm>
            <a:off x="5897880" y="2057400"/>
            <a:ext cx="5760720" cy="420624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85" name="cfgk0"/>
          <p:cNvSpPr>
            <a:spLocks noGrp="1"/>
          </p:cNvSpPr>
          <p:nvPr/>
        </p:nvSpPr>
        <p:spPr>
          <a:xfrm>
            <a:off x="6035040" y="2057400"/>
            <a:ext cx="347472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objective</a:t>
            </a:r>
          </a:p>
        </p:txBody>
      </p:sp>
      <p:sp>
        <p:nvSpPr>
          <p:cNvPr id="486" name="cfgv0"/>
          <p:cNvSpPr>
            <a:spLocks noGrp="1"/>
          </p:cNvSpPr>
          <p:nvPr/>
        </p:nvSpPr>
        <p:spPr>
          <a:xfrm>
            <a:off x="9601200" y="2057400"/>
            <a:ext cx="192024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multiclass</a:t>
            </a:r>
          </a:p>
        </p:txBody>
      </p:sp>
      <p:sp>
        <p:nvSpPr>
          <p:cNvPr id="487" name="cfgr1"/>
          <p:cNvSpPr>
            <a:spLocks noGrp="1"/>
          </p:cNvSpPr>
          <p:nvPr/>
        </p:nvSpPr>
        <p:spPr>
          <a:xfrm>
            <a:off x="5897880" y="2514600"/>
            <a:ext cx="5760720" cy="420624"/>
          </a:xfrm>
          <a:prstGeom prst="roundRect">
            <a:avLst>
              <a:gd name="adj" fmla="val 15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88" name="cfgk1"/>
          <p:cNvSpPr>
            <a:spLocks noGrp="1"/>
          </p:cNvSpPr>
          <p:nvPr/>
        </p:nvSpPr>
        <p:spPr>
          <a:xfrm>
            <a:off x="6035040" y="2514600"/>
            <a:ext cx="347472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num_class</a:t>
            </a:r>
          </a:p>
        </p:txBody>
      </p:sp>
      <p:sp>
        <p:nvSpPr>
          <p:cNvPr id="489" name="cfgv1"/>
          <p:cNvSpPr>
            <a:spLocks noGrp="1"/>
          </p:cNvSpPr>
          <p:nvPr/>
        </p:nvSpPr>
        <p:spPr>
          <a:xfrm>
            <a:off x="9601200" y="2514600"/>
            <a:ext cx="192024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FFB800"/>
                </a:solidFill>
                <a:latin typeface="Segoe UI"/>
                <a:b/>
              </a:rPr>
              <a:t>10</a:t>
            </a:r>
          </a:p>
        </p:txBody>
      </p:sp>
      <p:sp>
        <p:nvSpPr>
          <p:cNvPr id="490" name="cfgr2"/>
          <p:cNvSpPr>
            <a:spLocks noGrp="1"/>
          </p:cNvSpPr>
          <p:nvPr/>
        </p:nvSpPr>
        <p:spPr>
          <a:xfrm>
            <a:off x="5897880" y="2971800"/>
            <a:ext cx="5760720" cy="420624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91" name="cfgk2"/>
          <p:cNvSpPr>
            <a:spLocks noGrp="1"/>
          </p:cNvSpPr>
          <p:nvPr/>
        </p:nvSpPr>
        <p:spPr>
          <a:xfrm>
            <a:off x="6035040" y="2971800"/>
            <a:ext cx="347472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n_estimators</a:t>
            </a:r>
          </a:p>
        </p:txBody>
      </p:sp>
      <p:sp>
        <p:nvSpPr>
          <p:cNvPr id="492" name="cfgv2"/>
          <p:cNvSpPr>
            <a:spLocks noGrp="1"/>
          </p:cNvSpPr>
          <p:nvPr/>
        </p:nvSpPr>
        <p:spPr>
          <a:xfrm>
            <a:off x="9601200" y="2971800"/>
            <a:ext cx="192024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00FF88"/>
                </a:solidFill>
                <a:latin typeface="Segoe UI"/>
                <a:b/>
              </a:rPr>
              <a:t>300</a:t>
            </a:r>
          </a:p>
        </p:txBody>
      </p:sp>
      <p:sp>
        <p:nvSpPr>
          <p:cNvPr id="493" name="cfgr3"/>
          <p:cNvSpPr>
            <a:spLocks noGrp="1"/>
          </p:cNvSpPr>
          <p:nvPr/>
        </p:nvSpPr>
        <p:spPr>
          <a:xfrm>
            <a:off x="5897880" y="3429000"/>
            <a:ext cx="5760720" cy="420624"/>
          </a:xfrm>
          <a:prstGeom prst="roundRect">
            <a:avLst>
              <a:gd name="adj" fmla="val 15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94" name="cfgk3"/>
          <p:cNvSpPr>
            <a:spLocks noGrp="1"/>
          </p:cNvSpPr>
          <p:nvPr/>
        </p:nvSpPr>
        <p:spPr>
          <a:xfrm>
            <a:off x="6035040" y="3429000"/>
            <a:ext cx="347472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learning_rate</a:t>
            </a:r>
          </a:p>
        </p:txBody>
      </p:sp>
      <p:sp>
        <p:nvSpPr>
          <p:cNvPr id="495" name="cfgv3"/>
          <p:cNvSpPr>
            <a:spLocks noGrp="1"/>
          </p:cNvSpPr>
          <p:nvPr/>
        </p:nvSpPr>
        <p:spPr>
          <a:xfrm>
            <a:off x="9601200" y="3429000"/>
            <a:ext cx="192024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0.05</a:t>
            </a:r>
          </a:p>
        </p:txBody>
      </p:sp>
      <p:sp>
        <p:nvSpPr>
          <p:cNvPr id="496" name="cfgr4"/>
          <p:cNvSpPr>
            <a:spLocks noGrp="1"/>
          </p:cNvSpPr>
          <p:nvPr/>
        </p:nvSpPr>
        <p:spPr>
          <a:xfrm>
            <a:off x="5897880" y="3886200"/>
            <a:ext cx="5760720" cy="420624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497" name="cfgk4"/>
          <p:cNvSpPr>
            <a:spLocks noGrp="1"/>
          </p:cNvSpPr>
          <p:nvPr/>
        </p:nvSpPr>
        <p:spPr>
          <a:xfrm>
            <a:off x="6035040" y="3886200"/>
            <a:ext cx="347472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max_depth</a:t>
            </a:r>
          </a:p>
        </p:txBody>
      </p:sp>
      <p:sp>
        <p:nvSpPr>
          <p:cNvPr id="498" name="cfgv4"/>
          <p:cNvSpPr>
            <a:spLocks noGrp="1"/>
          </p:cNvSpPr>
          <p:nvPr/>
        </p:nvSpPr>
        <p:spPr>
          <a:xfrm>
            <a:off x="9601200" y="3886200"/>
            <a:ext cx="192024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B0C4DE"/>
                </a:solidFill>
                <a:latin typeface="Segoe UI"/>
                <a:b/>
              </a:rPr>
              <a:t>-1 (auto)</a:t>
            </a:r>
          </a:p>
        </p:txBody>
      </p:sp>
      <p:sp>
        <p:nvSpPr>
          <p:cNvPr id="499" name="cfgr5"/>
          <p:cNvSpPr>
            <a:spLocks noGrp="1"/>
          </p:cNvSpPr>
          <p:nvPr/>
        </p:nvSpPr>
        <p:spPr>
          <a:xfrm>
            <a:off x="5897880" y="4343400"/>
            <a:ext cx="5760720" cy="420624"/>
          </a:xfrm>
          <a:prstGeom prst="roundRect">
            <a:avLst>
              <a:gd name="adj" fmla="val 15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00" name="cfgk5"/>
          <p:cNvSpPr>
            <a:spLocks noGrp="1"/>
          </p:cNvSpPr>
          <p:nvPr/>
        </p:nvSpPr>
        <p:spPr>
          <a:xfrm>
            <a:off x="6035040" y="4343400"/>
            <a:ext cx="347472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class_weight</a:t>
            </a:r>
          </a:p>
        </p:txBody>
      </p:sp>
      <p:sp>
        <p:nvSpPr>
          <p:cNvPr id="501" name="cfgv5"/>
          <p:cNvSpPr>
            <a:spLocks noGrp="1"/>
          </p:cNvSpPr>
          <p:nvPr/>
        </p:nvSpPr>
        <p:spPr>
          <a:xfrm>
            <a:off x="9601200" y="4343400"/>
            <a:ext cx="192024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00FF88"/>
                </a:solidFill>
                <a:latin typeface="Segoe UI"/>
                <a:b/>
              </a:rPr>
              <a:t>balanced</a:t>
            </a:r>
          </a:p>
        </p:txBody>
      </p:sp>
      <p:sp>
        <p:nvSpPr>
          <p:cNvPr id="502" name="cfgr6"/>
          <p:cNvSpPr>
            <a:spLocks noGrp="1"/>
          </p:cNvSpPr>
          <p:nvPr/>
        </p:nvSpPr>
        <p:spPr>
          <a:xfrm>
            <a:off x="5897880" y="4800600"/>
            <a:ext cx="5760720" cy="420624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03" name="cfgk6"/>
          <p:cNvSpPr>
            <a:spLocks noGrp="1"/>
          </p:cNvSpPr>
          <p:nvPr/>
        </p:nvSpPr>
        <p:spPr>
          <a:xfrm>
            <a:off x="6035040" y="4800600"/>
            <a:ext cx="347472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Training Rows</a:t>
            </a:r>
          </a:p>
        </p:txBody>
      </p:sp>
      <p:sp>
        <p:nvSpPr>
          <p:cNvPr id="504" name="cfgv6"/>
          <p:cNvSpPr>
            <a:spLocks noGrp="1"/>
          </p:cNvSpPr>
          <p:nvPr/>
        </p:nvSpPr>
        <p:spPr>
          <a:xfrm>
            <a:off x="9601200" y="4800600"/>
            <a:ext cx="192024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FFB800"/>
                </a:solidFill>
                <a:latin typeface="Segoe UI"/>
                <a:b/>
              </a:rPr>
              <a:t>97,034  (80%)</a:t>
            </a:r>
          </a:p>
        </p:txBody>
      </p:sp>
      <p:sp>
        <p:nvSpPr>
          <p:cNvPr id="505" name="cfgr7"/>
          <p:cNvSpPr>
            <a:spLocks noGrp="1"/>
          </p:cNvSpPr>
          <p:nvPr/>
        </p:nvSpPr>
        <p:spPr>
          <a:xfrm>
            <a:off x="5897880" y="5257800"/>
            <a:ext cx="5760720" cy="420624"/>
          </a:xfrm>
          <a:prstGeom prst="roundRect">
            <a:avLst>
              <a:gd name="adj" fmla="val 15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06" name="cfgk7"/>
          <p:cNvSpPr>
            <a:spLocks noGrp="1"/>
          </p:cNvSpPr>
          <p:nvPr/>
        </p:nvSpPr>
        <p:spPr>
          <a:xfrm>
            <a:off x="6035040" y="5257800"/>
            <a:ext cx="347472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Test Rows</a:t>
            </a:r>
          </a:p>
        </p:txBody>
      </p:sp>
      <p:sp>
        <p:nvSpPr>
          <p:cNvPr id="507" name="cfgv7"/>
          <p:cNvSpPr>
            <a:spLocks noGrp="1"/>
          </p:cNvSpPr>
          <p:nvPr/>
        </p:nvSpPr>
        <p:spPr>
          <a:xfrm>
            <a:off x="9601200" y="5257800"/>
            <a:ext cx="192024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FFB800"/>
                </a:solidFill>
                <a:latin typeface="Segoe UI"/>
                <a:b/>
              </a:rPr>
              <a:t>24,259  (20%)</a:t>
            </a:r>
          </a:p>
        </p:txBody>
      </p:sp>
      <p:sp>
        <p:nvSpPr>
          <p:cNvPr id="508" name="cfgr8"/>
          <p:cNvSpPr>
            <a:spLocks noGrp="1"/>
          </p:cNvSpPr>
          <p:nvPr/>
        </p:nvSpPr>
        <p:spPr>
          <a:xfrm>
            <a:off x="5897880" y="5715000"/>
            <a:ext cx="5760720" cy="420624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09" name="cfgk8"/>
          <p:cNvSpPr>
            <a:spLocks noGrp="1"/>
          </p:cNvSpPr>
          <p:nvPr/>
        </p:nvSpPr>
        <p:spPr>
          <a:xfrm>
            <a:off x="6035040" y="5715000"/>
            <a:ext cx="347472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Features Used</a:t>
            </a:r>
          </a:p>
        </p:txBody>
      </p:sp>
      <p:sp>
        <p:nvSpPr>
          <p:cNvPr id="510" name="cfgv8"/>
          <p:cNvSpPr>
            <a:spLocks noGrp="1"/>
          </p:cNvSpPr>
          <p:nvPr/>
        </p:nvSpPr>
        <p:spPr>
          <a:xfrm>
            <a:off x="9601200" y="5715000"/>
            <a:ext cx="1920240" cy="42062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51  (after PCA-less selection)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511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12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13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14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515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LightGBM Workflow &amp; Training Pipeline</a:t>
            </a:r>
          </a:p>
        </p:txBody>
      </p:sp>
      <p:sp>
        <p:nvSpPr>
          <p:cNvPr id="516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17" name="lf0"/>
          <p:cNvSpPr>
            <a:spLocks noGrp="1"/>
          </p:cNvSpPr>
          <p:nvPr/>
        </p:nvSpPr>
        <p:spPr>
          <a:xfrm>
            <a:off x="365760" y="1051560"/>
            <a:ext cx="192024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18" name="lft0"/>
          <p:cNvSpPr>
            <a:spLocks noGrp="1"/>
          </p:cNvSpPr>
          <p:nvPr/>
        </p:nvSpPr>
        <p:spPr>
          <a:xfrm>
            <a:off x="411480" y="1051560"/>
            <a:ext cx="1828800" cy="11887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FFB800"/>
                </a:solidFill>
                <a:latin typeface="Segoe UI"/>
                <a:b/>
              </a:rPr>
              <a:t>Known Traffic
121,293 rows</a:t>
            </a:r>
          </a:p>
        </p:txBody>
      </p:sp>
      <p:sp>
        <p:nvSpPr>
          <p:cNvPr id="519" name="lfb0"/>
          <p:cNvSpPr>
            <a:spLocks noGrp="1"/>
          </p:cNvSpPr>
          <p:nvPr/>
        </p:nvSpPr>
        <p:spPr>
          <a:xfrm>
            <a:off x="594360" y="73152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Input</a:t>
            </a:r>
          </a:p>
        </p:txBody>
      </p:sp>
      <p:sp>
        <p:nvSpPr>
          <p:cNvPr id="520" name="arrowr"/>
          <p:cNvSpPr>
            <a:spLocks noGrp="1"/>
          </p:cNvSpPr>
          <p:nvPr/>
        </p:nvSpPr>
        <p:spPr>
          <a:xfrm>
            <a:off x="2286000" y="151790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521" name="lf1"/>
          <p:cNvSpPr>
            <a:spLocks noGrp="1"/>
          </p:cNvSpPr>
          <p:nvPr/>
        </p:nvSpPr>
        <p:spPr>
          <a:xfrm>
            <a:off x="2697480" y="1051560"/>
            <a:ext cx="192024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22" name="lft1"/>
          <p:cNvSpPr>
            <a:spLocks noGrp="1"/>
          </p:cNvSpPr>
          <p:nvPr/>
        </p:nvSpPr>
        <p:spPr>
          <a:xfrm>
            <a:off x="2743200" y="1051560"/>
            <a:ext cx="1828800" cy="11887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7B2FFF"/>
                </a:solidFill>
                <a:latin typeface="Segoe UI"/>
              </a:rPr>
              <a:t>Train/Test
Split 80:20</a:t>
            </a:r>
          </a:p>
        </p:txBody>
      </p:sp>
      <p:sp>
        <p:nvSpPr>
          <p:cNvPr id="523" name="lfb1"/>
          <p:cNvSpPr>
            <a:spLocks noGrp="1"/>
          </p:cNvSpPr>
          <p:nvPr/>
        </p:nvSpPr>
        <p:spPr>
          <a:xfrm>
            <a:off x="2926080" y="73152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Split</a:t>
            </a:r>
          </a:p>
        </p:txBody>
      </p:sp>
      <p:sp>
        <p:nvSpPr>
          <p:cNvPr id="524" name="arrowr"/>
          <p:cNvSpPr>
            <a:spLocks noGrp="1"/>
          </p:cNvSpPr>
          <p:nvPr/>
        </p:nvSpPr>
        <p:spPr>
          <a:xfrm>
            <a:off x="4617720" y="151790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525" name="lf2"/>
          <p:cNvSpPr>
            <a:spLocks noGrp="1"/>
          </p:cNvSpPr>
          <p:nvPr/>
        </p:nvSpPr>
        <p:spPr>
          <a:xfrm>
            <a:off x="5029200" y="1051560"/>
            <a:ext cx="192024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26" name="lft2"/>
          <p:cNvSpPr>
            <a:spLocks noGrp="1"/>
          </p:cNvSpPr>
          <p:nvPr/>
        </p:nvSpPr>
        <p:spPr>
          <a:xfrm>
            <a:off x="5074920" y="1051560"/>
            <a:ext cx="1828800" cy="11887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</a:rPr>
              <a:t>Feature
Learning</a:t>
            </a:r>
          </a:p>
        </p:txBody>
      </p:sp>
      <p:sp>
        <p:nvSpPr>
          <p:cNvPr id="527" name="lfb2"/>
          <p:cNvSpPr>
            <a:spLocks noGrp="1"/>
          </p:cNvSpPr>
          <p:nvPr/>
        </p:nvSpPr>
        <p:spPr>
          <a:xfrm>
            <a:off x="5257800" y="73152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Learn</a:t>
            </a:r>
          </a:p>
        </p:txBody>
      </p:sp>
      <p:sp>
        <p:nvSpPr>
          <p:cNvPr id="528" name="arrowr"/>
          <p:cNvSpPr>
            <a:spLocks noGrp="1"/>
          </p:cNvSpPr>
          <p:nvPr/>
        </p:nvSpPr>
        <p:spPr>
          <a:xfrm>
            <a:off x="6949440" y="151790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529" name="lf3"/>
          <p:cNvSpPr>
            <a:spLocks noGrp="1"/>
          </p:cNvSpPr>
          <p:nvPr/>
        </p:nvSpPr>
        <p:spPr>
          <a:xfrm>
            <a:off x="7360920" y="1051560"/>
            <a:ext cx="192024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30" name="lft3"/>
          <p:cNvSpPr>
            <a:spLocks noGrp="1"/>
          </p:cNvSpPr>
          <p:nvPr/>
        </p:nvSpPr>
        <p:spPr>
          <a:xfrm>
            <a:off x="7406640" y="1051560"/>
            <a:ext cx="1828800" cy="11887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FF88"/>
                </a:solidFill>
                <a:latin typeface="Segoe UI"/>
              </a:rPr>
              <a:t>Gradient
Boosting
Trees ×300</a:t>
            </a:r>
          </a:p>
        </p:txBody>
      </p:sp>
      <p:sp>
        <p:nvSpPr>
          <p:cNvPr id="531" name="lfb3"/>
          <p:cNvSpPr>
            <a:spLocks noGrp="1"/>
          </p:cNvSpPr>
          <p:nvPr/>
        </p:nvSpPr>
        <p:spPr>
          <a:xfrm>
            <a:off x="7589520" y="73152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Train</a:t>
            </a:r>
          </a:p>
        </p:txBody>
      </p:sp>
      <p:sp>
        <p:nvSpPr>
          <p:cNvPr id="532" name="arrowr"/>
          <p:cNvSpPr>
            <a:spLocks noGrp="1"/>
          </p:cNvSpPr>
          <p:nvPr/>
        </p:nvSpPr>
        <p:spPr>
          <a:xfrm>
            <a:off x="9281160" y="151790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533" name="lf4"/>
          <p:cNvSpPr>
            <a:spLocks noGrp="1"/>
          </p:cNvSpPr>
          <p:nvPr/>
        </p:nvSpPr>
        <p:spPr>
          <a:xfrm>
            <a:off x="9692640" y="1051560"/>
            <a:ext cx="192024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34" name="lft4"/>
          <p:cNvSpPr>
            <a:spLocks noGrp="1"/>
          </p:cNvSpPr>
          <p:nvPr/>
        </p:nvSpPr>
        <p:spPr>
          <a:xfrm>
            <a:off x="9738360" y="1051560"/>
            <a:ext cx="1828800" cy="11887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FFB800"/>
                </a:solidFill>
                <a:latin typeface="Segoe UI"/>
                <a:b/>
              </a:rPr>
              <a:t>10-Class
Prediction</a:t>
            </a:r>
          </a:p>
        </p:txBody>
      </p:sp>
      <p:sp>
        <p:nvSpPr>
          <p:cNvPr id="535" name="lfb4"/>
          <p:cNvSpPr>
            <a:spLocks noGrp="1"/>
          </p:cNvSpPr>
          <p:nvPr/>
        </p:nvSpPr>
        <p:spPr>
          <a:xfrm>
            <a:off x="9921240" y="731520"/>
            <a:ext cx="1463040" cy="256032"/>
          </a:xfrm>
          <a:prstGeom prst="roundRect">
            <a:avLst>
              <a:gd name="adj" fmla="val 40000"/>
            </a:avLst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Predict</a:t>
            </a:r>
          </a:p>
        </p:txBody>
      </p:sp>
      <p:sp>
        <p:nvSpPr>
          <p:cNvPr id="536" name="ficard"/>
          <p:cNvSpPr>
            <a:spLocks noGrp="1"/>
          </p:cNvSpPr>
          <p:nvPr/>
        </p:nvSpPr>
        <p:spPr>
          <a:xfrm>
            <a:off x="365760" y="2514600"/>
            <a:ext cx="5669280" cy="39319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37" name="fihdr"/>
          <p:cNvSpPr>
            <a:spLocks noGrp="1"/>
          </p:cNvSpPr>
          <p:nvPr/>
        </p:nvSpPr>
        <p:spPr>
          <a:xfrm>
            <a:off x="502920" y="2578608"/>
            <a:ext cx="539496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5" dirty="0">
                <a:solidFill>
                  <a:srgbClr val="FFB800"/>
                </a:solidFill>
                <a:latin typeface="Segoe UI"/>
                <a:b/>
              </a:rPr>
              <a:t>Top 10 Feature Importance Scores</a:t>
            </a:r>
          </a:p>
        </p:txBody>
      </p:sp>
      <p:sp>
        <p:nvSpPr>
          <p:cNvPr id="538" name="fn0"/>
          <p:cNvSpPr>
            <a:spLocks noGrp="1"/>
          </p:cNvSpPr>
          <p:nvPr/>
        </p:nvSpPr>
        <p:spPr>
          <a:xfrm>
            <a:off x="502920" y="3063240"/>
            <a:ext cx="17373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tcp.srcport</a:t>
            </a:r>
          </a:p>
        </p:txBody>
      </p:sp>
      <p:sp>
        <p:nvSpPr>
          <p:cNvPr id="539" name="ftrack0"/>
          <p:cNvSpPr>
            <a:spLocks noGrp="1"/>
          </p:cNvSpPr>
          <p:nvPr/>
        </p:nvSpPr>
        <p:spPr>
          <a:xfrm>
            <a:off x="2286000" y="3099816"/>
            <a:ext cx="292608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40" name="fbar0"/>
          <p:cNvSpPr>
            <a:spLocks noGrp="1"/>
          </p:cNvSpPr>
          <p:nvPr/>
        </p:nvSpPr>
        <p:spPr>
          <a:xfrm>
            <a:off x="2286000" y="3099816"/>
            <a:ext cx="2926080" cy="201168"/>
          </a:xfrm>
          <a:prstGeom prst="roundRect">
            <a:avLst>
              <a:gd name="adj" fmla="val 15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41" name="fv0"/>
          <p:cNvSpPr>
            <a:spLocks noGrp="1"/>
          </p:cNvSpPr>
          <p:nvPr/>
        </p:nvSpPr>
        <p:spPr>
          <a:xfrm>
            <a:off x="5257800" y="3063240"/>
            <a:ext cx="68580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00D4FF"/>
                </a:solidFill>
                <a:latin typeface="Segoe UI"/>
              </a:rPr>
              <a:t>13,467</a:t>
            </a:r>
          </a:p>
        </p:txBody>
      </p:sp>
      <p:sp>
        <p:nvSpPr>
          <p:cNvPr id="542" name="fn1"/>
          <p:cNvSpPr>
            <a:spLocks noGrp="1"/>
          </p:cNvSpPr>
          <p:nvPr/>
        </p:nvSpPr>
        <p:spPr>
          <a:xfrm>
            <a:off x="502920" y="3392424"/>
            <a:ext cx="17373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tcp.options</a:t>
            </a:r>
          </a:p>
        </p:txBody>
      </p:sp>
      <p:sp>
        <p:nvSpPr>
          <p:cNvPr id="543" name="ftrack1"/>
          <p:cNvSpPr>
            <a:spLocks noGrp="1"/>
          </p:cNvSpPr>
          <p:nvPr/>
        </p:nvSpPr>
        <p:spPr>
          <a:xfrm>
            <a:off x="2286000" y="3429000"/>
            <a:ext cx="292608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44" name="fbar1"/>
          <p:cNvSpPr>
            <a:spLocks noGrp="1"/>
          </p:cNvSpPr>
          <p:nvPr/>
        </p:nvSpPr>
        <p:spPr>
          <a:xfrm>
            <a:off x="2286000" y="3429000"/>
            <a:ext cx="2776158" cy="201168"/>
          </a:xfrm>
          <a:prstGeom prst="roundRect">
            <a:avLst>
              <a:gd name="adj" fmla="val 15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45" name="fv1"/>
          <p:cNvSpPr>
            <a:spLocks noGrp="1"/>
          </p:cNvSpPr>
          <p:nvPr/>
        </p:nvSpPr>
        <p:spPr>
          <a:xfrm>
            <a:off x="5257800" y="3392424"/>
            <a:ext cx="68580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7B2FFF"/>
                </a:solidFill>
                <a:latin typeface="Segoe UI"/>
              </a:rPr>
              <a:t>12,777</a:t>
            </a:r>
          </a:p>
        </p:txBody>
      </p:sp>
      <p:sp>
        <p:nvSpPr>
          <p:cNvPr id="546" name="fn2"/>
          <p:cNvSpPr>
            <a:spLocks noGrp="1"/>
          </p:cNvSpPr>
          <p:nvPr/>
        </p:nvSpPr>
        <p:spPr>
          <a:xfrm>
            <a:off x="502920" y="3721608"/>
            <a:ext cx="17373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tcp.dstport</a:t>
            </a:r>
          </a:p>
        </p:txBody>
      </p:sp>
      <p:sp>
        <p:nvSpPr>
          <p:cNvPr id="547" name="ftrack2"/>
          <p:cNvSpPr>
            <a:spLocks noGrp="1"/>
          </p:cNvSpPr>
          <p:nvPr/>
        </p:nvSpPr>
        <p:spPr>
          <a:xfrm>
            <a:off x="2286000" y="3758184"/>
            <a:ext cx="292608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48" name="fbar2"/>
          <p:cNvSpPr>
            <a:spLocks noGrp="1"/>
          </p:cNvSpPr>
          <p:nvPr/>
        </p:nvSpPr>
        <p:spPr>
          <a:xfrm>
            <a:off x="2286000" y="3758184"/>
            <a:ext cx="1922691" cy="201168"/>
          </a:xfrm>
          <a:prstGeom prst="roundRect">
            <a:avLst>
              <a:gd name="adj" fmla="val 15000"/>
            </a:avLst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49" name="fv2"/>
          <p:cNvSpPr>
            <a:spLocks noGrp="1"/>
          </p:cNvSpPr>
          <p:nvPr/>
        </p:nvSpPr>
        <p:spPr>
          <a:xfrm>
            <a:off x="5257800" y="3721608"/>
            <a:ext cx="68580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FFB800"/>
                </a:solidFill>
                <a:latin typeface="Segoe UI"/>
              </a:rPr>
              <a:t>8,849</a:t>
            </a:r>
          </a:p>
        </p:txBody>
      </p:sp>
      <p:sp>
        <p:nvSpPr>
          <p:cNvPr id="550" name="fn3"/>
          <p:cNvSpPr>
            <a:spLocks noGrp="1"/>
          </p:cNvSpPr>
          <p:nvPr/>
        </p:nvSpPr>
        <p:spPr>
          <a:xfrm>
            <a:off x="502920" y="4050792"/>
            <a:ext cx="17373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tcp.ack</a:t>
            </a:r>
          </a:p>
        </p:txBody>
      </p:sp>
      <p:sp>
        <p:nvSpPr>
          <p:cNvPr id="551" name="ftrack3"/>
          <p:cNvSpPr>
            <a:spLocks noGrp="1"/>
          </p:cNvSpPr>
          <p:nvPr/>
        </p:nvSpPr>
        <p:spPr>
          <a:xfrm>
            <a:off x="2286000" y="4087368"/>
            <a:ext cx="292608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52" name="fbar3"/>
          <p:cNvSpPr>
            <a:spLocks noGrp="1"/>
          </p:cNvSpPr>
          <p:nvPr/>
        </p:nvSpPr>
        <p:spPr>
          <a:xfrm>
            <a:off x="2286000" y="4087368"/>
            <a:ext cx="1705413" cy="201168"/>
          </a:xfrm>
          <a:prstGeom prst="roundRect">
            <a:avLst>
              <a:gd name="adj" fmla="val 15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53" name="fv3"/>
          <p:cNvSpPr>
            <a:spLocks noGrp="1"/>
          </p:cNvSpPr>
          <p:nvPr/>
        </p:nvSpPr>
        <p:spPr>
          <a:xfrm>
            <a:off x="5257800" y="4050792"/>
            <a:ext cx="68580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00FF88"/>
                </a:solidFill>
                <a:latin typeface="Segoe UI"/>
              </a:rPr>
              <a:t>7,849</a:t>
            </a:r>
          </a:p>
        </p:txBody>
      </p:sp>
      <p:sp>
        <p:nvSpPr>
          <p:cNvPr id="554" name="fn4"/>
          <p:cNvSpPr>
            <a:spLocks noGrp="1"/>
          </p:cNvSpPr>
          <p:nvPr/>
        </p:nvSpPr>
        <p:spPr>
          <a:xfrm>
            <a:off x="502920" y="4379976"/>
            <a:ext cx="17373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tcp.ack_raw</a:t>
            </a:r>
          </a:p>
        </p:txBody>
      </p:sp>
      <p:sp>
        <p:nvSpPr>
          <p:cNvPr id="555" name="ftrack4"/>
          <p:cNvSpPr>
            <a:spLocks noGrp="1"/>
          </p:cNvSpPr>
          <p:nvPr/>
        </p:nvSpPr>
        <p:spPr>
          <a:xfrm>
            <a:off x="2286000" y="4416552"/>
            <a:ext cx="292608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56" name="fbar4"/>
          <p:cNvSpPr>
            <a:spLocks noGrp="1"/>
          </p:cNvSpPr>
          <p:nvPr/>
        </p:nvSpPr>
        <p:spPr>
          <a:xfrm>
            <a:off x="2286000" y="4416552"/>
            <a:ext cx="1394271" cy="201168"/>
          </a:xfrm>
          <a:prstGeom prst="roundRect">
            <a:avLst>
              <a:gd name="adj" fmla="val 15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57" name="fv4"/>
          <p:cNvSpPr>
            <a:spLocks noGrp="1"/>
          </p:cNvSpPr>
          <p:nvPr/>
        </p:nvSpPr>
        <p:spPr>
          <a:xfrm>
            <a:off x="5257800" y="4379976"/>
            <a:ext cx="68580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00D4FF"/>
                </a:solidFill>
                <a:latin typeface="Segoe UI"/>
              </a:rPr>
              <a:t>6,417</a:t>
            </a:r>
          </a:p>
        </p:txBody>
      </p:sp>
      <p:sp>
        <p:nvSpPr>
          <p:cNvPr id="558" name="fn5"/>
          <p:cNvSpPr>
            <a:spLocks noGrp="1"/>
          </p:cNvSpPr>
          <p:nvPr/>
        </p:nvSpPr>
        <p:spPr>
          <a:xfrm>
            <a:off x="502920" y="4709160"/>
            <a:ext cx="17373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tcp.checksum</a:t>
            </a:r>
          </a:p>
        </p:txBody>
      </p:sp>
      <p:sp>
        <p:nvSpPr>
          <p:cNvPr id="559" name="ftrack5"/>
          <p:cNvSpPr>
            <a:spLocks noGrp="1"/>
          </p:cNvSpPr>
          <p:nvPr/>
        </p:nvSpPr>
        <p:spPr>
          <a:xfrm>
            <a:off x="2286000" y="4745736"/>
            <a:ext cx="292608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60" name="fbar5"/>
          <p:cNvSpPr>
            <a:spLocks noGrp="1"/>
          </p:cNvSpPr>
          <p:nvPr/>
        </p:nvSpPr>
        <p:spPr>
          <a:xfrm>
            <a:off x="2286000" y="4745736"/>
            <a:ext cx="1327350" cy="201168"/>
          </a:xfrm>
          <a:prstGeom prst="roundRect">
            <a:avLst>
              <a:gd name="adj" fmla="val 15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61" name="fv5"/>
          <p:cNvSpPr>
            <a:spLocks noGrp="1"/>
          </p:cNvSpPr>
          <p:nvPr/>
        </p:nvSpPr>
        <p:spPr>
          <a:xfrm>
            <a:off x="5257800" y="4709160"/>
            <a:ext cx="68580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7B2FFF"/>
                </a:solidFill>
                <a:latin typeface="Segoe UI"/>
              </a:rPr>
              <a:t>6,109</a:t>
            </a:r>
          </a:p>
        </p:txBody>
      </p:sp>
      <p:sp>
        <p:nvSpPr>
          <p:cNvPr id="562" name="fn6"/>
          <p:cNvSpPr>
            <a:spLocks noGrp="1"/>
          </p:cNvSpPr>
          <p:nvPr/>
        </p:nvSpPr>
        <p:spPr>
          <a:xfrm>
            <a:off x="502920" y="5038344"/>
            <a:ext cx="17373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tcp.seq</a:t>
            </a:r>
          </a:p>
        </p:txBody>
      </p:sp>
      <p:sp>
        <p:nvSpPr>
          <p:cNvPr id="563" name="ftrack6"/>
          <p:cNvSpPr>
            <a:spLocks noGrp="1"/>
          </p:cNvSpPr>
          <p:nvPr/>
        </p:nvSpPr>
        <p:spPr>
          <a:xfrm>
            <a:off x="2286000" y="5074920"/>
            <a:ext cx="292608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64" name="fbar6"/>
          <p:cNvSpPr>
            <a:spLocks noGrp="1"/>
          </p:cNvSpPr>
          <p:nvPr/>
        </p:nvSpPr>
        <p:spPr>
          <a:xfrm>
            <a:off x="2286000" y="5074920"/>
            <a:ext cx="918215" cy="201168"/>
          </a:xfrm>
          <a:prstGeom prst="roundRect">
            <a:avLst>
              <a:gd name="adj" fmla="val 15000"/>
            </a:avLst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65" name="fv6"/>
          <p:cNvSpPr>
            <a:spLocks noGrp="1"/>
          </p:cNvSpPr>
          <p:nvPr/>
        </p:nvSpPr>
        <p:spPr>
          <a:xfrm>
            <a:off x="5257800" y="5038344"/>
            <a:ext cx="68580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FFB800"/>
                </a:solidFill>
                <a:latin typeface="Segoe UI"/>
              </a:rPr>
              <a:t>4,226</a:t>
            </a:r>
          </a:p>
        </p:txBody>
      </p:sp>
      <p:sp>
        <p:nvSpPr>
          <p:cNvPr id="566" name="fn7"/>
          <p:cNvSpPr>
            <a:spLocks noGrp="1"/>
          </p:cNvSpPr>
          <p:nvPr/>
        </p:nvSpPr>
        <p:spPr>
          <a:xfrm>
            <a:off x="502920" y="5367528"/>
            <a:ext cx="17373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http.request</a:t>
            </a:r>
          </a:p>
        </p:txBody>
      </p:sp>
      <p:sp>
        <p:nvSpPr>
          <p:cNvPr id="567" name="ftrack7"/>
          <p:cNvSpPr>
            <a:spLocks noGrp="1"/>
          </p:cNvSpPr>
          <p:nvPr/>
        </p:nvSpPr>
        <p:spPr>
          <a:xfrm>
            <a:off x="2286000" y="5404104"/>
            <a:ext cx="292608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68" name="fbar7"/>
          <p:cNvSpPr>
            <a:spLocks noGrp="1"/>
          </p:cNvSpPr>
          <p:nvPr/>
        </p:nvSpPr>
        <p:spPr>
          <a:xfrm>
            <a:off x="2286000" y="5404104"/>
            <a:ext cx="480835" cy="201168"/>
          </a:xfrm>
          <a:prstGeom prst="roundRect">
            <a:avLst>
              <a:gd name="adj" fmla="val 15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69" name="fv7"/>
          <p:cNvSpPr>
            <a:spLocks noGrp="1"/>
          </p:cNvSpPr>
          <p:nvPr/>
        </p:nvSpPr>
        <p:spPr>
          <a:xfrm>
            <a:off x="5257800" y="5367528"/>
            <a:ext cx="68580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00FF88"/>
                </a:solidFill>
                <a:latin typeface="Segoe UI"/>
              </a:rPr>
              <a:t>2,213</a:t>
            </a:r>
          </a:p>
        </p:txBody>
      </p:sp>
      <p:sp>
        <p:nvSpPr>
          <p:cNvPr id="570" name="fn8"/>
          <p:cNvSpPr>
            <a:spLocks noGrp="1"/>
          </p:cNvSpPr>
          <p:nvPr/>
        </p:nvSpPr>
        <p:spPr>
          <a:xfrm>
            <a:off x="502920" y="5696712"/>
            <a:ext cx="17373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tcp.len</a:t>
            </a:r>
          </a:p>
        </p:txBody>
      </p:sp>
      <p:sp>
        <p:nvSpPr>
          <p:cNvPr id="571" name="ftrack8"/>
          <p:cNvSpPr>
            <a:spLocks noGrp="1"/>
          </p:cNvSpPr>
          <p:nvPr/>
        </p:nvSpPr>
        <p:spPr>
          <a:xfrm>
            <a:off x="2286000" y="5733288"/>
            <a:ext cx="292608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72" name="fbar8"/>
          <p:cNvSpPr>
            <a:spLocks noGrp="1"/>
          </p:cNvSpPr>
          <p:nvPr/>
        </p:nvSpPr>
        <p:spPr>
          <a:xfrm>
            <a:off x="2286000" y="5733288"/>
            <a:ext cx="473882" cy="201168"/>
          </a:xfrm>
          <a:prstGeom prst="roundRect">
            <a:avLst>
              <a:gd name="adj" fmla="val 15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73" name="fv8"/>
          <p:cNvSpPr>
            <a:spLocks noGrp="1"/>
          </p:cNvSpPr>
          <p:nvPr/>
        </p:nvSpPr>
        <p:spPr>
          <a:xfrm>
            <a:off x="5257800" y="5696712"/>
            <a:ext cx="68580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00D4FF"/>
                </a:solidFill>
                <a:latin typeface="Segoe UI"/>
              </a:rPr>
              <a:t>2,181</a:t>
            </a:r>
          </a:p>
        </p:txBody>
      </p:sp>
      <p:sp>
        <p:nvSpPr>
          <p:cNvPr id="574" name="fn9"/>
          <p:cNvSpPr>
            <a:spLocks noGrp="1"/>
          </p:cNvSpPr>
          <p:nvPr/>
        </p:nvSpPr>
        <p:spPr>
          <a:xfrm>
            <a:off x="502920" y="6025896"/>
            <a:ext cx="17373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udp.stream</a:t>
            </a:r>
          </a:p>
        </p:txBody>
      </p:sp>
      <p:sp>
        <p:nvSpPr>
          <p:cNvPr id="575" name="ftrack9"/>
          <p:cNvSpPr>
            <a:spLocks noGrp="1"/>
          </p:cNvSpPr>
          <p:nvPr/>
        </p:nvSpPr>
        <p:spPr>
          <a:xfrm>
            <a:off x="2286000" y="6062472"/>
            <a:ext cx="2926080" cy="201168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76" name="fbar9"/>
          <p:cNvSpPr>
            <a:spLocks noGrp="1"/>
          </p:cNvSpPr>
          <p:nvPr/>
        </p:nvSpPr>
        <p:spPr>
          <a:xfrm>
            <a:off x="2286000" y="6062472"/>
            <a:ext cx="436511" cy="201168"/>
          </a:xfrm>
          <a:prstGeom prst="roundRect">
            <a:avLst>
              <a:gd name="adj" fmla="val 15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577" name="fv9"/>
          <p:cNvSpPr>
            <a:spLocks noGrp="1"/>
          </p:cNvSpPr>
          <p:nvPr/>
        </p:nvSpPr>
        <p:spPr>
          <a:xfrm>
            <a:off x="5257800" y="6025896"/>
            <a:ext cx="68580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7B2FFF"/>
                </a:solidFill>
                <a:latin typeface="Segoe UI"/>
              </a:rPr>
              <a:t>2,009</a:t>
            </a:r>
          </a:p>
        </p:txBody>
      </p:sp>
      <p:sp>
        <p:nvSpPr>
          <p:cNvPr id="578" name="outcard"/>
          <p:cNvSpPr>
            <a:spLocks noGrp="1"/>
          </p:cNvSpPr>
          <p:nvPr/>
        </p:nvSpPr>
        <p:spPr>
          <a:xfrm>
            <a:off x="6172200" y="2514600"/>
            <a:ext cx="5623560" cy="39319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79" name="outhdr"/>
          <p:cNvSpPr>
            <a:spLocks noGrp="1"/>
          </p:cNvSpPr>
          <p:nvPr/>
        </p:nvSpPr>
        <p:spPr>
          <a:xfrm>
            <a:off x="6309360" y="2578608"/>
            <a:ext cx="534924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5" dirty="0">
                <a:solidFill>
                  <a:srgbClr val="00FF88"/>
                </a:solidFill>
                <a:latin typeface="Segoe UI"/>
                <a:b/>
              </a:rPr>
              <a:t>Output — 10 Known Attack Classes</a:t>
            </a:r>
          </a:p>
        </p:txBody>
      </p:sp>
      <p:sp>
        <p:nvSpPr>
          <p:cNvPr id="580" name="cls0"/>
          <p:cNvSpPr>
            <a:spLocks noGrp="1"/>
          </p:cNvSpPr>
          <p:nvPr/>
        </p:nvSpPr>
        <p:spPr>
          <a:xfrm>
            <a:off x="6309360" y="3063240"/>
            <a:ext cx="2514600" cy="438912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81" name="clst0"/>
          <p:cNvSpPr>
            <a:spLocks noGrp="1"/>
          </p:cNvSpPr>
          <p:nvPr/>
        </p:nvSpPr>
        <p:spPr>
          <a:xfrm>
            <a:off x="6400800" y="3063240"/>
            <a:ext cx="233172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Normal</a:t>
            </a:r>
          </a:p>
        </p:txBody>
      </p:sp>
      <p:sp>
        <p:nvSpPr>
          <p:cNvPr id="582" name="cls1"/>
          <p:cNvSpPr>
            <a:spLocks noGrp="1"/>
          </p:cNvSpPr>
          <p:nvPr/>
        </p:nvSpPr>
        <p:spPr>
          <a:xfrm>
            <a:off x="9052560" y="3063240"/>
            <a:ext cx="2514600" cy="438912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83" name="clst1"/>
          <p:cNvSpPr>
            <a:spLocks noGrp="1"/>
          </p:cNvSpPr>
          <p:nvPr/>
        </p:nvSpPr>
        <p:spPr>
          <a:xfrm>
            <a:off x="9144000" y="3063240"/>
            <a:ext cx="233172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4C4C"/>
                </a:solidFill>
                <a:latin typeface="Segoe UI"/>
              </a:rPr>
              <a:t>Backdoor</a:t>
            </a:r>
          </a:p>
        </p:txBody>
      </p:sp>
      <p:sp>
        <p:nvSpPr>
          <p:cNvPr id="584" name="cls2"/>
          <p:cNvSpPr>
            <a:spLocks noGrp="1"/>
          </p:cNvSpPr>
          <p:nvPr/>
        </p:nvSpPr>
        <p:spPr>
          <a:xfrm>
            <a:off x="6309360" y="3575304"/>
            <a:ext cx="2514600" cy="438912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85" name="clst2"/>
          <p:cNvSpPr>
            <a:spLocks noGrp="1"/>
          </p:cNvSpPr>
          <p:nvPr/>
        </p:nvSpPr>
        <p:spPr>
          <a:xfrm>
            <a:off x="6400800" y="3575304"/>
            <a:ext cx="233172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4C4C"/>
                </a:solidFill>
                <a:latin typeface="Segoe UI"/>
              </a:rPr>
              <a:t>DDoS_HTTP</a:t>
            </a:r>
          </a:p>
        </p:txBody>
      </p:sp>
      <p:sp>
        <p:nvSpPr>
          <p:cNvPr id="586" name="cls3"/>
          <p:cNvSpPr>
            <a:spLocks noGrp="1"/>
          </p:cNvSpPr>
          <p:nvPr/>
        </p:nvSpPr>
        <p:spPr>
          <a:xfrm>
            <a:off x="9052560" y="3575304"/>
            <a:ext cx="2514600" cy="438912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87" name="clst3"/>
          <p:cNvSpPr>
            <a:spLocks noGrp="1"/>
          </p:cNvSpPr>
          <p:nvPr/>
        </p:nvSpPr>
        <p:spPr>
          <a:xfrm>
            <a:off x="9144000" y="3575304"/>
            <a:ext cx="233172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4C4C"/>
                </a:solidFill>
                <a:latin typeface="Segoe UI"/>
              </a:rPr>
              <a:t>DDoS_ICMP</a:t>
            </a:r>
          </a:p>
        </p:txBody>
      </p:sp>
      <p:sp>
        <p:nvSpPr>
          <p:cNvPr id="588" name="cls4"/>
          <p:cNvSpPr>
            <a:spLocks noGrp="1"/>
          </p:cNvSpPr>
          <p:nvPr/>
        </p:nvSpPr>
        <p:spPr>
          <a:xfrm>
            <a:off x="6309360" y="4087368"/>
            <a:ext cx="2514600" cy="438912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89" name="clst4"/>
          <p:cNvSpPr>
            <a:spLocks noGrp="1"/>
          </p:cNvSpPr>
          <p:nvPr/>
        </p:nvSpPr>
        <p:spPr>
          <a:xfrm>
            <a:off x="6400800" y="4087368"/>
            <a:ext cx="233172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4C4C"/>
                </a:solidFill>
                <a:latin typeface="Segoe UI"/>
              </a:rPr>
              <a:t>DDoS_TCP</a:t>
            </a:r>
          </a:p>
        </p:txBody>
      </p:sp>
      <p:sp>
        <p:nvSpPr>
          <p:cNvPr id="590" name="cls5"/>
          <p:cNvSpPr>
            <a:spLocks noGrp="1"/>
          </p:cNvSpPr>
          <p:nvPr/>
        </p:nvSpPr>
        <p:spPr>
          <a:xfrm>
            <a:off x="9052560" y="4087368"/>
            <a:ext cx="2514600" cy="438912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91" name="clst5"/>
          <p:cNvSpPr>
            <a:spLocks noGrp="1"/>
          </p:cNvSpPr>
          <p:nvPr/>
        </p:nvSpPr>
        <p:spPr>
          <a:xfrm>
            <a:off x="9144000" y="4087368"/>
            <a:ext cx="233172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4C4C"/>
                </a:solidFill>
                <a:latin typeface="Segoe UI"/>
              </a:rPr>
              <a:t>DDoS_UDP</a:t>
            </a:r>
          </a:p>
        </p:txBody>
      </p:sp>
      <p:sp>
        <p:nvSpPr>
          <p:cNvPr id="592" name="cls6"/>
          <p:cNvSpPr>
            <a:spLocks noGrp="1"/>
          </p:cNvSpPr>
          <p:nvPr/>
        </p:nvSpPr>
        <p:spPr>
          <a:xfrm>
            <a:off x="6309360" y="4599432"/>
            <a:ext cx="2514600" cy="438912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93" name="clst6"/>
          <p:cNvSpPr>
            <a:spLocks noGrp="1"/>
          </p:cNvSpPr>
          <p:nvPr/>
        </p:nvSpPr>
        <p:spPr>
          <a:xfrm>
            <a:off x="6400800" y="4599432"/>
            <a:ext cx="233172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</a:rPr>
              <a:t>Password</a:t>
            </a:r>
          </a:p>
        </p:txBody>
      </p:sp>
      <p:sp>
        <p:nvSpPr>
          <p:cNvPr id="594" name="cls7"/>
          <p:cNvSpPr>
            <a:spLocks noGrp="1"/>
          </p:cNvSpPr>
          <p:nvPr/>
        </p:nvSpPr>
        <p:spPr>
          <a:xfrm>
            <a:off x="9052560" y="4599432"/>
            <a:ext cx="2514600" cy="438912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95" name="clst7"/>
          <p:cNvSpPr>
            <a:spLocks noGrp="1"/>
          </p:cNvSpPr>
          <p:nvPr/>
        </p:nvSpPr>
        <p:spPr>
          <a:xfrm>
            <a:off x="9144000" y="4599432"/>
            <a:ext cx="233172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</a:rPr>
              <a:t>Port_Scanning</a:t>
            </a:r>
          </a:p>
        </p:txBody>
      </p:sp>
      <p:sp>
        <p:nvSpPr>
          <p:cNvPr id="596" name="cls8"/>
          <p:cNvSpPr>
            <a:spLocks noGrp="1"/>
          </p:cNvSpPr>
          <p:nvPr/>
        </p:nvSpPr>
        <p:spPr>
          <a:xfrm>
            <a:off x="6309360" y="5111496"/>
            <a:ext cx="2514600" cy="438912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97" name="clst8"/>
          <p:cNvSpPr>
            <a:spLocks noGrp="1"/>
          </p:cNvSpPr>
          <p:nvPr/>
        </p:nvSpPr>
        <p:spPr>
          <a:xfrm>
            <a:off x="6400800" y="5111496"/>
            <a:ext cx="233172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</a:rPr>
              <a:t>Ransomware</a:t>
            </a:r>
          </a:p>
        </p:txBody>
      </p:sp>
      <p:sp>
        <p:nvSpPr>
          <p:cNvPr id="598" name="cls9"/>
          <p:cNvSpPr>
            <a:spLocks noGrp="1"/>
          </p:cNvSpPr>
          <p:nvPr/>
        </p:nvSpPr>
        <p:spPr>
          <a:xfrm>
            <a:off x="9052560" y="5111496"/>
            <a:ext cx="2514600" cy="438912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599" name="clst9"/>
          <p:cNvSpPr>
            <a:spLocks noGrp="1"/>
          </p:cNvSpPr>
          <p:nvPr/>
        </p:nvSpPr>
        <p:spPr>
          <a:xfrm>
            <a:off x="9144000" y="5111496"/>
            <a:ext cx="233172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</a:rPr>
              <a:t>SQL_injection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600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01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02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03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604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LightGBM Results</a:t>
            </a:r>
          </a:p>
        </p:txBody>
      </p:sp>
      <p:sp>
        <p:nvSpPr>
          <p:cNvPr id="605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06" name="hero"/>
          <p:cNvSpPr>
            <a:spLocks noGrp="1"/>
          </p:cNvSpPr>
          <p:nvPr/>
        </p:nvSpPr>
        <p:spPr>
          <a:xfrm>
            <a:off x="365760" y="1051560"/>
            <a:ext cx="11430000" cy="10058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607" name="heroacc"/>
          <p:cNvSpPr>
            <a:spLocks noGrp="1"/>
          </p:cNvSpPr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26" dirty="0">
                <a:solidFill>
                  <a:srgbClr val="FFFFFF"/>
                </a:solidFill>
                <a:latin typeface="Segoe UI"/>
                <a:b/>
              </a:rPr>
              <a:t>🏆  Overall Accuracy: </a:t>
            </a:r>
            <a:r>
              <a:rPr lang="en-US" sz="36" dirty="0">
                <a:solidFill>
                  <a:srgbClr val="00FF88"/>
                </a:solidFill>
                <a:latin typeface="Segoe UI"/>
                <a:b/>
              </a:rPr>
              <a:t>99.99%</a:t>
            </a:r>
          </a:p>
        </p:txBody>
      </p:sp>
      <p:sp>
        <p:nvSpPr>
          <p:cNvPr id="608" name="metcard"/>
          <p:cNvSpPr>
            <a:spLocks noGrp="1"/>
          </p:cNvSpPr>
          <p:nvPr/>
        </p:nvSpPr>
        <p:spPr>
          <a:xfrm>
            <a:off x="365760" y="2240280"/>
            <a:ext cx="7406640" cy="42062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609" name="methdr"/>
          <p:cNvSpPr>
            <a:spLocks noGrp="1"/>
          </p:cNvSpPr>
          <p:nvPr/>
        </p:nvSpPr>
        <p:spPr>
          <a:xfrm>
            <a:off x="502920" y="2304288"/>
            <a:ext cx="713232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5" dirty="0">
                <a:solidFill>
                  <a:srgbClr val="FFB800"/>
                </a:solidFill>
                <a:latin typeface="Segoe UI"/>
                <a:b/>
              </a:rPr>
              <a:t>Per-Class Performance Report</a:t>
            </a:r>
          </a:p>
        </p:txBody>
      </p:sp>
      <p:sp>
        <p:nvSpPr>
          <p:cNvPr id="610" name="mh0"/>
          <p:cNvSpPr>
            <a:spLocks noGrp="1"/>
          </p:cNvSpPr>
          <p:nvPr/>
        </p:nvSpPr>
        <p:spPr>
          <a:xfrm>
            <a:off x="502920" y="2743200"/>
            <a:ext cx="19202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  <a:b/>
              </a:rPr>
              <a:t>Class</a:t>
            </a:r>
          </a:p>
        </p:txBody>
      </p:sp>
      <p:sp>
        <p:nvSpPr>
          <p:cNvPr id="611" name="mh1"/>
          <p:cNvSpPr>
            <a:spLocks noGrp="1"/>
          </p:cNvSpPr>
          <p:nvPr/>
        </p:nvSpPr>
        <p:spPr>
          <a:xfrm>
            <a:off x="2468880" y="2743200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  <a:b/>
              </a:rPr>
              <a:t>Precision</a:t>
            </a:r>
          </a:p>
        </p:txBody>
      </p:sp>
      <p:sp>
        <p:nvSpPr>
          <p:cNvPr id="612" name="mh2"/>
          <p:cNvSpPr>
            <a:spLocks noGrp="1"/>
          </p:cNvSpPr>
          <p:nvPr/>
        </p:nvSpPr>
        <p:spPr>
          <a:xfrm>
            <a:off x="3703320" y="2743200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  <a:b/>
              </a:rPr>
              <a:t>Recall</a:t>
            </a:r>
          </a:p>
        </p:txBody>
      </p:sp>
      <p:sp>
        <p:nvSpPr>
          <p:cNvPr id="613" name="mh3"/>
          <p:cNvSpPr>
            <a:spLocks noGrp="1"/>
          </p:cNvSpPr>
          <p:nvPr/>
        </p:nvSpPr>
        <p:spPr>
          <a:xfrm>
            <a:off x="4937760" y="2743200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  <a:b/>
              </a:rPr>
              <a:t>F1-Score</a:t>
            </a:r>
          </a:p>
        </p:txBody>
      </p:sp>
      <p:sp>
        <p:nvSpPr>
          <p:cNvPr id="614" name="mh4"/>
          <p:cNvSpPr>
            <a:spLocks noGrp="1"/>
          </p:cNvSpPr>
          <p:nvPr/>
        </p:nvSpPr>
        <p:spPr>
          <a:xfrm>
            <a:off x="6172200" y="2743200"/>
            <a:ext cx="1463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  <a:b/>
              </a:rPr>
              <a:t>Support</a:t>
            </a:r>
          </a:p>
        </p:txBody>
      </p:sp>
      <p:sp>
        <p:nvSpPr>
          <p:cNvPr id="615" name="mhr"/>
          <p:cNvSpPr>
            <a:spLocks noGrp="1"/>
          </p:cNvSpPr>
          <p:nvPr/>
        </p:nvSpPr>
        <p:spPr>
          <a:xfrm>
            <a:off x="502920" y="3081528"/>
            <a:ext cx="7132320" cy="27432"/>
          </a:xfrm>
          <a:prstGeom prst="rect">
            <a:avLst/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16" name="mr0"/>
          <p:cNvSpPr>
            <a:spLocks noGrp="1"/>
          </p:cNvSpPr>
          <p:nvPr/>
        </p:nvSpPr>
        <p:spPr>
          <a:xfrm>
            <a:off x="502920" y="3154680"/>
            <a:ext cx="7132320" cy="320040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17" name="mv00"/>
          <p:cNvSpPr>
            <a:spLocks noGrp="1"/>
          </p:cNvSpPr>
          <p:nvPr/>
        </p:nvSpPr>
        <p:spPr>
          <a:xfrm>
            <a:off x="502920" y="3154680"/>
            <a:ext cx="19202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Backdoor</a:t>
            </a:r>
          </a:p>
        </p:txBody>
      </p:sp>
      <p:sp>
        <p:nvSpPr>
          <p:cNvPr id="618" name="mv01"/>
          <p:cNvSpPr>
            <a:spLocks noGrp="1"/>
          </p:cNvSpPr>
          <p:nvPr/>
        </p:nvSpPr>
        <p:spPr>
          <a:xfrm>
            <a:off x="2468880" y="3154680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19" name="mv02"/>
          <p:cNvSpPr>
            <a:spLocks noGrp="1"/>
          </p:cNvSpPr>
          <p:nvPr/>
        </p:nvSpPr>
        <p:spPr>
          <a:xfrm>
            <a:off x="3703320" y="3154680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99.9%</a:t>
            </a:r>
          </a:p>
        </p:txBody>
      </p:sp>
      <p:sp>
        <p:nvSpPr>
          <p:cNvPr id="620" name="mv03"/>
          <p:cNvSpPr>
            <a:spLocks noGrp="1"/>
          </p:cNvSpPr>
          <p:nvPr/>
        </p:nvSpPr>
        <p:spPr>
          <a:xfrm>
            <a:off x="4937760" y="3154680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99.97%</a:t>
            </a:r>
          </a:p>
        </p:txBody>
      </p:sp>
      <p:sp>
        <p:nvSpPr>
          <p:cNvPr id="621" name="mv04"/>
          <p:cNvSpPr>
            <a:spLocks noGrp="1"/>
          </p:cNvSpPr>
          <p:nvPr/>
        </p:nvSpPr>
        <p:spPr>
          <a:xfrm>
            <a:off x="6172200" y="3154680"/>
            <a:ext cx="1463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1,973</a:t>
            </a:r>
          </a:p>
        </p:txBody>
      </p:sp>
      <p:sp>
        <p:nvSpPr>
          <p:cNvPr id="622" name="mr1"/>
          <p:cNvSpPr>
            <a:spLocks noGrp="1"/>
          </p:cNvSpPr>
          <p:nvPr/>
        </p:nvSpPr>
        <p:spPr>
          <a:xfrm>
            <a:off x="502920" y="3502152"/>
            <a:ext cx="7132320" cy="320040"/>
          </a:xfrm>
          <a:prstGeom prst="roundRect">
            <a:avLst>
              <a:gd name="adj" fmla="val 15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23" name="mv10"/>
          <p:cNvSpPr>
            <a:spLocks noGrp="1"/>
          </p:cNvSpPr>
          <p:nvPr/>
        </p:nvSpPr>
        <p:spPr>
          <a:xfrm>
            <a:off x="502920" y="3502152"/>
            <a:ext cx="19202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DDoS_HTTP</a:t>
            </a:r>
          </a:p>
        </p:txBody>
      </p:sp>
      <p:sp>
        <p:nvSpPr>
          <p:cNvPr id="624" name="mv11"/>
          <p:cNvSpPr>
            <a:spLocks noGrp="1"/>
          </p:cNvSpPr>
          <p:nvPr/>
        </p:nvSpPr>
        <p:spPr>
          <a:xfrm>
            <a:off x="2468880" y="3502152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25" name="mv12"/>
          <p:cNvSpPr>
            <a:spLocks noGrp="1"/>
          </p:cNvSpPr>
          <p:nvPr/>
        </p:nvSpPr>
        <p:spPr>
          <a:xfrm>
            <a:off x="3703320" y="3502152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26" name="mv13"/>
          <p:cNvSpPr>
            <a:spLocks noGrp="1"/>
          </p:cNvSpPr>
          <p:nvPr/>
        </p:nvSpPr>
        <p:spPr>
          <a:xfrm>
            <a:off x="4937760" y="3502152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27" name="mv14"/>
          <p:cNvSpPr>
            <a:spLocks noGrp="1"/>
          </p:cNvSpPr>
          <p:nvPr/>
        </p:nvSpPr>
        <p:spPr>
          <a:xfrm>
            <a:off x="6172200" y="3502152"/>
            <a:ext cx="1463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2,112</a:t>
            </a:r>
          </a:p>
        </p:txBody>
      </p:sp>
      <p:sp>
        <p:nvSpPr>
          <p:cNvPr id="628" name="mr2"/>
          <p:cNvSpPr>
            <a:spLocks noGrp="1"/>
          </p:cNvSpPr>
          <p:nvPr/>
        </p:nvSpPr>
        <p:spPr>
          <a:xfrm>
            <a:off x="502920" y="3849624"/>
            <a:ext cx="7132320" cy="320040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29" name="mv20"/>
          <p:cNvSpPr>
            <a:spLocks noGrp="1"/>
          </p:cNvSpPr>
          <p:nvPr/>
        </p:nvSpPr>
        <p:spPr>
          <a:xfrm>
            <a:off x="502920" y="3849624"/>
            <a:ext cx="19202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DDoS_ICMP</a:t>
            </a:r>
          </a:p>
        </p:txBody>
      </p:sp>
      <p:sp>
        <p:nvSpPr>
          <p:cNvPr id="630" name="mv21"/>
          <p:cNvSpPr>
            <a:spLocks noGrp="1"/>
          </p:cNvSpPr>
          <p:nvPr/>
        </p:nvSpPr>
        <p:spPr>
          <a:xfrm>
            <a:off x="2468880" y="3849624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31" name="mv22"/>
          <p:cNvSpPr>
            <a:spLocks noGrp="1"/>
          </p:cNvSpPr>
          <p:nvPr/>
        </p:nvSpPr>
        <p:spPr>
          <a:xfrm>
            <a:off x="3703320" y="3849624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32" name="mv23"/>
          <p:cNvSpPr>
            <a:spLocks noGrp="1"/>
          </p:cNvSpPr>
          <p:nvPr/>
        </p:nvSpPr>
        <p:spPr>
          <a:xfrm>
            <a:off x="4937760" y="3849624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33" name="mv24"/>
          <p:cNvSpPr>
            <a:spLocks noGrp="1"/>
          </p:cNvSpPr>
          <p:nvPr/>
        </p:nvSpPr>
        <p:spPr>
          <a:xfrm>
            <a:off x="6172200" y="3849624"/>
            <a:ext cx="1463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2,619</a:t>
            </a:r>
          </a:p>
        </p:txBody>
      </p:sp>
      <p:sp>
        <p:nvSpPr>
          <p:cNvPr id="634" name="mr3"/>
          <p:cNvSpPr>
            <a:spLocks noGrp="1"/>
          </p:cNvSpPr>
          <p:nvPr/>
        </p:nvSpPr>
        <p:spPr>
          <a:xfrm>
            <a:off x="502920" y="4197096"/>
            <a:ext cx="7132320" cy="320040"/>
          </a:xfrm>
          <a:prstGeom prst="roundRect">
            <a:avLst>
              <a:gd name="adj" fmla="val 15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35" name="mv30"/>
          <p:cNvSpPr>
            <a:spLocks noGrp="1"/>
          </p:cNvSpPr>
          <p:nvPr/>
        </p:nvSpPr>
        <p:spPr>
          <a:xfrm>
            <a:off x="502920" y="4197096"/>
            <a:ext cx="19202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DDoS_TCP</a:t>
            </a:r>
          </a:p>
        </p:txBody>
      </p:sp>
      <p:sp>
        <p:nvSpPr>
          <p:cNvPr id="636" name="mv31"/>
          <p:cNvSpPr>
            <a:spLocks noGrp="1"/>
          </p:cNvSpPr>
          <p:nvPr/>
        </p:nvSpPr>
        <p:spPr>
          <a:xfrm>
            <a:off x="2468880" y="4197096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37" name="mv32"/>
          <p:cNvSpPr>
            <a:spLocks noGrp="1"/>
          </p:cNvSpPr>
          <p:nvPr/>
        </p:nvSpPr>
        <p:spPr>
          <a:xfrm>
            <a:off x="3703320" y="4197096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38" name="mv33"/>
          <p:cNvSpPr>
            <a:spLocks noGrp="1"/>
          </p:cNvSpPr>
          <p:nvPr/>
        </p:nvSpPr>
        <p:spPr>
          <a:xfrm>
            <a:off x="4937760" y="4197096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39" name="mv34"/>
          <p:cNvSpPr>
            <a:spLocks noGrp="1"/>
          </p:cNvSpPr>
          <p:nvPr/>
        </p:nvSpPr>
        <p:spPr>
          <a:xfrm>
            <a:off x="6172200" y="4197096"/>
            <a:ext cx="1463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2,049</a:t>
            </a:r>
          </a:p>
        </p:txBody>
      </p:sp>
      <p:sp>
        <p:nvSpPr>
          <p:cNvPr id="640" name="mr4"/>
          <p:cNvSpPr>
            <a:spLocks noGrp="1"/>
          </p:cNvSpPr>
          <p:nvPr/>
        </p:nvSpPr>
        <p:spPr>
          <a:xfrm>
            <a:off x="502920" y="4544568"/>
            <a:ext cx="7132320" cy="320040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41" name="mv40"/>
          <p:cNvSpPr>
            <a:spLocks noGrp="1"/>
          </p:cNvSpPr>
          <p:nvPr/>
        </p:nvSpPr>
        <p:spPr>
          <a:xfrm>
            <a:off x="502920" y="4544568"/>
            <a:ext cx="19202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DDoS_UDP</a:t>
            </a:r>
          </a:p>
        </p:txBody>
      </p:sp>
      <p:sp>
        <p:nvSpPr>
          <p:cNvPr id="642" name="mv41"/>
          <p:cNvSpPr>
            <a:spLocks noGrp="1"/>
          </p:cNvSpPr>
          <p:nvPr/>
        </p:nvSpPr>
        <p:spPr>
          <a:xfrm>
            <a:off x="2468880" y="4544568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43" name="mv42"/>
          <p:cNvSpPr>
            <a:spLocks noGrp="1"/>
          </p:cNvSpPr>
          <p:nvPr/>
        </p:nvSpPr>
        <p:spPr>
          <a:xfrm>
            <a:off x="3703320" y="4544568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44" name="mv43"/>
          <p:cNvSpPr>
            <a:spLocks noGrp="1"/>
          </p:cNvSpPr>
          <p:nvPr/>
        </p:nvSpPr>
        <p:spPr>
          <a:xfrm>
            <a:off x="4937760" y="4544568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45" name="mv44"/>
          <p:cNvSpPr>
            <a:spLocks noGrp="1"/>
          </p:cNvSpPr>
          <p:nvPr/>
        </p:nvSpPr>
        <p:spPr>
          <a:xfrm>
            <a:off x="6172200" y="4544568"/>
            <a:ext cx="1463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2,900</a:t>
            </a:r>
          </a:p>
        </p:txBody>
      </p:sp>
      <p:sp>
        <p:nvSpPr>
          <p:cNvPr id="646" name="mr5"/>
          <p:cNvSpPr>
            <a:spLocks noGrp="1"/>
          </p:cNvSpPr>
          <p:nvPr/>
        </p:nvSpPr>
        <p:spPr>
          <a:xfrm>
            <a:off x="502920" y="4892040"/>
            <a:ext cx="7132320" cy="320040"/>
          </a:xfrm>
          <a:prstGeom prst="roundRect">
            <a:avLst>
              <a:gd name="adj" fmla="val 15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47" name="mv50"/>
          <p:cNvSpPr>
            <a:spLocks noGrp="1"/>
          </p:cNvSpPr>
          <p:nvPr/>
        </p:nvSpPr>
        <p:spPr>
          <a:xfrm>
            <a:off x="502920" y="4892040"/>
            <a:ext cx="19202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Normal</a:t>
            </a:r>
          </a:p>
        </p:txBody>
      </p:sp>
      <p:sp>
        <p:nvSpPr>
          <p:cNvPr id="648" name="mv51"/>
          <p:cNvSpPr>
            <a:spLocks noGrp="1"/>
          </p:cNvSpPr>
          <p:nvPr/>
        </p:nvSpPr>
        <p:spPr>
          <a:xfrm>
            <a:off x="2468880" y="4892040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49" name="mv52"/>
          <p:cNvSpPr>
            <a:spLocks noGrp="1"/>
          </p:cNvSpPr>
          <p:nvPr/>
        </p:nvSpPr>
        <p:spPr>
          <a:xfrm>
            <a:off x="3703320" y="4892040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50" name="mv53"/>
          <p:cNvSpPr>
            <a:spLocks noGrp="1"/>
          </p:cNvSpPr>
          <p:nvPr/>
        </p:nvSpPr>
        <p:spPr>
          <a:xfrm>
            <a:off x="4937760" y="4892040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51" name="mv54"/>
          <p:cNvSpPr>
            <a:spLocks noGrp="1"/>
          </p:cNvSpPr>
          <p:nvPr/>
        </p:nvSpPr>
        <p:spPr>
          <a:xfrm>
            <a:off x="6172200" y="4892040"/>
            <a:ext cx="1463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4,831</a:t>
            </a:r>
          </a:p>
        </p:txBody>
      </p:sp>
      <p:sp>
        <p:nvSpPr>
          <p:cNvPr id="652" name="mr6"/>
          <p:cNvSpPr>
            <a:spLocks noGrp="1"/>
          </p:cNvSpPr>
          <p:nvPr/>
        </p:nvSpPr>
        <p:spPr>
          <a:xfrm>
            <a:off x="502920" y="5239512"/>
            <a:ext cx="7132320" cy="320040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53" name="mv60"/>
          <p:cNvSpPr>
            <a:spLocks noGrp="1"/>
          </p:cNvSpPr>
          <p:nvPr/>
        </p:nvSpPr>
        <p:spPr>
          <a:xfrm>
            <a:off x="502920" y="5239512"/>
            <a:ext cx="19202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Password</a:t>
            </a:r>
          </a:p>
        </p:txBody>
      </p:sp>
      <p:sp>
        <p:nvSpPr>
          <p:cNvPr id="654" name="mv61"/>
          <p:cNvSpPr>
            <a:spLocks noGrp="1"/>
          </p:cNvSpPr>
          <p:nvPr/>
        </p:nvSpPr>
        <p:spPr>
          <a:xfrm>
            <a:off x="2468880" y="5239512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99.9%</a:t>
            </a:r>
          </a:p>
        </p:txBody>
      </p:sp>
      <p:sp>
        <p:nvSpPr>
          <p:cNvPr id="655" name="mv62"/>
          <p:cNvSpPr>
            <a:spLocks noGrp="1"/>
          </p:cNvSpPr>
          <p:nvPr/>
        </p:nvSpPr>
        <p:spPr>
          <a:xfrm>
            <a:off x="3703320" y="5239512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56" name="mv63"/>
          <p:cNvSpPr>
            <a:spLocks noGrp="1"/>
          </p:cNvSpPr>
          <p:nvPr/>
        </p:nvSpPr>
        <p:spPr>
          <a:xfrm>
            <a:off x="4937760" y="5239512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99.97%</a:t>
            </a:r>
          </a:p>
        </p:txBody>
      </p:sp>
      <p:sp>
        <p:nvSpPr>
          <p:cNvPr id="657" name="mv64"/>
          <p:cNvSpPr>
            <a:spLocks noGrp="1"/>
          </p:cNvSpPr>
          <p:nvPr/>
        </p:nvSpPr>
        <p:spPr>
          <a:xfrm>
            <a:off x="6172200" y="5239512"/>
            <a:ext cx="1463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1,996</a:t>
            </a:r>
          </a:p>
        </p:txBody>
      </p:sp>
      <p:sp>
        <p:nvSpPr>
          <p:cNvPr id="658" name="mr7"/>
          <p:cNvSpPr>
            <a:spLocks noGrp="1"/>
          </p:cNvSpPr>
          <p:nvPr/>
        </p:nvSpPr>
        <p:spPr>
          <a:xfrm>
            <a:off x="502920" y="5586984"/>
            <a:ext cx="7132320" cy="320040"/>
          </a:xfrm>
          <a:prstGeom prst="roundRect">
            <a:avLst>
              <a:gd name="adj" fmla="val 15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59" name="mv70"/>
          <p:cNvSpPr>
            <a:spLocks noGrp="1"/>
          </p:cNvSpPr>
          <p:nvPr/>
        </p:nvSpPr>
        <p:spPr>
          <a:xfrm>
            <a:off x="502920" y="5586984"/>
            <a:ext cx="19202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Port_Scanning</a:t>
            </a:r>
          </a:p>
        </p:txBody>
      </p:sp>
      <p:sp>
        <p:nvSpPr>
          <p:cNvPr id="660" name="mv71"/>
          <p:cNvSpPr>
            <a:spLocks noGrp="1"/>
          </p:cNvSpPr>
          <p:nvPr/>
        </p:nvSpPr>
        <p:spPr>
          <a:xfrm>
            <a:off x="2468880" y="5586984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99.9%</a:t>
            </a:r>
          </a:p>
        </p:txBody>
      </p:sp>
      <p:sp>
        <p:nvSpPr>
          <p:cNvPr id="661" name="mv72"/>
          <p:cNvSpPr>
            <a:spLocks noGrp="1"/>
          </p:cNvSpPr>
          <p:nvPr/>
        </p:nvSpPr>
        <p:spPr>
          <a:xfrm>
            <a:off x="3703320" y="5586984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62" name="mv73"/>
          <p:cNvSpPr>
            <a:spLocks noGrp="1"/>
          </p:cNvSpPr>
          <p:nvPr/>
        </p:nvSpPr>
        <p:spPr>
          <a:xfrm>
            <a:off x="4937760" y="5586984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99.97%</a:t>
            </a:r>
          </a:p>
        </p:txBody>
      </p:sp>
      <p:sp>
        <p:nvSpPr>
          <p:cNvPr id="663" name="mv74"/>
          <p:cNvSpPr>
            <a:spLocks noGrp="1"/>
          </p:cNvSpPr>
          <p:nvPr/>
        </p:nvSpPr>
        <p:spPr>
          <a:xfrm>
            <a:off x="6172200" y="5586984"/>
            <a:ext cx="1463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1,784</a:t>
            </a:r>
          </a:p>
        </p:txBody>
      </p:sp>
      <p:sp>
        <p:nvSpPr>
          <p:cNvPr id="664" name="mr8"/>
          <p:cNvSpPr>
            <a:spLocks noGrp="1"/>
          </p:cNvSpPr>
          <p:nvPr/>
        </p:nvSpPr>
        <p:spPr>
          <a:xfrm>
            <a:off x="502920" y="5934456"/>
            <a:ext cx="7132320" cy="320040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65" name="mv80"/>
          <p:cNvSpPr>
            <a:spLocks noGrp="1"/>
          </p:cNvSpPr>
          <p:nvPr/>
        </p:nvSpPr>
        <p:spPr>
          <a:xfrm>
            <a:off x="502920" y="5934456"/>
            <a:ext cx="19202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Ransomware</a:t>
            </a:r>
          </a:p>
        </p:txBody>
      </p:sp>
      <p:sp>
        <p:nvSpPr>
          <p:cNvPr id="666" name="mv81"/>
          <p:cNvSpPr>
            <a:spLocks noGrp="1"/>
          </p:cNvSpPr>
          <p:nvPr/>
        </p:nvSpPr>
        <p:spPr>
          <a:xfrm>
            <a:off x="2468880" y="5934456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99.9%</a:t>
            </a:r>
          </a:p>
        </p:txBody>
      </p:sp>
      <p:sp>
        <p:nvSpPr>
          <p:cNvPr id="667" name="mv82"/>
          <p:cNvSpPr>
            <a:spLocks noGrp="1"/>
          </p:cNvSpPr>
          <p:nvPr/>
        </p:nvSpPr>
        <p:spPr>
          <a:xfrm>
            <a:off x="3703320" y="5934456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68" name="mv83"/>
          <p:cNvSpPr>
            <a:spLocks noGrp="1"/>
          </p:cNvSpPr>
          <p:nvPr/>
        </p:nvSpPr>
        <p:spPr>
          <a:xfrm>
            <a:off x="4937760" y="5934456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99.97%</a:t>
            </a:r>
          </a:p>
        </p:txBody>
      </p:sp>
      <p:sp>
        <p:nvSpPr>
          <p:cNvPr id="669" name="mv84"/>
          <p:cNvSpPr>
            <a:spLocks noGrp="1"/>
          </p:cNvSpPr>
          <p:nvPr/>
        </p:nvSpPr>
        <p:spPr>
          <a:xfrm>
            <a:off x="6172200" y="5934456"/>
            <a:ext cx="1463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1,938</a:t>
            </a:r>
          </a:p>
        </p:txBody>
      </p:sp>
      <p:sp>
        <p:nvSpPr>
          <p:cNvPr id="670" name="mr9"/>
          <p:cNvSpPr>
            <a:spLocks noGrp="1"/>
          </p:cNvSpPr>
          <p:nvPr/>
        </p:nvSpPr>
        <p:spPr>
          <a:xfrm>
            <a:off x="502920" y="6281928"/>
            <a:ext cx="7132320" cy="320040"/>
          </a:xfrm>
          <a:prstGeom prst="roundRect">
            <a:avLst>
              <a:gd name="adj" fmla="val 15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671" name="mv90"/>
          <p:cNvSpPr>
            <a:spLocks noGrp="1"/>
          </p:cNvSpPr>
          <p:nvPr/>
        </p:nvSpPr>
        <p:spPr>
          <a:xfrm>
            <a:off x="502920" y="6281928"/>
            <a:ext cx="19202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SQL_injection</a:t>
            </a:r>
          </a:p>
        </p:txBody>
      </p:sp>
      <p:sp>
        <p:nvSpPr>
          <p:cNvPr id="672" name="mv91"/>
          <p:cNvSpPr>
            <a:spLocks noGrp="1"/>
          </p:cNvSpPr>
          <p:nvPr/>
        </p:nvSpPr>
        <p:spPr>
          <a:xfrm>
            <a:off x="2468880" y="6281928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673" name="mv92"/>
          <p:cNvSpPr>
            <a:spLocks noGrp="1"/>
          </p:cNvSpPr>
          <p:nvPr/>
        </p:nvSpPr>
        <p:spPr>
          <a:xfrm>
            <a:off x="3703320" y="6281928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99.9%</a:t>
            </a:r>
          </a:p>
        </p:txBody>
      </p:sp>
      <p:sp>
        <p:nvSpPr>
          <p:cNvPr id="674" name="mv93"/>
          <p:cNvSpPr>
            <a:spLocks noGrp="1"/>
          </p:cNvSpPr>
          <p:nvPr/>
        </p:nvSpPr>
        <p:spPr>
          <a:xfrm>
            <a:off x="4937760" y="6281928"/>
            <a:ext cx="11887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99.97%</a:t>
            </a:r>
          </a:p>
        </p:txBody>
      </p:sp>
      <p:sp>
        <p:nvSpPr>
          <p:cNvPr id="675" name="mv94"/>
          <p:cNvSpPr>
            <a:spLocks noGrp="1"/>
          </p:cNvSpPr>
          <p:nvPr/>
        </p:nvSpPr>
        <p:spPr>
          <a:xfrm>
            <a:off x="6172200" y="6281928"/>
            <a:ext cx="1463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2,057</a:t>
            </a:r>
          </a:p>
        </p:txBody>
      </p:sp>
      <p:sp>
        <p:nvSpPr>
          <p:cNvPr id="676" name="cmcard"/>
          <p:cNvSpPr>
            <a:spLocks noGrp="1"/>
          </p:cNvSpPr>
          <p:nvPr/>
        </p:nvSpPr>
        <p:spPr>
          <a:xfrm>
            <a:off x="7909560" y="2240280"/>
            <a:ext cx="3886200" cy="42062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677" name="cmhdr"/>
          <p:cNvSpPr>
            <a:spLocks noGrp="1"/>
          </p:cNvSpPr>
          <p:nvPr/>
        </p:nvSpPr>
        <p:spPr>
          <a:xfrm>
            <a:off x="8046720" y="2304288"/>
            <a:ext cx="356616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FF88"/>
                </a:solidFill>
                <a:latin typeface="Segoe UI"/>
                <a:b/>
              </a:rPr>
              <a:t>Confusion Matrix (Simulated)</a:t>
            </a:r>
          </a:p>
        </p:txBody>
      </p:sp>
      <p:sp>
        <p:nvSpPr>
          <p:cNvPr id="678" name="cm00"/>
          <p:cNvSpPr>
            <a:spLocks noGrp="1"/>
          </p:cNvSpPr>
          <p:nvPr/>
        </p:nvSpPr>
        <p:spPr>
          <a:xfrm>
            <a:off x="8092440" y="278892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✓</a:t>
            </a:r>
          </a:p>
        </p:txBody>
      </p:sp>
      <p:sp>
        <p:nvSpPr>
          <p:cNvPr id="679" name="cm01"/>
          <p:cNvSpPr>
            <a:spLocks noGrp="1"/>
          </p:cNvSpPr>
          <p:nvPr/>
        </p:nvSpPr>
        <p:spPr>
          <a:xfrm>
            <a:off x="8412480" y="278892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80" name="cm02"/>
          <p:cNvSpPr>
            <a:spLocks noGrp="1"/>
          </p:cNvSpPr>
          <p:nvPr/>
        </p:nvSpPr>
        <p:spPr>
          <a:xfrm>
            <a:off x="8732520" y="278892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81" name="cm03"/>
          <p:cNvSpPr>
            <a:spLocks noGrp="1"/>
          </p:cNvSpPr>
          <p:nvPr/>
        </p:nvSpPr>
        <p:spPr>
          <a:xfrm>
            <a:off x="9052560" y="278892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82" name="cm04"/>
          <p:cNvSpPr>
            <a:spLocks noGrp="1"/>
          </p:cNvSpPr>
          <p:nvPr/>
        </p:nvSpPr>
        <p:spPr>
          <a:xfrm>
            <a:off x="9372600" y="278892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83" name="cm05"/>
          <p:cNvSpPr>
            <a:spLocks noGrp="1"/>
          </p:cNvSpPr>
          <p:nvPr/>
        </p:nvSpPr>
        <p:spPr>
          <a:xfrm>
            <a:off x="9692640" y="278892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84" name="cm06"/>
          <p:cNvSpPr>
            <a:spLocks noGrp="1"/>
          </p:cNvSpPr>
          <p:nvPr/>
        </p:nvSpPr>
        <p:spPr>
          <a:xfrm>
            <a:off x="10012680" y="278892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85" name="cm07"/>
          <p:cNvSpPr>
            <a:spLocks noGrp="1"/>
          </p:cNvSpPr>
          <p:nvPr/>
        </p:nvSpPr>
        <p:spPr>
          <a:xfrm>
            <a:off x="10332720" y="278892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86" name="cm08"/>
          <p:cNvSpPr>
            <a:spLocks noGrp="1"/>
          </p:cNvSpPr>
          <p:nvPr/>
        </p:nvSpPr>
        <p:spPr>
          <a:xfrm>
            <a:off x="10652760" y="278892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87" name="cm09"/>
          <p:cNvSpPr>
            <a:spLocks noGrp="1"/>
          </p:cNvSpPr>
          <p:nvPr/>
        </p:nvSpPr>
        <p:spPr>
          <a:xfrm>
            <a:off x="10972800" y="278892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88" name="cm10"/>
          <p:cNvSpPr>
            <a:spLocks noGrp="1"/>
          </p:cNvSpPr>
          <p:nvPr/>
        </p:nvSpPr>
        <p:spPr>
          <a:xfrm>
            <a:off x="8092440" y="309067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89" name="cm11"/>
          <p:cNvSpPr>
            <a:spLocks noGrp="1"/>
          </p:cNvSpPr>
          <p:nvPr/>
        </p:nvSpPr>
        <p:spPr>
          <a:xfrm>
            <a:off x="8412480" y="309067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✓</a:t>
            </a:r>
          </a:p>
        </p:txBody>
      </p:sp>
      <p:sp>
        <p:nvSpPr>
          <p:cNvPr id="690" name="cm12"/>
          <p:cNvSpPr>
            <a:spLocks noGrp="1"/>
          </p:cNvSpPr>
          <p:nvPr/>
        </p:nvSpPr>
        <p:spPr>
          <a:xfrm>
            <a:off x="8732520" y="309067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91" name="cm13"/>
          <p:cNvSpPr>
            <a:spLocks noGrp="1"/>
          </p:cNvSpPr>
          <p:nvPr/>
        </p:nvSpPr>
        <p:spPr>
          <a:xfrm>
            <a:off x="9052560" y="309067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92" name="cm14"/>
          <p:cNvSpPr>
            <a:spLocks noGrp="1"/>
          </p:cNvSpPr>
          <p:nvPr/>
        </p:nvSpPr>
        <p:spPr>
          <a:xfrm>
            <a:off x="9372600" y="309067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93" name="cm15"/>
          <p:cNvSpPr>
            <a:spLocks noGrp="1"/>
          </p:cNvSpPr>
          <p:nvPr/>
        </p:nvSpPr>
        <p:spPr>
          <a:xfrm>
            <a:off x="9692640" y="309067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94" name="cm16"/>
          <p:cNvSpPr>
            <a:spLocks noGrp="1"/>
          </p:cNvSpPr>
          <p:nvPr/>
        </p:nvSpPr>
        <p:spPr>
          <a:xfrm>
            <a:off x="10012680" y="309067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95" name="cm17"/>
          <p:cNvSpPr>
            <a:spLocks noGrp="1"/>
          </p:cNvSpPr>
          <p:nvPr/>
        </p:nvSpPr>
        <p:spPr>
          <a:xfrm>
            <a:off x="10332720" y="309067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96" name="cm18"/>
          <p:cNvSpPr>
            <a:spLocks noGrp="1"/>
          </p:cNvSpPr>
          <p:nvPr/>
        </p:nvSpPr>
        <p:spPr>
          <a:xfrm>
            <a:off x="10652760" y="309067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97" name="cm19"/>
          <p:cNvSpPr>
            <a:spLocks noGrp="1"/>
          </p:cNvSpPr>
          <p:nvPr/>
        </p:nvSpPr>
        <p:spPr>
          <a:xfrm>
            <a:off x="10972800" y="309067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98" name="cm20"/>
          <p:cNvSpPr>
            <a:spLocks noGrp="1"/>
          </p:cNvSpPr>
          <p:nvPr/>
        </p:nvSpPr>
        <p:spPr>
          <a:xfrm>
            <a:off x="8092440" y="339242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699" name="cm21"/>
          <p:cNvSpPr>
            <a:spLocks noGrp="1"/>
          </p:cNvSpPr>
          <p:nvPr/>
        </p:nvSpPr>
        <p:spPr>
          <a:xfrm>
            <a:off x="8412480" y="339242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00" name="cm22"/>
          <p:cNvSpPr>
            <a:spLocks noGrp="1"/>
          </p:cNvSpPr>
          <p:nvPr/>
        </p:nvSpPr>
        <p:spPr>
          <a:xfrm>
            <a:off x="8732520" y="339242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✓</a:t>
            </a:r>
          </a:p>
        </p:txBody>
      </p:sp>
      <p:sp>
        <p:nvSpPr>
          <p:cNvPr id="701" name="cm23"/>
          <p:cNvSpPr>
            <a:spLocks noGrp="1"/>
          </p:cNvSpPr>
          <p:nvPr/>
        </p:nvSpPr>
        <p:spPr>
          <a:xfrm>
            <a:off x="9052560" y="339242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02" name="cm24"/>
          <p:cNvSpPr>
            <a:spLocks noGrp="1"/>
          </p:cNvSpPr>
          <p:nvPr/>
        </p:nvSpPr>
        <p:spPr>
          <a:xfrm>
            <a:off x="9372600" y="339242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03" name="cm25"/>
          <p:cNvSpPr>
            <a:spLocks noGrp="1"/>
          </p:cNvSpPr>
          <p:nvPr/>
        </p:nvSpPr>
        <p:spPr>
          <a:xfrm>
            <a:off x="9692640" y="339242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04" name="cm26"/>
          <p:cNvSpPr>
            <a:spLocks noGrp="1"/>
          </p:cNvSpPr>
          <p:nvPr/>
        </p:nvSpPr>
        <p:spPr>
          <a:xfrm>
            <a:off x="10012680" y="339242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05" name="cm27"/>
          <p:cNvSpPr>
            <a:spLocks noGrp="1"/>
          </p:cNvSpPr>
          <p:nvPr/>
        </p:nvSpPr>
        <p:spPr>
          <a:xfrm>
            <a:off x="10332720" y="339242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06" name="cm28"/>
          <p:cNvSpPr>
            <a:spLocks noGrp="1"/>
          </p:cNvSpPr>
          <p:nvPr/>
        </p:nvSpPr>
        <p:spPr>
          <a:xfrm>
            <a:off x="10652760" y="339242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07" name="cm29"/>
          <p:cNvSpPr>
            <a:spLocks noGrp="1"/>
          </p:cNvSpPr>
          <p:nvPr/>
        </p:nvSpPr>
        <p:spPr>
          <a:xfrm>
            <a:off x="10972800" y="339242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08" name="cm30"/>
          <p:cNvSpPr>
            <a:spLocks noGrp="1"/>
          </p:cNvSpPr>
          <p:nvPr/>
        </p:nvSpPr>
        <p:spPr>
          <a:xfrm>
            <a:off x="8092440" y="369417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09" name="cm31"/>
          <p:cNvSpPr>
            <a:spLocks noGrp="1"/>
          </p:cNvSpPr>
          <p:nvPr/>
        </p:nvSpPr>
        <p:spPr>
          <a:xfrm>
            <a:off x="8412480" y="369417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10" name="cm32"/>
          <p:cNvSpPr>
            <a:spLocks noGrp="1"/>
          </p:cNvSpPr>
          <p:nvPr/>
        </p:nvSpPr>
        <p:spPr>
          <a:xfrm>
            <a:off x="8732520" y="369417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11" name="cm33"/>
          <p:cNvSpPr>
            <a:spLocks noGrp="1"/>
          </p:cNvSpPr>
          <p:nvPr/>
        </p:nvSpPr>
        <p:spPr>
          <a:xfrm>
            <a:off x="9052560" y="369417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✓</a:t>
            </a:r>
          </a:p>
        </p:txBody>
      </p:sp>
      <p:sp>
        <p:nvSpPr>
          <p:cNvPr id="712" name="cm34"/>
          <p:cNvSpPr>
            <a:spLocks noGrp="1"/>
          </p:cNvSpPr>
          <p:nvPr/>
        </p:nvSpPr>
        <p:spPr>
          <a:xfrm>
            <a:off x="9372600" y="369417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13" name="cm35"/>
          <p:cNvSpPr>
            <a:spLocks noGrp="1"/>
          </p:cNvSpPr>
          <p:nvPr/>
        </p:nvSpPr>
        <p:spPr>
          <a:xfrm>
            <a:off x="9692640" y="369417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14" name="cm36"/>
          <p:cNvSpPr>
            <a:spLocks noGrp="1"/>
          </p:cNvSpPr>
          <p:nvPr/>
        </p:nvSpPr>
        <p:spPr>
          <a:xfrm>
            <a:off x="10012680" y="369417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15" name="cm37"/>
          <p:cNvSpPr>
            <a:spLocks noGrp="1"/>
          </p:cNvSpPr>
          <p:nvPr/>
        </p:nvSpPr>
        <p:spPr>
          <a:xfrm>
            <a:off x="10332720" y="369417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16" name="cm38"/>
          <p:cNvSpPr>
            <a:spLocks noGrp="1"/>
          </p:cNvSpPr>
          <p:nvPr/>
        </p:nvSpPr>
        <p:spPr>
          <a:xfrm>
            <a:off x="10652760" y="369417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17" name="cm39"/>
          <p:cNvSpPr>
            <a:spLocks noGrp="1"/>
          </p:cNvSpPr>
          <p:nvPr/>
        </p:nvSpPr>
        <p:spPr>
          <a:xfrm>
            <a:off x="10972800" y="369417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18" name="cm40"/>
          <p:cNvSpPr>
            <a:spLocks noGrp="1"/>
          </p:cNvSpPr>
          <p:nvPr/>
        </p:nvSpPr>
        <p:spPr>
          <a:xfrm>
            <a:off x="8092440" y="399592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19" name="cm41"/>
          <p:cNvSpPr>
            <a:spLocks noGrp="1"/>
          </p:cNvSpPr>
          <p:nvPr/>
        </p:nvSpPr>
        <p:spPr>
          <a:xfrm>
            <a:off x="8412480" y="399592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20" name="cm42"/>
          <p:cNvSpPr>
            <a:spLocks noGrp="1"/>
          </p:cNvSpPr>
          <p:nvPr/>
        </p:nvSpPr>
        <p:spPr>
          <a:xfrm>
            <a:off x="8732520" y="399592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21" name="cm43"/>
          <p:cNvSpPr>
            <a:spLocks noGrp="1"/>
          </p:cNvSpPr>
          <p:nvPr/>
        </p:nvSpPr>
        <p:spPr>
          <a:xfrm>
            <a:off x="9052560" y="399592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22" name="cm44"/>
          <p:cNvSpPr>
            <a:spLocks noGrp="1"/>
          </p:cNvSpPr>
          <p:nvPr/>
        </p:nvSpPr>
        <p:spPr>
          <a:xfrm>
            <a:off x="9372600" y="399592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✓</a:t>
            </a:r>
          </a:p>
        </p:txBody>
      </p:sp>
      <p:sp>
        <p:nvSpPr>
          <p:cNvPr id="723" name="cm45"/>
          <p:cNvSpPr>
            <a:spLocks noGrp="1"/>
          </p:cNvSpPr>
          <p:nvPr/>
        </p:nvSpPr>
        <p:spPr>
          <a:xfrm>
            <a:off x="9692640" y="399592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24" name="cm46"/>
          <p:cNvSpPr>
            <a:spLocks noGrp="1"/>
          </p:cNvSpPr>
          <p:nvPr/>
        </p:nvSpPr>
        <p:spPr>
          <a:xfrm>
            <a:off x="10012680" y="399592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25" name="cm47"/>
          <p:cNvSpPr>
            <a:spLocks noGrp="1"/>
          </p:cNvSpPr>
          <p:nvPr/>
        </p:nvSpPr>
        <p:spPr>
          <a:xfrm>
            <a:off x="10332720" y="399592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26" name="cm48"/>
          <p:cNvSpPr>
            <a:spLocks noGrp="1"/>
          </p:cNvSpPr>
          <p:nvPr/>
        </p:nvSpPr>
        <p:spPr>
          <a:xfrm>
            <a:off x="10652760" y="399592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27" name="cm49"/>
          <p:cNvSpPr>
            <a:spLocks noGrp="1"/>
          </p:cNvSpPr>
          <p:nvPr/>
        </p:nvSpPr>
        <p:spPr>
          <a:xfrm>
            <a:off x="10972800" y="399592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28" name="cm50"/>
          <p:cNvSpPr>
            <a:spLocks noGrp="1"/>
          </p:cNvSpPr>
          <p:nvPr/>
        </p:nvSpPr>
        <p:spPr>
          <a:xfrm>
            <a:off x="8092440" y="429768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29" name="cm51"/>
          <p:cNvSpPr>
            <a:spLocks noGrp="1"/>
          </p:cNvSpPr>
          <p:nvPr/>
        </p:nvSpPr>
        <p:spPr>
          <a:xfrm>
            <a:off x="8412480" y="429768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30" name="cm52"/>
          <p:cNvSpPr>
            <a:spLocks noGrp="1"/>
          </p:cNvSpPr>
          <p:nvPr/>
        </p:nvSpPr>
        <p:spPr>
          <a:xfrm>
            <a:off x="8732520" y="429768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31" name="cm53"/>
          <p:cNvSpPr>
            <a:spLocks noGrp="1"/>
          </p:cNvSpPr>
          <p:nvPr/>
        </p:nvSpPr>
        <p:spPr>
          <a:xfrm>
            <a:off x="9052560" y="429768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32" name="cm54"/>
          <p:cNvSpPr>
            <a:spLocks noGrp="1"/>
          </p:cNvSpPr>
          <p:nvPr/>
        </p:nvSpPr>
        <p:spPr>
          <a:xfrm>
            <a:off x="9372600" y="429768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33" name="cm55"/>
          <p:cNvSpPr>
            <a:spLocks noGrp="1"/>
          </p:cNvSpPr>
          <p:nvPr/>
        </p:nvSpPr>
        <p:spPr>
          <a:xfrm>
            <a:off x="9692640" y="429768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✓</a:t>
            </a:r>
          </a:p>
        </p:txBody>
      </p:sp>
      <p:sp>
        <p:nvSpPr>
          <p:cNvPr id="734" name="cm56"/>
          <p:cNvSpPr>
            <a:spLocks noGrp="1"/>
          </p:cNvSpPr>
          <p:nvPr/>
        </p:nvSpPr>
        <p:spPr>
          <a:xfrm>
            <a:off x="10012680" y="429768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35" name="cm57"/>
          <p:cNvSpPr>
            <a:spLocks noGrp="1"/>
          </p:cNvSpPr>
          <p:nvPr/>
        </p:nvSpPr>
        <p:spPr>
          <a:xfrm>
            <a:off x="10332720" y="429768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36" name="cm58"/>
          <p:cNvSpPr>
            <a:spLocks noGrp="1"/>
          </p:cNvSpPr>
          <p:nvPr/>
        </p:nvSpPr>
        <p:spPr>
          <a:xfrm>
            <a:off x="10652760" y="429768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37" name="cm59"/>
          <p:cNvSpPr>
            <a:spLocks noGrp="1"/>
          </p:cNvSpPr>
          <p:nvPr/>
        </p:nvSpPr>
        <p:spPr>
          <a:xfrm>
            <a:off x="10972800" y="4297680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38" name="cm60"/>
          <p:cNvSpPr>
            <a:spLocks noGrp="1"/>
          </p:cNvSpPr>
          <p:nvPr/>
        </p:nvSpPr>
        <p:spPr>
          <a:xfrm>
            <a:off x="8092440" y="459943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39" name="cm61"/>
          <p:cNvSpPr>
            <a:spLocks noGrp="1"/>
          </p:cNvSpPr>
          <p:nvPr/>
        </p:nvSpPr>
        <p:spPr>
          <a:xfrm>
            <a:off x="8412480" y="459943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40" name="cm62"/>
          <p:cNvSpPr>
            <a:spLocks noGrp="1"/>
          </p:cNvSpPr>
          <p:nvPr/>
        </p:nvSpPr>
        <p:spPr>
          <a:xfrm>
            <a:off x="8732520" y="459943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41" name="cm63"/>
          <p:cNvSpPr>
            <a:spLocks noGrp="1"/>
          </p:cNvSpPr>
          <p:nvPr/>
        </p:nvSpPr>
        <p:spPr>
          <a:xfrm>
            <a:off x="9052560" y="459943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42" name="cm64"/>
          <p:cNvSpPr>
            <a:spLocks noGrp="1"/>
          </p:cNvSpPr>
          <p:nvPr/>
        </p:nvSpPr>
        <p:spPr>
          <a:xfrm>
            <a:off x="9372600" y="459943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43" name="cm65"/>
          <p:cNvSpPr>
            <a:spLocks noGrp="1"/>
          </p:cNvSpPr>
          <p:nvPr/>
        </p:nvSpPr>
        <p:spPr>
          <a:xfrm>
            <a:off x="9692640" y="459943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44" name="cm66"/>
          <p:cNvSpPr>
            <a:spLocks noGrp="1"/>
          </p:cNvSpPr>
          <p:nvPr/>
        </p:nvSpPr>
        <p:spPr>
          <a:xfrm>
            <a:off x="10012680" y="459943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✓</a:t>
            </a:r>
          </a:p>
        </p:txBody>
      </p:sp>
      <p:sp>
        <p:nvSpPr>
          <p:cNvPr id="745" name="cm67"/>
          <p:cNvSpPr>
            <a:spLocks noGrp="1"/>
          </p:cNvSpPr>
          <p:nvPr/>
        </p:nvSpPr>
        <p:spPr>
          <a:xfrm>
            <a:off x="10332720" y="459943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46" name="cm68"/>
          <p:cNvSpPr>
            <a:spLocks noGrp="1"/>
          </p:cNvSpPr>
          <p:nvPr/>
        </p:nvSpPr>
        <p:spPr>
          <a:xfrm>
            <a:off x="10652760" y="459943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47" name="cm69"/>
          <p:cNvSpPr>
            <a:spLocks noGrp="1"/>
          </p:cNvSpPr>
          <p:nvPr/>
        </p:nvSpPr>
        <p:spPr>
          <a:xfrm>
            <a:off x="10972800" y="4599432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48" name="cm70"/>
          <p:cNvSpPr>
            <a:spLocks noGrp="1"/>
          </p:cNvSpPr>
          <p:nvPr/>
        </p:nvSpPr>
        <p:spPr>
          <a:xfrm>
            <a:off x="8092440" y="490118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49" name="cm71"/>
          <p:cNvSpPr>
            <a:spLocks noGrp="1"/>
          </p:cNvSpPr>
          <p:nvPr/>
        </p:nvSpPr>
        <p:spPr>
          <a:xfrm>
            <a:off x="8412480" y="490118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50" name="cm72"/>
          <p:cNvSpPr>
            <a:spLocks noGrp="1"/>
          </p:cNvSpPr>
          <p:nvPr/>
        </p:nvSpPr>
        <p:spPr>
          <a:xfrm>
            <a:off x="8732520" y="490118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51" name="cm73"/>
          <p:cNvSpPr>
            <a:spLocks noGrp="1"/>
          </p:cNvSpPr>
          <p:nvPr/>
        </p:nvSpPr>
        <p:spPr>
          <a:xfrm>
            <a:off x="9052560" y="490118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52" name="cm74"/>
          <p:cNvSpPr>
            <a:spLocks noGrp="1"/>
          </p:cNvSpPr>
          <p:nvPr/>
        </p:nvSpPr>
        <p:spPr>
          <a:xfrm>
            <a:off x="9372600" y="490118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53" name="cm75"/>
          <p:cNvSpPr>
            <a:spLocks noGrp="1"/>
          </p:cNvSpPr>
          <p:nvPr/>
        </p:nvSpPr>
        <p:spPr>
          <a:xfrm>
            <a:off x="9692640" y="490118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54" name="cm76"/>
          <p:cNvSpPr>
            <a:spLocks noGrp="1"/>
          </p:cNvSpPr>
          <p:nvPr/>
        </p:nvSpPr>
        <p:spPr>
          <a:xfrm>
            <a:off x="10012680" y="490118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55" name="cm77"/>
          <p:cNvSpPr>
            <a:spLocks noGrp="1"/>
          </p:cNvSpPr>
          <p:nvPr/>
        </p:nvSpPr>
        <p:spPr>
          <a:xfrm>
            <a:off x="10332720" y="490118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✓</a:t>
            </a:r>
          </a:p>
        </p:txBody>
      </p:sp>
      <p:sp>
        <p:nvSpPr>
          <p:cNvPr id="756" name="cm78"/>
          <p:cNvSpPr>
            <a:spLocks noGrp="1"/>
          </p:cNvSpPr>
          <p:nvPr/>
        </p:nvSpPr>
        <p:spPr>
          <a:xfrm>
            <a:off x="10652760" y="490118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57" name="cm79"/>
          <p:cNvSpPr>
            <a:spLocks noGrp="1"/>
          </p:cNvSpPr>
          <p:nvPr/>
        </p:nvSpPr>
        <p:spPr>
          <a:xfrm>
            <a:off x="10972800" y="4901184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58" name="cm80"/>
          <p:cNvSpPr>
            <a:spLocks noGrp="1"/>
          </p:cNvSpPr>
          <p:nvPr/>
        </p:nvSpPr>
        <p:spPr>
          <a:xfrm>
            <a:off x="8092440" y="520293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59" name="cm81"/>
          <p:cNvSpPr>
            <a:spLocks noGrp="1"/>
          </p:cNvSpPr>
          <p:nvPr/>
        </p:nvSpPr>
        <p:spPr>
          <a:xfrm>
            <a:off x="8412480" y="520293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60" name="cm82"/>
          <p:cNvSpPr>
            <a:spLocks noGrp="1"/>
          </p:cNvSpPr>
          <p:nvPr/>
        </p:nvSpPr>
        <p:spPr>
          <a:xfrm>
            <a:off x="8732520" y="520293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61" name="cm83"/>
          <p:cNvSpPr>
            <a:spLocks noGrp="1"/>
          </p:cNvSpPr>
          <p:nvPr/>
        </p:nvSpPr>
        <p:spPr>
          <a:xfrm>
            <a:off x="9052560" y="520293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62" name="cm84"/>
          <p:cNvSpPr>
            <a:spLocks noGrp="1"/>
          </p:cNvSpPr>
          <p:nvPr/>
        </p:nvSpPr>
        <p:spPr>
          <a:xfrm>
            <a:off x="9372600" y="520293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63" name="cm85"/>
          <p:cNvSpPr>
            <a:spLocks noGrp="1"/>
          </p:cNvSpPr>
          <p:nvPr/>
        </p:nvSpPr>
        <p:spPr>
          <a:xfrm>
            <a:off x="9692640" y="520293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64" name="cm86"/>
          <p:cNvSpPr>
            <a:spLocks noGrp="1"/>
          </p:cNvSpPr>
          <p:nvPr/>
        </p:nvSpPr>
        <p:spPr>
          <a:xfrm>
            <a:off x="10012680" y="520293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65" name="cm87"/>
          <p:cNvSpPr>
            <a:spLocks noGrp="1"/>
          </p:cNvSpPr>
          <p:nvPr/>
        </p:nvSpPr>
        <p:spPr>
          <a:xfrm>
            <a:off x="10332720" y="520293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66" name="cm88"/>
          <p:cNvSpPr>
            <a:spLocks noGrp="1"/>
          </p:cNvSpPr>
          <p:nvPr/>
        </p:nvSpPr>
        <p:spPr>
          <a:xfrm>
            <a:off x="10652760" y="520293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✓</a:t>
            </a:r>
          </a:p>
        </p:txBody>
      </p:sp>
      <p:sp>
        <p:nvSpPr>
          <p:cNvPr id="767" name="cm89"/>
          <p:cNvSpPr>
            <a:spLocks noGrp="1"/>
          </p:cNvSpPr>
          <p:nvPr/>
        </p:nvSpPr>
        <p:spPr>
          <a:xfrm>
            <a:off x="10972800" y="5202936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68" name="cm90"/>
          <p:cNvSpPr>
            <a:spLocks noGrp="1"/>
          </p:cNvSpPr>
          <p:nvPr/>
        </p:nvSpPr>
        <p:spPr>
          <a:xfrm>
            <a:off x="8092440" y="550468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69" name="cm91"/>
          <p:cNvSpPr>
            <a:spLocks noGrp="1"/>
          </p:cNvSpPr>
          <p:nvPr/>
        </p:nvSpPr>
        <p:spPr>
          <a:xfrm>
            <a:off x="8412480" y="550468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70" name="cm92"/>
          <p:cNvSpPr>
            <a:spLocks noGrp="1"/>
          </p:cNvSpPr>
          <p:nvPr/>
        </p:nvSpPr>
        <p:spPr>
          <a:xfrm>
            <a:off x="8732520" y="550468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71" name="cm93"/>
          <p:cNvSpPr>
            <a:spLocks noGrp="1"/>
          </p:cNvSpPr>
          <p:nvPr/>
        </p:nvSpPr>
        <p:spPr>
          <a:xfrm>
            <a:off x="9052560" y="550468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72" name="cm94"/>
          <p:cNvSpPr>
            <a:spLocks noGrp="1"/>
          </p:cNvSpPr>
          <p:nvPr/>
        </p:nvSpPr>
        <p:spPr>
          <a:xfrm>
            <a:off x="9372600" y="550468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73" name="cm95"/>
          <p:cNvSpPr>
            <a:spLocks noGrp="1"/>
          </p:cNvSpPr>
          <p:nvPr/>
        </p:nvSpPr>
        <p:spPr>
          <a:xfrm>
            <a:off x="9692640" y="550468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74" name="cm96"/>
          <p:cNvSpPr>
            <a:spLocks noGrp="1"/>
          </p:cNvSpPr>
          <p:nvPr/>
        </p:nvSpPr>
        <p:spPr>
          <a:xfrm>
            <a:off x="10012680" y="550468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75" name="cm97"/>
          <p:cNvSpPr>
            <a:spLocks noGrp="1"/>
          </p:cNvSpPr>
          <p:nvPr/>
        </p:nvSpPr>
        <p:spPr>
          <a:xfrm>
            <a:off x="10332720" y="550468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76" name="cm98"/>
          <p:cNvSpPr>
            <a:spLocks noGrp="1"/>
          </p:cNvSpPr>
          <p:nvPr/>
        </p:nvSpPr>
        <p:spPr>
          <a:xfrm>
            <a:off x="10652760" y="550468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·</a:t>
            </a:r>
          </a:p>
        </p:txBody>
      </p:sp>
      <p:sp>
        <p:nvSpPr>
          <p:cNvPr id="777" name="cm99"/>
          <p:cNvSpPr>
            <a:spLocks noGrp="1"/>
          </p:cNvSpPr>
          <p:nvPr/>
        </p:nvSpPr>
        <p:spPr>
          <a:xfrm>
            <a:off x="10972800" y="5504688"/>
            <a:ext cx="301752" cy="283464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✓</a:t>
            </a:r>
          </a:p>
        </p:txBody>
      </p:sp>
      <p:sp>
        <p:nvSpPr>
          <p:cNvPr id="778" name="cml0"/>
          <p:cNvSpPr>
            <a:spLocks noGrp="1"/>
          </p:cNvSpPr>
          <p:nvPr/>
        </p:nvSpPr>
        <p:spPr>
          <a:xfrm>
            <a:off x="7543800" y="2788920"/>
            <a:ext cx="5029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0" dirty="0">
                <a:solidFill>
                  <a:srgbClr val="B0C4DE"/>
                </a:solidFill>
                <a:latin typeface="Segoe UI"/>
              </a:rPr>
              <a:t>BD</a:t>
            </a:r>
          </a:p>
        </p:txBody>
      </p:sp>
      <p:sp>
        <p:nvSpPr>
          <p:cNvPr id="779" name="cml1"/>
          <p:cNvSpPr>
            <a:spLocks noGrp="1"/>
          </p:cNvSpPr>
          <p:nvPr/>
        </p:nvSpPr>
        <p:spPr>
          <a:xfrm>
            <a:off x="7543800" y="3090672"/>
            <a:ext cx="5029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0" dirty="0">
                <a:solidFill>
                  <a:srgbClr val="B0C4DE"/>
                </a:solidFill>
                <a:latin typeface="Segoe UI"/>
              </a:rPr>
              <a:t>DH</a:t>
            </a:r>
          </a:p>
        </p:txBody>
      </p:sp>
      <p:sp>
        <p:nvSpPr>
          <p:cNvPr id="780" name="cml2"/>
          <p:cNvSpPr>
            <a:spLocks noGrp="1"/>
          </p:cNvSpPr>
          <p:nvPr/>
        </p:nvSpPr>
        <p:spPr>
          <a:xfrm>
            <a:off x="7543800" y="3392424"/>
            <a:ext cx="5029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0" dirty="0">
                <a:solidFill>
                  <a:srgbClr val="B0C4DE"/>
                </a:solidFill>
                <a:latin typeface="Segoe UI"/>
              </a:rPr>
              <a:t>DI</a:t>
            </a:r>
          </a:p>
        </p:txBody>
      </p:sp>
      <p:sp>
        <p:nvSpPr>
          <p:cNvPr id="781" name="cml3"/>
          <p:cNvSpPr>
            <a:spLocks noGrp="1"/>
          </p:cNvSpPr>
          <p:nvPr/>
        </p:nvSpPr>
        <p:spPr>
          <a:xfrm>
            <a:off x="7543800" y="3694176"/>
            <a:ext cx="5029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0" dirty="0">
                <a:solidFill>
                  <a:srgbClr val="B0C4DE"/>
                </a:solidFill>
                <a:latin typeface="Segoe UI"/>
              </a:rPr>
              <a:t>DT</a:t>
            </a:r>
          </a:p>
        </p:txBody>
      </p:sp>
      <p:sp>
        <p:nvSpPr>
          <p:cNvPr id="782" name="cml4"/>
          <p:cNvSpPr>
            <a:spLocks noGrp="1"/>
          </p:cNvSpPr>
          <p:nvPr/>
        </p:nvSpPr>
        <p:spPr>
          <a:xfrm>
            <a:off x="7543800" y="3995928"/>
            <a:ext cx="5029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0" dirty="0">
                <a:solidFill>
                  <a:srgbClr val="B0C4DE"/>
                </a:solidFill>
                <a:latin typeface="Segoe UI"/>
              </a:rPr>
              <a:t>DU</a:t>
            </a:r>
          </a:p>
        </p:txBody>
      </p:sp>
      <p:sp>
        <p:nvSpPr>
          <p:cNvPr id="783" name="cml5"/>
          <p:cNvSpPr>
            <a:spLocks noGrp="1"/>
          </p:cNvSpPr>
          <p:nvPr/>
        </p:nvSpPr>
        <p:spPr>
          <a:xfrm>
            <a:off x="7543800" y="4297680"/>
            <a:ext cx="5029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0" dirty="0">
                <a:solidFill>
                  <a:srgbClr val="B0C4DE"/>
                </a:solidFill>
                <a:latin typeface="Segoe UI"/>
              </a:rPr>
              <a:t>NR</a:t>
            </a:r>
          </a:p>
        </p:txBody>
      </p:sp>
      <p:sp>
        <p:nvSpPr>
          <p:cNvPr id="784" name="cml6"/>
          <p:cNvSpPr>
            <a:spLocks noGrp="1"/>
          </p:cNvSpPr>
          <p:nvPr/>
        </p:nvSpPr>
        <p:spPr>
          <a:xfrm>
            <a:off x="7543800" y="4599432"/>
            <a:ext cx="5029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0" dirty="0">
                <a:solidFill>
                  <a:srgbClr val="B0C4DE"/>
                </a:solidFill>
                <a:latin typeface="Segoe UI"/>
              </a:rPr>
              <a:t>PW</a:t>
            </a:r>
          </a:p>
        </p:txBody>
      </p:sp>
      <p:sp>
        <p:nvSpPr>
          <p:cNvPr id="785" name="cml7"/>
          <p:cNvSpPr>
            <a:spLocks noGrp="1"/>
          </p:cNvSpPr>
          <p:nvPr/>
        </p:nvSpPr>
        <p:spPr>
          <a:xfrm>
            <a:off x="7543800" y="4901184"/>
            <a:ext cx="5029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0" dirty="0">
                <a:solidFill>
                  <a:srgbClr val="B0C4DE"/>
                </a:solidFill>
                <a:latin typeface="Segoe UI"/>
              </a:rPr>
              <a:t>PS</a:t>
            </a:r>
          </a:p>
        </p:txBody>
      </p:sp>
      <p:sp>
        <p:nvSpPr>
          <p:cNvPr id="786" name="cml8"/>
          <p:cNvSpPr>
            <a:spLocks noGrp="1"/>
          </p:cNvSpPr>
          <p:nvPr/>
        </p:nvSpPr>
        <p:spPr>
          <a:xfrm>
            <a:off x="7543800" y="5202936"/>
            <a:ext cx="5029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0" dirty="0">
                <a:solidFill>
                  <a:srgbClr val="B0C4DE"/>
                </a:solidFill>
                <a:latin typeface="Segoe UI"/>
              </a:rPr>
              <a:t>RW</a:t>
            </a:r>
          </a:p>
        </p:txBody>
      </p:sp>
      <p:sp>
        <p:nvSpPr>
          <p:cNvPr id="787" name="cml9"/>
          <p:cNvSpPr>
            <a:spLocks noGrp="1"/>
          </p:cNvSpPr>
          <p:nvPr/>
        </p:nvSpPr>
        <p:spPr>
          <a:xfrm>
            <a:off x="7543800" y="5504688"/>
            <a:ext cx="5029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0" dirty="0">
                <a:solidFill>
                  <a:srgbClr val="B0C4DE"/>
                </a:solidFill>
                <a:latin typeface="Segoe UI"/>
              </a:rPr>
              <a:t>SQ</a:t>
            </a:r>
          </a:p>
        </p:txBody>
      </p:sp>
      <p:sp>
        <p:nvSpPr>
          <p:cNvPr id="788" name="ks0"/>
          <p:cNvSpPr>
            <a:spLocks noGrp="1"/>
          </p:cNvSpPr>
          <p:nvPr/>
        </p:nvSpPr>
        <p:spPr>
          <a:xfrm>
            <a:off x="7909560" y="5943600"/>
            <a:ext cx="1234440" cy="502920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789" name="kst0"/>
          <p:cNvSpPr>
            <a:spLocks noGrp="1"/>
          </p:cNvSpPr>
          <p:nvPr/>
        </p:nvSpPr>
        <p:spPr>
          <a:xfrm>
            <a:off x="7909560" y="5943600"/>
            <a:ext cx="12344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FF88"/>
                </a:solidFill>
                <a:latin typeface="Segoe UI"/>
                <a:b/>
              </a:rPr>
              <a:t>99.99%</a:t>
            </a:r>
          </a:p>
        </p:txBody>
      </p:sp>
      <p:sp>
        <p:nvSpPr>
          <p:cNvPr id="790" name="ksl0"/>
          <p:cNvSpPr>
            <a:spLocks noGrp="1"/>
          </p:cNvSpPr>
          <p:nvPr/>
        </p:nvSpPr>
        <p:spPr>
          <a:xfrm>
            <a:off x="7909560" y="6190488"/>
            <a:ext cx="1234440" cy="228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Macro Avg F1</a:t>
            </a:r>
          </a:p>
        </p:txBody>
      </p:sp>
      <p:sp>
        <p:nvSpPr>
          <p:cNvPr id="791" name="ks1"/>
          <p:cNvSpPr>
            <a:spLocks noGrp="1"/>
          </p:cNvSpPr>
          <p:nvPr/>
        </p:nvSpPr>
        <p:spPr>
          <a:xfrm>
            <a:off x="9189720" y="5943600"/>
            <a:ext cx="1234440" cy="502920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792" name="kst1"/>
          <p:cNvSpPr>
            <a:spLocks noGrp="1"/>
          </p:cNvSpPr>
          <p:nvPr/>
        </p:nvSpPr>
        <p:spPr>
          <a:xfrm>
            <a:off x="9189720" y="5943600"/>
            <a:ext cx="12344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24,259</a:t>
            </a:r>
          </a:p>
        </p:txBody>
      </p:sp>
      <p:sp>
        <p:nvSpPr>
          <p:cNvPr id="793" name="ksl1"/>
          <p:cNvSpPr>
            <a:spLocks noGrp="1"/>
          </p:cNvSpPr>
          <p:nvPr/>
        </p:nvSpPr>
        <p:spPr>
          <a:xfrm>
            <a:off x="9189720" y="6190488"/>
            <a:ext cx="1234440" cy="228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Test Samples</a:t>
            </a:r>
          </a:p>
        </p:txBody>
      </p:sp>
      <p:sp>
        <p:nvSpPr>
          <p:cNvPr id="794" name="ks2"/>
          <p:cNvSpPr>
            <a:spLocks noGrp="1"/>
          </p:cNvSpPr>
          <p:nvPr/>
        </p:nvSpPr>
        <p:spPr>
          <a:xfrm>
            <a:off x="10469880" y="5943600"/>
            <a:ext cx="1234440" cy="502920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795" name="kst2"/>
          <p:cNvSpPr>
            <a:spLocks noGrp="1"/>
          </p:cNvSpPr>
          <p:nvPr/>
        </p:nvSpPr>
        <p:spPr>
          <a:xfrm>
            <a:off x="10469880" y="5943600"/>
            <a:ext cx="12344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FFB800"/>
                </a:solidFill>
                <a:latin typeface="Segoe UI"/>
                <a:b/>
              </a:rPr>
              <a:t>3 samples</a:t>
            </a:r>
          </a:p>
        </p:txBody>
      </p:sp>
      <p:sp>
        <p:nvSpPr>
          <p:cNvPr id="796" name="ksl2"/>
          <p:cNvSpPr>
            <a:spLocks noGrp="1"/>
          </p:cNvSpPr>
          <p:nvPr/>
        </p:nvSpPr>
        <p:spPr>
          <a:xfrm>
            <a:off x="10469880" y="6190488"/>
            <a:ext cx="1234440" cy="228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Misclassified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797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798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799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00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801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Autoencoder — Anomaly Detection</a:t>
            </a:r>
          </a:p>
        </p:txBody>
      </p:sp>
      <p:sp>
        <p:nvSpPr>
          <p:cNvPr id="802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03" name="aecard"/>
          <p:cNvSpPr>
            <a:spLocks noGrp="1"/>
          </p:cNvSpPr>
          <p:nvPr/>
        </p:nvSpPr>
        <p:spPr>
          <a:xfrm>
            <a:off x="365760" y="1051560"/>
            <a:ext cx="5943600" cy="53949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04" name="aehdr"/>
          <p:cNvSpPr>
            <a:spLocks noGrp="1"/>
          </p:cNvSpPr>
          <p:nvPr/>
        </p:nvSpPr>
        <p:spPr>
          <a:xfrm>
            <a:off x="502920" y="1097280"/>
            <a:ext cx="566928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7" dirty="0">
                <a:solidFill>
                  <a:srgbClr val="00FF88"/>
                </a:solidFill>
                <a:latin typeface="Segoe UI"/>
                <a:b/>
              </a:rPr>
              <a:t>🧠  How the Autoencoder Works</a:t>
            </a:r>
          </a:p>
        </p:txBody>
      </p:sp>
      <p:sp>
        <p:nvSpPr>
          <p:cNvPr id="805" name="ae0"/>
          <p:cNvSpPr>
            <a:spLocks noGrp="1"/>
          </p:cNvSpPr>
          <p:nvPr/>
        </p:nvSpPr>
        <p:spPr>
          <a:xfrm>
            <a:off x="502920" y="1719072"/>
            <a:ext cx="5669280" cy="77724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06" name="aen0"/>
          <p:cNvSpPr>
            <a:spLocks noGrp="1"/>
          </p:cNvSpPr>
          <p:nvPr/>
        </p:nvSpPr>
        <p:spPr>
          <a:xfrm>
            <a:off x="530352" y="1901952"/>
            <a:ext cx="320040" cy="320040"/>
          </a:xfrm>
          <a:prstGeom prst="roundRect">
            <a:avLst>
              <a:gd name="adj" fmla="val 166666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1</a:t>
            </a:r>
          </a:p>
        </p:txBody>
      </p:sp>
      <p:sp>
        <p:nvSpPr>
          <p:cNvPr id="807" name="aett0"/>
          <p:cNvSpPr>
            <a:spLocks noGrp="1"/>
          </p:cNvSpPr>
          <p:nvPr/>
        </p:nvSpPr>
        <p:spPr>
          <a:xfrm>
            <a:off x="932688" y="1764792"/>
            <a:ext cx="516636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1. Train on Normal Only</a:t>
            </a:r>
          </a:p>
        </p:txBody>
      </p:sp>
      <p:sp>
        <p:nvSpPr>
          <p:cNvPr id="808" name="aetd0"/>
          <p:cNvSpPr>
            <a:spLocks noGrp="1"/>
          </p:cNvSpPr>
          <p:nvPr/>
        </p:nvSpPr>
        <p:spPr>
          <a:xfrm>
            <a:off x="932688" y="2112264"/>
            <a:ext cx="5166360" cy="347472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Feed ONLY normal traffic (24,152 rows) into the Autoencoder during training</a:t>
            </a:r>
          </a:p>
        </p:txBody>
      </p:sp>
      <p:sp>
        <p:nvSpPr>
          <p:cNvPr id="809" name="ae1"/>
          <p:cNvSpPr>
            <a:spLocks noGrp="1"/>
          </p:cNvSpPr>
          <p:nvPr/>
        </p:nvSpPr>
        <p:spPr>
          <a:xfrm>
            <a:off x="502920" y="2615184"/>
            <a:ext cx="5669280" cy="77724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10" name="aen1"/>
          <p:cNvSpPr>
            <a:spLocks noGrp="1"/>
          </p:cNvSpPr>
          <p:nvPr/>
        </p:nvSpPr>
        <p:spPr>
          <a:xfrm>
            <a:off x="530352" y="2798064"/>
            <a:ext cx="320040" cy="320040"/>
          </a:xfrm>
          <a:prstGeom prst="roundRect">
            <a:avLst>
              <a:gd name="adj" fmla="val 166666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2</a:t>
            </a:r>
          </a:p>
        </p:txBody>
      </p:sp>
      <p:sp>
        <p:nvSpPr>
          <p:cNvPr id="811" name="aett1"/>
          <p:cNvSpPr>
            <a:spLocks noGrp="1"/>
          </p:cNvSpPr>
          <p:nvPr/>
        </p:nvSpPr>
        <p:spPr>
          <a:xfrm>
            <a:off x="932688" y="2660904"/>
            <a:ext cx="516636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7B2FFF"/>
                </a:solidFill>
                <a:latin typeface="Segoe UI"/>
                <a:b/>
              </a:rPr>
              <a:t>2. Learn Normal Behaviour</a:t>
            </a:r>
          </a:p>
        </p:txBody>
      </p:sp>
      <p:sp>
        <p:nvSpPr>
          <p:cNvPr id="812" name="aetd1"/>
          <p:cNvSpPr>
            <a:spLocks noGrp="1"/>
          </p:cNvSpPr>
          <p:nvPr/>
        </p:nvSpPr>
        <p:spPr>
          <a:xfrm>
            <a:off x="932688" y="3008376"/>
            <a:ext cx="5166360" cy="347472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The network compresses then reconstructs the input — it masters 'what normal looks like'</a:t>
            </a:r>
          </a:p>
        </p:txBody>
      </p:sp>
      <p:sp>
        <p:nvSpPr>
          <p:cNvPr id="813" name="ae2"/>
          <p:cNvSpPr>
            <a:spLocks noGrp="1"/>
          </p:cNvSpPr>
          <p:nvPr/>
        </p:nvSpPr>
        <p:spPr>
          <a:xfrm>
            <a:off x="502920" y="3511296"/>
            <a:ext cx="5669280" cy="77724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14" name="aen2"/>
          <p:cNvSpPr>
            <a:spLocks noGrp="1"/>
          </p:cNvSpPr>
          <p:nvPr/>
        </p:nvSpPr>
        <p:spPr>
          <a:xfrm>
            <a:off x="530352" y="3694176"/>
            <a:ext cx="320040" cy="320040"/>
          </a:xfrm>
          <a:prstGeom prst="roundRect">
            <a:avLst>
              <a:gd name="adj" fmla="val 166666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3</a:t>
            </a:r>
          </a:p>
        </p:txBody>
      </p:sp>
      <p:sp>
        <p:nvSpPr>
          <p:cNvPr id="815" name="aett2"/>
          <p:cNvSpPr>
            <a:spLocks noGrp="1"/>
          </p:cNvSpPr>
          <p:nvPr/>
        </p:nvSpPr>
        <p:spPr>
          <a:xfrm>
            <a:off x="932688" y="3557016"/>
            <a:ext cx="516636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00FF88"/>
                </a:solidFill>
                <a:latin typeface="Segoe UI"/>
                <a:b/>
              </a:rPr>
              <a:t>3. Reconstruction Error</a:t>
            </a:r>
          </a:p>
        </p:txBody>
      </p:sp>
      <p:sp>
        <p:nvSpPr>
          <p:cNvPr id="816" name="aetd2"/>
          <p:cNvSpPr>
            <a:spLocks noGrp="1"/>
          </p:cNvSpPr>
          <p:nvPr/>
        </p:nvSpPr>
        <p:spPr>
          <a:xfrm>
            <a:off x="932688" y="3904488"/>
            <a:ext cx="5166360" cy="347472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For each input, compute MSE between input and reconstruction output</a:t>
            </a:r>
          </a:p>
        </p:txBody>
      </p:sp>
      <p:sp>
        <p:nvSpPr>
          <p:cNvPr id="817" name="ae3"/>
          <p:cNvSpPr>
            <a:spLocks noGrp="1"/>
          </p:cNvSpPr>
          <p:nvPr/>
        </p:nvSpPr>
        <p:spPr>
          <a:xfrm>
            <a:off x="502920" y="4407408"/>
            <a:ext cx="5669280" cy="77724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18" name="aen3"/>
          <p:cNvSpPr>
            <a:spLocks noGrp="1"/>
          </p:cNvSpPr>
          <p:nvPr/>
        </p:nvSpPr>
        <p:spPr>
          <a:xfrm>
            <a:off x="530352" y="4590288"/>
            <a:ext cx="320040" cy="320040"/>
          </a:xfrm>
          <a:prstGeom prst="roundRect">
            <a:avLst>
              <a:gd name="adj" fmla="val 166666"/>
            </a:avLst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4</a:t>
            </a:r>
          </a:p>
        </p:txBody>
      </p:sp>
      <p:sp>
        <p:nvSpPr>
          <p:cNvPr id="819" name="aett3"/>
          <p:cNvSpPr>
            <a:spLocks noGrp="1"/>
          </p:cNvSpPr>
          <p:nvPr/>
        </p:nvSpPr>
        <p:spPr>
          <a:xfrm>
            <a:off x="932688" y="4453128"/>
            <a:ext cx="516636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FFB800"/>
                </a:solidFill>
                <a:latin typeface="Segoe UI"/>
                <a:b/>
              </a:rPr>
              <a:t>4. Threshold Detection</a:t>
            </a:r>
          </a:p>
        </p:txBody>
      </p:sp>
      <p:sp>
        <p:nvSpPr>
          <p:cNvPr id="820" name="aetd3"/>
          <p:cNvSpPr>
            <a:spLocks noGrp="1"/>
          </p:cNvSpPr>
          <p:nvPr/>
        </p:nvSpPr>
        <p:spPr>
          <a:xfrm>
            <a:off x="932688" y="4800600"/>
            <a:ext cx="5166360" cy="347472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If MSE &gt; 0.0122 (threshold) → ANOMALY detected (zero-day attack)</a:t>
            </a:r>
          </a:p>
        </p:txBody>
      </p:sp>
      <p:sp>
        <p:nvSpPr>
          <p:cNvPr id="821" name="ae4"/>
          <p:cNvSpPr>
            <a:spLocks noGrp="1"/>
          </p:cNvSpPr>
          <p:nvPr/>
        </p:nvSpPr>
        <p:spPr>
          <a:xfrm>
            <a:off x="502920" y="5303520"/>
            <a:ext cx="5669280" cy="77724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22" name="aen4"/>
          <p:cNvSpPr>
            <a:spLocks noGrp="1"/>
          </p:cNvSpPr>
          <p:nvPr/>
        </p:nvSpPr>
        <p:spPr>
          <a:xfrm>
            <a:off x="530352" y="5486400"/>
            <a:ext cx="320040" cy="320040"/>
          </a:xfrm>
          <a:prstGeom prst="roundRect">
            <a:avLst>
              <a:gd name="adj" fmla="val 166666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50B1F"/>
                </a:solidFill>
                <a:latin typeface="Segoe UI"/>
                <a:b/>
              </a:rPr>
              <a:t>5</a:t>
            </a:r>
          </a:p>
        </p:txBody>
      </p:sp>
      <p:sp>
        <p:nvSpPr>
          <p:cNvPr id="823" name="aett4"/>
          <p:cNvSpPr>
            <a:spLocks noGrp="1"/>
          </p:cNvSpPr>
          <p:nvPr/>
        </p:nvSpPr>
        <p:spPr>
          <a:xfrm>
            <a:off x="932688" y="5349240"/>
            <a:ext cx="516636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FF4C4C"/>
                </a:solidFill>
                <a:latin typeface="Segoe UI"/>
                <a:b/>
              </a:rPr>
              <a:t>5. Zero-Day Alert</a:t>
            </a:r>
          </a:p>
        </p:txBody>
      </p:sp>
      <p:sp>
        <p:nvSpPr>
          <p:cNvPr id="824" name="aetd4"/>
          <p:cNvSpPr>
            <a:spLocks noGrp="1"/>
          </p:cNvSpPr>
          <p:nvPr/>
        </p:nvSpPr>
        <p:spPr>
          <a:xfrm>
            <a:off x="932688" y="5696712"/>
            <a:ext cx="5166360" cy="347472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2" dirty="0">
                <a:solidFill>
                  <a:srgbClr val="B0C4DE"/>
                </a:solidFill>
                <a:latin typeface="Segoe UI"/>
              </a:rPr>
              <a:t>The AE never saw these attack patterns — they cause high reconstruction error</a:t>
            </a:r>
          </a:p>
        </p:txBody>
      </p:sp>
      <p:sp>
        <p:nvSpPr>
          <p:cNvPr id="825" name="recard"/>
          <p:cNvSpPr>
            <a:spLocks noGrp="1"/>
          </p:cNvSpPr>
          <p:nvPr/>
        </p:nvSpPr>
        <p:spPr>
          <a:xfrm>
            <a:off x="6446520" y="1051560"/>
            <a:ext cx="5349240" cy="53949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26" name="rehdr"/>
          <p:cNvSpPr>
            <a:spLocks noGrp="1"/>
          </p:cNvSpPr>
          <p:nvPr/>
        </p:nvSpPr>
        <p:spPr>
          <a:xfrm>
            <a:off x="6583680" y="1097280"/>
            <a:ext cx="507492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7B2FFF"/>
                </a:solidFill>
                <a:latin typeface="Segoe UI"/>
                <a:b/>
              </a:rPr>
              <a:t>Reconstruction Error Concept</a:t>
            </a:r>
          </a:p>
        </p:txBody>
      </p:sp>
      <p:sp>
        <p:nvSpPr>
          <p:cNvPr id="827" name="ren0"/>
          <p:cNvSpPr>
            <a:spLocks noGrp="1"/>
          </p:cNvSpPr>
          <p:nvPr/>
        </p:nvSpPr>
        <p:spPr>
          <a:xfrm>
            <a:off x="6583680" y="1691640"/>
            <a:ext cx="132588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Normal 1</a:t>
            </a:r>
          </a:p>
        </p:txBody>
      </p:sp>
      <p:sp>
        <p:nvSpPr>
          <p:cNvPr id="828" name="retrack0"/>
          <p:cNvSpPr>
            <a:spLocks noGrp="1"/>
          </p:cNvSpPr>
          <p:nvPr/>
        </p:nvSpPr>
        <p:spPr>
          <a:xfrm>
            <a:off x="7955280" y="1787652"/>
            <a:ext cx="3200400" cy="192024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29" name="rebar0"/>
          <p:cNvSpPr>
            <a:spLocks noGrp="1"/>
          </p:cNvSpPr>
          <p:nvPr/>
        </p:nvSpPr>
        <p:spPr>
          <a:xfrm>
            <a:off x="7955280" y="1787652"/>
            <a:ext cx="73855" cy="192024"/>
          </a:xfrm>
          <a:prstGeom prst="roundRect">
            <a:avLst>
              <a:gd name="adj" fmla="val 15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30" name="relbl0"/>
          <p:cNvSpPr>
            <a:spLocks noGrp="1"/>
          </p:cNvSpPr>
          <p:nvPr/>
        </p:nvSpPr>
        <p:spPr>
          <a:xfrm>
            <a:off x="11247120" y="1691640"/>
            <a:ext cx="59436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00FF88"/>
                </a:solidFill>
                <a:latin typeface="Segoe UI"/>
                <a:b/>
              </a:rPr>
              <a:t>Normal</a:t>
            </a:r>
          </a:p>
        </p:txBody>
      </p:sp>
      <p:sp>
        <p:nvSpPr>
          <p:cNvPr id="831" name="ren1"/>
          <p:cNvSpPr>
            <a:spLocks noGrp="1"/>
          </p:cNvSpPr>
          <p:nvPr/>
        </p:nvSpPr>
        <p:spPr>
          <a:xfrm>
            <a:off x="6583680" y="2130552"/>
            <a:ext cx="132588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Normal 2</a:t>
            </a:r>
          </a:p>
        </p:txBody>
      </p:sp>
      <p:sp>
        <p:nvSpPr>
          <p:cNvPr id="832" name="retrack1"/>
          <p:cNvSpPr>
            <a:spLocks noGrp="1"/>
          </p:cNvSpPr>
          <p:nvPr/>
        </p:nvSpPr>
        <p:spPr>
          <a:xfrm>
            <a:off x="7955280" y="2226564"/>
            <a:ext cx="3200400" cy="192024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33" name="rebar1"/>
          <p:cNvSpPr>
            <a:spLocks noGrp="1"/>
          </p:cNvSpPr>
          <p:nvPr/>
        </p:nvSpPr>
        <p:spPr>
          <a:xfrm>
            <a:off x="7955280" y="2226564"/>
            <a:ext cx="123092" cy="192024"/>
          </a:xfrm>
          <a:prstGeom prst="roundRect">
            <a:avLst>
              <a:gd name="adj" fmla="val 15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34" name="relbl1"/>
          <p:cNvSpPr>
            <a:spLocks noGrp="1"/>
          </p:cNvSpPr>
          <p:nvPr/>
        </p:nvSpPr>
        <p:spPr>
          <a:xfrm>
            <a:off x="11247120" y="2130552"/>
            <a:ext cx="59436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00FF88"/>
                </a:solidFill>
                <a:latin typeface="Segoe UI"/>
                <a:b/>
              </a:rPr>
              <a:t>Normal</a:t>
            </a:r>
          </a:p>
        </p:txBody>
      </p:sp>
      <p:sp>
        <p:nvSpPr>
          <p:cNvPr id="835" name="ren2"/>
          <p:cNvSpPr>
            <a:spLocks noGrp="1"/>
          </p:cNvSpPr>
          <p:nvPr/>
        </p:nvSpPr>
        <p:spPr>
          <a:xfrm>
            <a:off x="6583680" y="2569464"/>
            <a:ext cx="132588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Normal 3</a:t>
            </a:r>
          </a:p>
        </p:txBody>
      </p:sp>
      <p:sp>
        <p:nvSpPr>
          <p:cNvPr id="836" name="retrack2"/>
          <p:cNvSpPr>
            <a:spLocks noGrp="1"/>
          </p:cNvSpPr>
          <p:nvPr/>
        </p:nvSpPr>
        <p:spPr>
          <a:xfrm>
            <a:off x="7955280" y="2665476"/>
            <a:ext cx="3200400" cy="192024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37" name="rebar2"/>
          <p:cNvSpPr>
            <a:spLocks noGrp="1"/>
          </p:cNvSpPr>
          <p:nvPr/>
        </p:nvSpPr>
        <p:spPr>
          <a:xfrm>
            <a:off x="7955280" y="2665476"/>
            <a:ext cx="196947" cy="192024"/>
          </a:xfrm>
          <a:prstGeom prst="roundRect">
            <a:avLst>
              <a:gd name="adj" fmla="val 15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38" name="relbl2"/>
          <p:cNvSpPr>
            <a:spLocks noGrp="1"/>
          </p:cNvSpPr>
          <p:nvPr/>
        </p:nvSpPr>
        <p:spPr>
          <a:xfrm>
            <a:off x="11247120" y="2569464"/>
            <a:ext cx="59436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00FF88"/>
                </a:solidFill>
                <a:latin typeface="Segoe UI"/>
                <a:b/>
              </a:rPr>
              <a:t>Normal</a:t>
            </a:r>
          </a:p>
        </p:txBody>
      </p:sp>
      <p:sp>
        <p:nvSpPr>
          <p:cNvPr id="839" name="ren3"/>
          <p:cNvSpPr>
            <a:spLocks noGrp="1"/>
          </p:cNvSpPr>
          <p:nvPr/>
        </p:nvSpPr>
        <p:spPr>
          <a:xfrm>
            <a:off x="6583680" y="3008376"/>
            <a:ext cx="132588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Normal 4</a:t>
            </a:r>
          </a:p>
        </p:txBody>
      </p:sp>
      <p:sp>
        <p:nvSpPr>
          <p:cNvPr id="840" name="retrack3"/>
          <p:cNvSpPr>
            <a:spLocks noGrp="1"/>
          </p:cNvSpPr>
          <p:nvPr/>
        </p:nvSpPr>
        <p:spPr>
          <a:xfrm>
            <a:off x="7955280" y="3104388"/>
            <a:ext cx="3200400" cy="192024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41" name="rebar3"/>
          <p:cNvSpPr>
            <a:spLocks noGrp="1"/>
          </p:cNvSpPr>
          <p:nvPr/>
        </p:nvSpPr>
        <p:spPr>
          <a:xfrm>
            <a:off x="7955280" y="3104388"/>
            <a:ext cx="221566" cy="192024"/>
          </a:xfrm>
          <a:prstGeom prst="roundRect">
            <a:avLst>
              <a:gd name="adj" fmla="val 15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42" name="relbl3"/>
          <p:cNvSpPr>
            <a:spLocks noGrp="1"/>
          </p:cNvSpPr>
          <p:nvPr/>
        </p:nvSpPr>
        <p:spPr>
          <a:xfrm>
            <a:off x="11247120" y="3008376"/>
            <a:ext cx="59436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00FF88"/>
                </a:solidFill>
                <a:latin typeface="Segoe UI"/>
                <a:b/>
              </a:rPr>
              <a:t>Normal</a:t>
            </a:r>
          </a:p>
        </p:txBody>
      </p:sp>
      <p:sp>
        <p:nvSpPr>
          <p:cNvPr id="843" name="ren4"/>
          <p:cNvSpPr>
            <a:spLocks noGrp="1"/>
          </p:cNvSpPr>
          <p:nvPr/>
        </p:nvSpPr>
        <p:spPr>
          <a:xfrm>
            <a:off x="6583680" y="3447288"/>
            <a:ext cx="132588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Zero-Day 1</a:t>
            </a:r>
          </a:p>
        </p:txBody>
      </p:sp>
      <p:sp>
        <p:nvSpPr>
          <p:cNvPr id="844" name="retrack4"/>
          <p:cNvSpPr>
            <a:spLocks noGrp="1"/>
          </p:cNvSpPr>
          <p:nvPr/>
        </p:nvSpPr>
        <p:spPr>
          <a:xfrm>
            <a:off x="7955280" y="3543300"/>
            <a:ext cx="3200400" cy="192024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45" name="rebar4"/>
          <p:cNvSpPr>
            <a:spLocks noGrp="1"/>
          </p:cNvSpPr>
          <p:nvPr/>
        </p:nvSpPr>
        <p:spPr>
          <a:xfrm>
            <a:off x="7955280" y="3543300"/>
            <a:ext cx="1107830" cy="192024"/>
          </a:xfrm>
          <a:prstGeom prst="roundRect">
            <a:avLst>
              <a:gd name="adj" fmla="val 15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46" name="relbl4"/>
          <p:cNvSpPr>
            <a:spLocks noGrp="1"/>
          </p:cNvSpPr>
          <p:nvPr/>
        </p:nvSpPr>
        <p:spPr>
          <a:xfrm>
            <a:off x="11247120" y="3447288"/>
            <a:ext cx="59436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FF4C4C"/>
                </a:solidFill>
                <a:latin typeface="Segoe UI"/>
                <a:b/>
              </a:rPr>
              <a:t>ANOMALY</a:t>
            </a:r>
          </a:p>
        </p:txBody>
      </p:sp>
      <p:sp>
        <p:nvSpPr>
          <p:cNvPr id="847" name="ren5"/>
          <p:cNvSpPr>
            <a:spLocks noGrp="1"/>
          </p:cNvSpPr>
          <p:nvPr/>
        </p:nvSpPr>
        <p:spPr>
          <a:xfrm>
            <a:off x="6583680" y="3886200"/>
            <a:ext cx="132588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Zero-Day 2</a:t>
            </a:r>
          </a:p>
        </p:txBody>
      </p:sp>
      <p:sp>
        <p:nvSpPr>
          <p:cNvPr id="848" name="retrack5"/>
          <p:cNvSpPr>
            <a:spLocks noGrp="1"/>
          </p:cNvSpPr>
          <p:nvPr/>
        </p:nvSpPr>
        <p:spPr>
          <a:xfrm>
            <a:off x="7955280" y="3982212"/>
            <a:ext cx="3200400" cy="192024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49" name="rebar5"/>
          <p:cNvSpPr>
            <a:spLocks noGrp="1"/>
          </p:cNvSpPr>
          <p:nvPr/>
        </p:nvSpPr>
        <p:spPr>
          <a:xfrm>
            <a:off x="7955280" y="3982212"/>
            <a:ext cx="2018713" cy="192024"/>
          </a:xfrm>
          <a:prstGeom prst="roundRect">
            <a:avLst>
              <a:gd name="adj" fmla="val 15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50" name="relbl5"/>
          <p:cNvSpPr>
            <a:spLocks noGrp="1"/>
          </p:cNvSpPr>
          <p:nvPr/>
        </p:nvSpPr>
        <p:spPr>
          <a:xfrm>
            <a:off x="11247120" y="3886200"/>
            <a:ext cx="59436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FF4C4C"/>
                </a:solidFill>
                <a:latin typeface="Segoe UI"/>
                <a:b/>
              </a:rPr>
              <a:t>ANOMALY</a:t>
            </a:r>
          </a:p>
        </p:txBody>
      </p:sp>
      <p:sp>
        <p:nvSpPr>
          <p:cNvPr id="851" name="ren6"/>
          <p:cNvSpPr>
            <a:spLocks noGrp="1"/>
          </p:cNvSpPr>
          <p:nvPr/>
        </p:nvSpPr>
        <p:spPr>
          <a:xfrm>
            <a:off x="6583680" y="4325112"/>
            <a:ext cx="132588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Zero-Day 3</a:t>
            </a:r>
          </a:p>
        </p:txBody>
      </p:sp>
      <p:sp>
        <p:nvSpPr>
          <p:cNvPr id="852" name="retrack6"/>
          <p:cNvSpPr>
            <a:spLocks noGrp="1"/>
          </p:cNvSpPr>
          <p:nvPr/>
        </p:nvSpPr>
        <p:spPr>
          <a:xfrm>
            <a:off x="7955280" y="4421124"/>
            <a:ext cx="3200400" cy="192024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53" name="rebar6"/>
          <p:cNvSpPr>
            <a:spLocks noGrp="1"/>
          </p:cNvSpPr>
          <p:nvPr/>
        </p:nvSpPr>
        <p:spPr>
          <a:xfrm>
            <a:off x="7955280" y="4421124"/>
            <a:ext cx="837027" cy="192024"/>
          </a:xfrm>
          <a:prstGeom prst="roundRect">
            <a:avLst>
              <a:gd name="adj" fmla="val 15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54" name="relbl6"/>
          <p:cNvSpPr>
            <a:spLocks noGrp="1"/>
          </p:cNvSpPr>
          <p:nvPr/>
        </p:nvSpPr>
        <p:spPr>
          <a:xfrm>
            <a:off x="11247120" y="4325112"/>
            <a:ext cx="59436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FF4C4C"/>
                </a:solidFill>
                <a:latin typeface="Segoe UI"/>
                <a:b/>
              </a:rPr>
              <a:t>ANOMALY</a:t>
            </a:r>
          </a:p>
        </p:txBody>
      </p:sp>
      <p:sp>
        <p:nvSpPr>
          <p:cNvPr id="855" name="ren7"/>
          <p:cNvSpPr>
            <a:spLocks noGrp="1"/>
          </p:cNvSpPr>
          <p:nvPr/>
        </p:nvSpPr>
        <p:spPr>
          <a:xfrm>
            <a:off x="6583680" y="4764024"/>
            <a:ext cx="132588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1" dirty="0">
                <a:solidFill>
                  <a:srgbClr val="B0C4DE"/>
                </a:solidFill>
                <a:latin typeface="Segoe UI"/>
              </a:rPr>
              <a:t>Zero-Day 4</a:t>
            </a:r>
          </a:p>
        </p:txBody>
      </p:sp>
      <p:sp>
        <p:nvSpPr>
          <p:cNvPr id="856" name="retrack7"/>
          <p:cNvSpPr>
            <a:spLocks noGrp="1"/>
          </p:cNvSpPr>
          <p:nvPr/>
        </p:nvSpPr>
        <p:spPr>
          <a:xfrm>
            <a:off x="7955280" y="4860036"/>
            <a:ext cx="3200400" cy="192024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57" name="rebar7"/>
          <p:cNvSpPr>
            <a:spLocks noGrp="1"/>
          </p:cNvSpPr>
          <p:nvPr/>
        </p:nvSpPr>
        <p:spPr>
          <a:xfrm>
            <a:off x="7955280" y="4860036"/>
            <a:ext cx="2929596" cy="192024"/>
          </a:xfrm>
          <a:prstGeom prst="roundRect">
            <a:avLst>
              <a:gd name="adj" fmla="val 15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58" name="relbl7"/>
          <p:cNvSpPr>
            <a:spLocks noGrp="1"/>
          </p:cNvSpPr>
          <p:nvPr/>
        </p:nvSpPr>
        <p:spPr>
          <a:xfrm>
            <a:off x="11247120" y="4764024"/>
            <a:ext cx="59436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FF4C4C"/>
                </a:solidFill>
                <a:latin typeface="Segoe UI"/>
                <a:b/>
              </a:rPr>
              <a:t>ANOMALY</a:t>
            </a:r>
          </a:p>
        </p:txBody>
      </p:sp>
      <p:sp>
        <p:nvSpPr>
          <p:cNvPr id="859" name="thrline"/>
          <p:cNvSpPr>
            <a:spLocks noGrp="1"/>
          </p:cNvSpPr>
          <p:nvPr/>
        </p:nvSpPr>
        <p:spPr>
          <a:xfrm>
            <a:off x="8255625" y="1554480"/>
            <a:ext cx="27432" cy="36941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60" name="thrlbl"/>
          <p:cNvSpPr>
            <a:spLocks noGrp="1"/>
          </p:cNvSpPr>
          <p:nvPr/>
        </p:nvSpPr>
        <p:spPr>
          <a:xfrm>
            <a:off x="8072745" y="1280160"/>
            <a:ext cx="128016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0D4FF"/>
                </a:solidFill>
                <a:latin typeface="Segoe UI"/>
                <a:b/>
              </a:rPr>
              <a:t>Threshold=0.0122</a:t>
            </a:r>
          </a:p>
        </p:txBody>
      </p:sp>
      <p:sp>
        <p:nvSpPr>
          <p:cNvPr id="861" name="insight"/>
          <p:cNvSpPr>
            <a:spLocks noGrp="1"/>
          </p:cNvSpPr>
          <p:nvPr/>
        </p:nvSpPr>
        <p:spPr>
          <a:xfrm>
            <a:off x="6583680" y="5669280"/>
            <a:ext cx="5074920" cy="594360"/>
          </a:xfrm>
          <a:prstGeom prst="roundRect">
            <a:avLst>
              <a:gd name="adj" fmla="val 40000"/>
            </a:avLst>
          </a:prstGeom>
          <a:solidFill>
            <a:srgbClr val="0A1628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62" name="insighttxt"/>
          <p:cNvSpPr>
            <a:spLocks noGrp="1"/>
          </p:cNvSpPr>
          <p:nvPr/>
        </p:nvSpPr>
        <p:spPr>
          <a:xfrm>
            <a:off x="6675120" y="5669280"/>
            <a:ext cx="4892040" cy="5943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FF88"/>
                </a:solidFill>
                <a:latin typeface="Segoe UI"/>
                <a:b/>
              </a:rPr>
              <a:t>💡  Low error → Normal  |  High error → Zero-Day Attack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863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64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65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66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867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Autoencoder Neural Network Architecture</a:t>
            </a:r>
          </a:p>
        </p:txBody>
      </p:sp>
      <p:sp>
        <p:nvSpPr>
          <p:cNvPr id="868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869" name="sec0"/>
          <p:cNvSpPr>
            <a:spLocks noGrp="1"/>
          </p:cNvSpPr>
          <p:nvPr/>
        </p:nvSpPr>
        <p:spPr>
          <a:xfrm>
            <a:off x="814959" y="1005840"/>
            <a:ext cx="141732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00D4FF"/>
                </a:solidFill>
                <a:latin typeface="Segoe UI"/>
                <a:i/>
              </a:rPr>
              <a:t>Input Layer</a:t>
            </a:r>
          </a:p>
        </p:txBody>
      </p:sp>
      <p:sp>
        <p:nvSpPr>
          <p:cNvPr id="870" name="layer0"/>
          <p:cNvSpPr>
            <a:spLocks noGrp="1"/>
          </p:cNvSpPr>
          <p:nvPr/>
        </p:nvSpPr>
        <p:spPr>
          <a:xfrm>
            <a:off x="814959" y="2336292"/>
            <a:ext cx="1417320" cy="2093976"/>
          </a:xfrm>
          <a:prstGeom prst="roundRect">
            <a:avLst>
              <a:gd name="adj" fmla="val 30000"/>
            </a:avLst>
          </a:prstGeom>
          <a:solidFill>
            <a:srgbClr val="00D4FF"/>
          </a:solidFill>
          <a:ln w="12700">
            <a:solidFill>
              <a:srgbClr val="FFF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71" name="layerlbl0"/>
          <p:cNvSpPr>
            <a:spLocks noGrp="1"/>
          </p:cNvSpPr>
          <p:nvPr/>
        </p:nvSpPr>
        <p:spPr>
          <a:xfrm>
            <a:off x="814959" y="2336292"/>
            <a:ext cx="1417320" cy="209397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50B1F"/>
                </a:solidFill>
                <a:latin typeface="Segoe UI"/>
                <a:b/>
              </a:rPr>
              <a:t>Input
51</a:t>
            </a:r>
          </a:p>
        </p:txBody>
      </p:sp>
      <p:sp>
        <p:nvSpPr>
          <p:cNvPr id="872" name="layerunit0"/>
          <p:cNvSpPr>
            <a:spLocks noGrp="1"/>
          </p:cNvSpPr>
          <p:nvPr/>
        </p:nvSpPr>
        <p:spPr>
          <a:xfrm>
            <a:off x="814959" y="4521708"/>
            <a:ext cx="141732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00D4FF"/>
                </a:solidFill>
                <a:latin typeface="Segoe UI"/>
              </a:rPr>
              <a:t>51 neurons</a:t>
            </a:r>
          </a:p>
        </p:txBody>
      </p:sp>
      <p:sp>
        <p:nvSpPr>
          <p:cNvPr id="873" name="arrowr"/>
          <p:cNvSpPr>
            <a:spLocks noGrp="1"/>
          </p:cNvSpPr>
          <p:nvPr/>
        </p:nvSpPr>
        <p:spPr>
          <a:xfrm>
            <a:off x="2250567" y="325526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874" name="sec1"/>
          <p:cNvSpPr>
            <a:spLocks noGrp="1"/>
          </p:cNvSpPr>
          <p:nvPr/>
        </p:nvSpPr>
        <p:spPr>
          <a:xfrm>
            <a:off x="2338578" y="1005840"/>
            <a:ext cx="141732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7B2FFF"/>
                </a:solidFill>
                <a:latin typeface="Segoe UI"/>
                <a:i/>
              </a:rPr>
              <a:t>Encoder</a:t>
            </a:r>
          </a:p>
        </p:txBody>
      </p:sp>
      <p:sp>
        <p:nvSpPr>
          <p:cNvPr id="875" name="layer1"/>
          <p:cNvSpPr>
            <a:spLocks noGrp="1"/>
          </p:cNvSpPr>
          <p:nvPr/>
        </p:nvSpPr>
        <p:spPr>
          <a:xfrm>
            <a:off x="2338578" y="2098548"/>
            <a:ext cx="1417320" cy="2569464"/>
          </a:xfrm>
          <a:prstGeom prst="roundRect">
            <a:avLst>
              <a:gd name="adj" fmla="val 30000"/>
            </a:avLst>
          </a:prstGeom>
          <a:solidFill>
            <a:srgbClr val="7B2FFF"/>
          </a:solidFill>
          <a:ln w="12700">
            <a:solidFill>
              <a:srgbClr val="FFF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76" name="layerlbl1"/>
          <p:cNvSpPr>
            <a:spLocks noGrp="1"/>
          </p:cNvSpPr>
          <p:nvPr/>
        </p:nvSpPr>
        <p:spPr>
          <a:xfrm>
            <a:off x="2338578" y="2098548"/>
            <a:ext cx="1417320" cy="256946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50B1F"/>
                </a:solidFill>
                <a:latin typeface="Segoe UI"/>
                <a:b/>
              </a:rPr>
              <a:t>Encoder
64</a:t>
            </a:r>
          </a:p>
        </p:txBody>
      </p:sp>
      <p:sp>
        <p:nvSpPr>
          <p:cNvPr id="877" name="layerunit1"/>
          <p:cNvSpPr>
            <a:spLocks noGrp="1"/>
          </p:cNvSpPr>
          <p:nvPr/>
        </p:nvSpPr>
        <p:spPr>
          <a:xfrm>
            <a:off x="2338578" y="4759452"/>
            <a:ext cx="141732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7B2FFF"/>
                </a:solidFill>
                <a:latin typeface="Segoe UI"/>
              </a:rPr>
              <a:t>64 neurons</a:t>
            </a:r>
          </a:p>
        </p:txBody>
      </p:sp>
      <p:sp>
        <p:nvSpPr>
          <p:cNvPr id="878" name="arrowr"/>
          <p:cNvSpPr>
            <a:spLocks noGrp="1"/>
          </p:cNvSpPr>
          <p:nvPr/>
        </p:nvSpPr>
        <p:spPr>
          <a:xfrm>
            <a:off x="3774186" y="325526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879" name="sec2"/>
          <p:cNvSpPr>
            <a:spLocks noGrp="1"/>
          </p:cNvSpPr>
          <p:nvPr/>
        </p:nvSpPr>
        <p:spPr>
          <a:xfrm>
            <a:off x="3862197" y="1005840"/>
            <a:ext cx="141732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7B2FFF"/>
                </a:solidFill>
                <a:latin typeface="Segoe UI"/>
                <a:i/>
              </a:rPr>
              <a:t>Encoder</a:t>
            </a:r>
          </a:p>
        </p:txBody>
      </p:sp>
      <p:sp>
        <p:nvSpPr>
          <p:cNvPr id="880" name="layer2"/>
          <p:cNvSpPr>
            <a:spLocks noGrp="1"/>
          </p:cNvSpPr>
          <p:nvPr/>
        </p:nvSpPr>
        <p:spPr>
          <a:xfrm>
            <a:off x="3862197" y="2683764"/>
            <a:ext cx="1417320" cy="1399032"/>
          </a:xfrm>
          <a:prstGeom prst="roundRect">
            <a:avLst>
              <a:gd name="adj" fmla="val 30000"/>
            </a:avLst>
          </a:prstGeom>
          <a:solidFill>
            <a:srgbClr val="7B2FFF"/>
          </a:solidFill>
          <a:ln w="12700">
            <a:solidFill>
              <a:srgbClr val="FFF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81" name="layerlbl2"/>
          <p:cNvSpPr>
            <a:spLocks noGrp="1"/>
          </p:cNvSpPr>
          <p:nvPr/>
        </p:nvSpPr>
        <p:spPr>
          <a:xfrm>
            <a:off x="3862197" y="2683764"/>
            <a:ext cx="1417320" cy="1399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50B1F"/>
                </a:solidFill>
                <a:latin typeface="Segoe UI"/>
                <a:b/>
              </a:rPr>
              <a:t>Encoder
32</a:t>
            </a:r>
          </a:p>
        </p:txBody>
      </p:sp>
      <p:sp>
        <p:nvSpPr>
          <p:cNvPr id="882" name="layerunit2"/>
          <p:cNvSpPr>
            <a:spLocks noGrp="1"/>
          </p:cNvSpPr>
          <p:nvPr/>
        </p:nvSpPr>
        <p:spPr>
          <a:xfrm>
            <a:off x="3862197" y="4174236"/>
            <a:ext cx="141732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7B2FFF"/>
                </a:solidFill>
                <a:latin typeface="Segoe UI"/>
              </a:rPr>
              <a:t>32 neurons</a:t>
            </a:r>
          </a:p>
        </p:txBody>
      </p:sp>
      <p:sp>
        <p:nvSpPr>
          <p:cNvPr id="883" name="arrowr"/>
          <p:cNvSpPr>
            <a:spLocks noGrp="1"/>
          </p:cNvSpPr>
          <p:nvPr/>
        </p:nvSpPr>
        <p:spPr>
          <a:xfrm>
            <a:off x="5297805" y="325526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884" name="sec3"/>
          <p:cNvSpPr>
            <a:spLocks noGrp="1"/>
          </p:cNvSpPr>
          <p:nvPr/>
        </p:nvSpPr>
        <p:spPr>
          <a:xfrm>
            <a:off x="5385816" y="1005840"/>
            <a:ext cx="141732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FF4C4C"/>
                </a:solidFill>
                <a:latin typeface="Segoe UI"/>
                <a:i/>
              </a:rPr>
              <a:t>Bottleneck</a:t>
            </a:r>
          </a:p>
        </p:txBody>
      </p:sp>
      <p:sp>
        <p:nvSpPr>
          <p:cNvPr id="885" name="layer3"/>
          <p:cNvSpPr>
            <a:spLocks noGrp="1"/>
          </p:cNvSpPr>
          <p:nvPr/>
        </p:nvSpPr>
        <p:spPr>
          <a:xfrm>
            <a:off x="5385816" y="2976372"/>
            <a:ext cx="1417320" cy="813816"/>
          </a:xfrm>
          <a:prstGeom prst="roundRect">
            <a:avLst>
              <a:gd name="adj" fmla="val 30000"/>
            </a:avLst>
          </a:prstGeom>
          <a:solidFill>
            <a:srgbClr val="FF4C4C"/>
          </a:solidFill>
          <a:ln w="12700">
            <a:solidFill>
              <a:srgbClr val="FFF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86" name="layerlbl3"/>
          <p:cNvSpPr>
            <a:spLocks noGrp="1"/>
          </p:cNvSpPr>
          <p:nvPr/>
        </p:nvSpPr>
        <p:spPr>
          <a:xfrm>
            <a:off x="5385816" y="2976372"/>
            <a:ext cx="1417320" cy="81381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50B1F"/>
                </a:solidFill>
                <a:latin typeface="Segoe UI"/>
                <a:b/>
              </a:rPr>
              <a:t>Bottleneck
16</a:t>
            </a:r>
          </a:p>
        </p:txBody>
      </p:sp>
      <p:sp>
        <p:nvSpPr>
          <p:cNvPr id="887" name="layerunit3"/>
          <p:cNvSpPr>
            <a:spLocks noGrp="1"/>
          </p:cNvSpPr>
          <p:nvPr/>
        </p:nvSpPr>
        <p:spPr>
          <a:xfrm>
            <a:off x="5385816" y="3881628"/>
            <a:ext cx="141732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FF4C4C"/>
                </a:solidFill>
                <a:latin typeface="Segoe UI"/>
              </a:rPr>
              <a:t>16 neurons</a:t>
            </a:r>
          </a:p>
        </p:txBody>
      </p:sp>
      <p:sp>
        <p:nvSpPr>
          <p:cNvPr id="888" name="arrowr"/>
          <p:cNvSpPr>
            <a:spLocks noGrp="1"/>
          </p:cNvSpPr>
          <p:nvPr/>
        </p:nvSpPr>
        <p:spPr>
          <a:xfrm>
            <a:off x="6821424" y="325526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889" name="sec4"/>
          <p:cNvSpPr>
            <a:spLocks noGrp="1"/>
          </p:cNvSpPr>
          <p:nvPr/>
        </p:nvSpPr>
        <p:spPr>
          <a:xfrm>
            <a:off x="6909435" y="1005840"/>
            <a:ext cx="141732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00FF88"/>
                </a:solidFill>
                <a:latin typeface="Segoe UI"/>
                <a:i/>
              </a:rPr>
              <a:t>Decoder</a:t>
            </a:r>
          </a:p>
        </p:txBody>
      </p:sp>
      <p:sp>
        <p:nvSpPr>
          <p:cNvPr id="890" name="layer4"/>
          <p:cNvSpPr>
            <a:spLocks noGrp="1"/>
          </p:cNvSpPr>
          <p:nvPr/>
        </p:nvSpPr>
        <p:spPr>
          <a:xfrm>
            <a:off x="6909435" y="2683764"/>
            <a:ext cx="1417320" cy="1399032"/>
          </a:xfrm>
          <a:prstGeom prst="roundRect">
            <a:avLst>
              <a:gd name="adj" fmla="val 30000"/>
            </a:avLst>
          </a:prstGeom>
          <a:solidFill>
            <a:srgbClr val="00FF88"/>
          </a:solidFill>
          <a:ln w="12700">
            <a:solidFill>
              <a:srgbClr val="FFF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91" name="layerlbl4"/>
          <p:cNvSpPr>
            <a:spLocks noGrp="1"/>
          </p:cNvSpPr>
          <p:nvPr/>
        </p:nvSpPr>
        <p:spPr>
          <a:xfrm>
            <a:off x="6909435" y="2683764"/>
            <a:ext cx="1417320" cy="1399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50B1F"/>
                </a:solidFill>
                <a:latin typeface="Segoe UI"/>
                <a:b/>
              </a:rPr>
              <a:t>Decoder
32</a:t>
            </a:r>
          </a:p>
        </p:txBody>
      </p:sp>
      <p:sp>
        <p:nvSpPr>
          <p:cNvPr id="892" name="layerunit4"/>
          <p:cNvSpPr>
            <a:spLocks noGrp="1"/>
          </p:cNvSpPr>
          <p:nvPr/>
        </p:nvSpPr>
        <p:spPr>
          <a:xfrm>
            <a:off x="6909435" y="4174236"/>
            <a:ext cx="141732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00FF88"/>
                </a:solidFill>
                <a:latin typeface="Segoe UI"/>
              </a:rPr>
              <a:t>32 neurons</a:t>
            </a:r>
          </a:p>
        </p:txBody>
      </p:sp>
      <p:sp>
        <p:nvSpPr>
          <p:cNvPr id="893" name="arrowr"/>
          <p:cNvSpPr>
            <a:spLocks noGrp="1"/>
          </p:cNvSpPr>
          <p:nvPr/>
        </p:nvSpPr>
        <p:spPr>
          <a:xfrm>
            <a:off x="8345043" y="325526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894" name="sec5"/>
          <p:cNvSpPr>
            <a:spLocks noGrp="1"/>
          </p:cNvSpPr>
          <p:nvPr/>
        </p:nvSpPr>
        <p:spPr>
          <a:xfrm>
            <a:off x="8433054" y="1005840"/>
            <a:ext cx="141732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00FF88"/>
                </a:solidFill>
                <a:latin typeface="Segoe UI"/>
                <a:i/>
              </a:rPr>
              <a:t>Decoder</a:t>
            </a:r>
          </a:p>
        </p:txBody>
      </p:sp>
      <p:sp>
        <p:nvSpPr>
          <p:cNvPr id="895" name="layer5"/>
          <p:cNvSpPr>
            <a:spLocks noGrp="1"/>
          </p:cNvSpPr>
          <p:nvPr/>
        </p:nvSpPr>
        <p:spPr>
          <a:xfrm>
            <a:off x="8433054" y="2098548"/>
            <a:ext cx="1417320" cy="2569464"/>
          </a:xfrm>
          <a:prstGeom prst="roundRect">
            <a:avLst>
              <a:gd name="adj" fmla="val 30000"/>
            </a:avLst>
          </a:prstGeom>
          <a:solidFill>
            <a:srgbClr val="00FF88"/>
          </a:solidFill>
          <a:ln w="12700">
            <a:solidFill>
              <a:srgbClr val="FFF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896" name="layerlbl5"/>
          <p:cNvSpPr>
            <a:spLocks noGrp="1"/>
          </p:cNvSpPr>
          <p:nvPr/>
        </p:nvSpPr>
        <p:spPr>
          <a:xfrm>
            <a:off x="8433054" y="2098548"/>
            <a:ext cx="1417320" cy="2569464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50B1F"/>
                </a:solidFill>
                <a:latin typeface="Segoe UI"/>
                <a:b/>
              </a:rPr>
              <a:t>Decoder
64</a:t>
            </a:r>
          </a:p>
        </p:txBody>
      </p:sp>
      <p:sp>
        <p:nvSpPr>
          <p:cNvPr id="897" name="layerunit5"/>
          <p:cNvSpPr>
            <a:spLocks noGrp="1"/>
          </p:cNvSpPr>
          <p:nvPr/>
        </p:nvSpPr>
        <p:spPr>
          <a:xfrm>
            <a:off x="8433054" y="4759452"/>
            <a:ext cx="141732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00FF88"/>
                </a:solidFill>
                <a:latin typeface="Segoe UI"/>
              </a:rPr>
              <a:t>64 neurons</a:t>
            </a:r>
          </a:p>
        </p:txBody>
      </p:sp>
      <p:sp>
        <p:nvSpPr>
          <p:cNvPr id="898" name="arrowr"/>
          <p:cNvSpPr>
            <a:spLocks noGrp="1"/>
          </p:cNvSpPr>
          <p:nvPr/>
        </p:nvSpPr>
        <p:spPr>
          <a:xfrm>
            <a:off x="9868662" y="3255264"/>
            <a:ext cx="3200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899" name="sec6"/>
          <p:cNvSpPr>
            <a:spLocks noGrp="1"/>
          </p:cNvSpPr>
          <p:nvPr/>
        </p:nvSpPr>
        <p:spPr>
          <a:xfrm>
            <a:off x="9956673" y="1005840"/>
            <a:ext cx="141732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00D4FF"/>
                </a:solidFill>
                <a:latin typeface="Segoe UI"/>
                <a:i/>
              </a:rPr>
              <a:t>Reconstruction</a:t>
            </a:r>
          </a:p>
        </p:txBody>
      </p:sp>
      <p:sp>
        <p:nvSpPr>
          <p:cNvPr id="900" name="layer6"/>
          <p:cNvSpPr>
            <a:spLocks noGrp="1"/>
          </p:cNvSpPr>
          <p:nvPr/>
        </p:nvSpPr>
        <p:spPr>
          <a:xfrm>
            <a:off x="9956673" y="2336292"/>
            <a:ext cx="1417320" cy="2093976"/>
          </a:xfrm>
          <a:prstGeom prst="roundRect">
            <a:avLst>
              <a:gd name="adj" fmla="val 30000"/>
            </a:avLst>
          </a:prstGeom>
          <a:solidFill>
            <a:srgbClr val="00D4FF"/>
          </a:solidFill>
          <a:ln w="12700">
            <a:solidFill>
              <a:srgbClr val="FFF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901" name="layerlbl6"/>
          <p:cNvSpPr>
            <a:spLocks noGrp="1"/>
          </p:cNvSpPr>
          <p:nvPr/>
        </p:nvSpPr>
        <p:spPr>
          <a:xfrm>
            <a:off x="9956673" y="2336292"/>
            <a:ext cx="1417320" cy="209397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50B1F"/>
                </a:solidFill>
                <a:latin typeface="Segoe UI"/>
                <a:b/>
              </a:rPr>
              <a:t>Output
51</a:t>
            </a:r>
          </a:p>
        </p:txBody>
      </p:sp>
      <p:sp>
        <p:nvSpPr>
          <p:cNvPr id="902" name="layerunit6"/>
          <p:cNvSpPr>
            <a:spLocks noGrp="1"/>
          </p:cNvSpPr>
          <p:nvPr/>
        </p:nvSpPr>
        <p:spPr>
          <a:xfrm>
            <a:off x="9956673" y="4521708"/>
            <a:ext cx="141732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00D4FF"/>
                </a:solidFill>
                <a:latin typeface="Segoe UI"/>
              </a:rPr>
              <a:t>51 neurons</a:t>
            </a:r>
          </a:p>
        </p:txBody>
      </p:sp>
      <p:sp>
        <p:nvSpPr>
          <p:cNvPr id="903" name="bnanno"/>
          <p:cNvSpPr>
            <a:spLocks noGrp="1"/>
          </p:cNvSpPr>
          <p:nvPr/>
        </p:nvSpPr>
        <p:spPr>
          <a:xfrm>
            <a:off x="4928616" y="4892040"/>
            <a:ext cx="2331720" cy="50292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904" name="bnannotxt"/>
          <p:cNvSpPr>
            <a:spLocks noGrp="1"/>
          </p:cNvSpPr>
          <p:nvPr/>
        </p:nvSpPr>
        <p:spPr>
          <a:xfrm>
            <a:off x="4974336" y="4892040"/>
            <a:ext cx="224028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FF4C4C"/>
                </a:solidFill>
                <a:latin typeface="Segoe UI"/>
                <a:i/>
              </a:rPr>
              <a:t>← Maximum Compression →
Latent Space Representation</a:t>
            </a:r>
          </a:p>
        </p:txBody>
      </p:sp>
      <p:sp>
        <p:nvSpPr>
          <p:cNvPr id="905" name="ic0"/>
          <p:cNvSpPr>
            <a:spLocks noGrp="1"/>
          </p:cNvSpPr>
          <p:nvPr/>
        </p:nvSpPr>
        <p:spPr>
          <a:xfrm>
            <a:off x="365760" y="5440680"/>
            <a:ext cx="2743200" cy="1188720"/>
          </a:xfrm>
          <a:prstGeom prst="roundRect">
            <a:avLst>
              <a:gd name="adj" fmla="val 5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906" name="icv0"/>
          <p:cNvSpPr>
            <a:spLocks noGrp="1"/>
          </p:cNvSpPr>
          <p:nvPr/>
        </p:nvSpPr>
        <p:spPr>
          <a:xfrm>
            <a:off x="457200" y="5486400"/>
            <a:ext cx="256032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FF88"/>
                </a:solidFill>
                <a:latin typeface="Segoe UI"/>
                <a:b/>
              </a:rPr>
              <a:t>11,907</a:t>
            </a:r>
          </a:p>
        </p:txBody>
      </p:sp>
      <p:sp>
        <p:nvSpPr>
          <p:cNvPr id="907" name="icl0"/>
          <p:cNvSpPr>
            <a:spLocks noGrp="1"/>
          </p:cNvSpPr>
          <p:nvPr/>
        </p:nvSpPr>
        <p:spPr>
          <a:xfrm>
            <a:off x="457200" y="5897880"/>
            <a:ext cx="256032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FFFFFF"/>
                </a:solidFill>
                <a:latin typeface="Segoe UI"/>
                <a:b/>
              </a:rPr>
              <a:t>Total Parameters</a:t>
            </a:r>
          </a:p>
        </p:txBody>
      </p:sp>
      <p:sp>
        <p:nvSpPr>
          <p:cNvPr id="908" name="icd0"/>
          <p:cNvSpPr>
            <a:spLocks noGrp="1"/>
          </p:cNvSpPr>
          <p:nvPr/>
        </p:nvSpPr>
        <p:spPr>
          <a:xfrm>
            <a:off x="457200" y="6172200"/>
            <a:ext cx="2560320" cy="41148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Ultra-lightweight — deployable on edge IoT gateways</a:t>
            </a:r>
          </a:p>
        </p:txBody>
      </p:sp>
      <p:sp>
        <p:nvSpPr>
          <p:cNvPr id="909" name="ic1"/>
          <p:cNvSpPr>
            <a:spLocks noGrp="1"/>
          </p:cNvSpPr>
          <p:nvPr/>
        </p:nvSpPr>
        <p:spPr>
          <a:xfrm>
            <a:off x="3310128" y="5440680"/>
            <a:ext cx="2743200" cy="1188720"/>
          </a:xfrm>
          <a:prstGeom prst="roundRect">
            <a:avLst>
              <a:gd name="adj" fmla="val 5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910" name="icv1"/>
          <p:cNvSpPr>
            <a:spLocks noGrp="1"/>
          </p:cNvSpPr>
          <p:nvPr/>
        </p:nvSpPr>
        <p:spPr>
          <a:xfrm>
            <a:off x="3401568" y="5486400"/>
            <a:ext cx="256032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Symmetric
Autoencoder</a:t>
            </a:r>
          </a:p>
        </p:txBody>
      </p:sp>
      <p:sp>
        <p:nvSpPr>
          <p:cNvPr id="911" name="icl1"/>
          <p:cNvSpPr>
            <a:spLocks noGrp="1"/>
          </p:cNvSpPr>
          <p:nvPr/>
        </p:nvSpPr>
        <p:spPr>
          <a:xfrm>
            <a:off x="3401568" y="5897880"/>
            <a:ext cx="256032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FFFFFF"/>
                </a:solidFill>
                <a:latin typeface="Segoe UI"/>
                <a:b/>
              </a:rPr>
              <a:t>Architecture Type</a:t>
            </a:r>
          </a:p>
        </p:txBody>
      </p:sp>
      <p:sp>
        <p:nvSpPr>
          <p:cNvPr id="912" name="icd1"/>
          <p:cNvSpPr>
            <a:spLocks noGrp="1"/>
          </p:cNvSpPr>
          <p:nvPr/>
        </p:nvSpPr>
        <p:spPr>
          <a:xfrm>
            <a:off x="3401568" y="6172200"/>
            <a:ext cx="2560320" cy="41148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Encoder mirrors Decoder around 16-dim bottleneck</a:t>
            </a:r>
          </a:p>
        </p:txBody>
      </p:sp>
      <p:sp>
        <p:nvSpPr>
          <p:cNvPr id="913" name="ic2"/>
          <p:cNvSpPr>
            <a:spLocks noGrp="1"/>
          </p:cNvSpPr>
          <p:nvPr/>
        </p:nvSpPr>
        <p:spPr>
          <a:xfrm>
            <a:off x="6254496" y="5440680"/>
            <a:ext cx="2743200" cy="1188720"/>
          </a:xfrm>
          <a:prstGeom prst="roundRect">
            <a:avLst>
              <a:gd name="adj" fmla="val 5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914" name="icv2"/>
          <p:cNvSpPr>
            <a:spLocks noGrp="1"/>
          </p:cNvSpPr>
          <p:nvPr/>
        </p:nvSpPr>
        <p:spPr>
          <a:xfrm>
            <a:off x="6345936" y="5486400"/>
            <a:ext cx="256032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7B2FFF"/>
                </a:solidFill>
                <a:latin typeface="Segoe UI"/>
                <a:b/>
              </a:rPr>
              <a:t>ReLU (hidden)
Sigmoid (output)</a:t>
            </a:r>
          </a:p>
        </p:txBody>
      </p:sp>
      <p:sp>
        <p:nvSpPr>
          <p:cNvPr id="915" name="icl2"/>
          <p:cNvSpPr>
            <a:spLocks noGrp="1"/>
          </p:cNvSpPr>
          <p:nvPr/>
        </p:nvSpPr>
        <p:spPr>
          <a:xfrm>
            <a:off x="6345936" y="5897880"/>
            <a:ext cx="256032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FFFFFF"/>
                </a:solidFill>
                <a:latin typeface="Segoe UI"/>
                <a:b/>
              </a:rPr>
              <a:t>Activation</a:t>
            </a:r>
          </a:p>
        </p:txBody>
      </p:sp>
      <p:sp>
        <p:nvSpPr>
          <p:cNvPr id="916" name="icd2"/>
          <p:cNvSpPr>
            <a:spLocks noGrp="1"/>
          </p:cNvSpPr>
          <p:nvPr/>
        </p:nvSpPr>
        <p:spPr>
          <a:xfrm>
            <a:off x="6345936" y="6172200"/>
            <a:ext cx="2560320" cy="41148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ReLU avoids vanishing gradient in deep encoder layers</a:t>
            </a:r>
          </a:p>
        </p:txBody>
      </p:sp>
      <p:sp>
        <p:nvSpPr>
          <p:cNvPr id="917" name="ic3"/>
          <p:cNvSpPr>
            <a:spLocks noGrp="1"/>
          </p:cNvSpPr>
          <p:nvPr/>
        </p:nvSpPr>
        <p:spPr>
          <a:xfrm>
            <a:off x="9198864" y="5440680"/>
            <a:ext cx="2743200" cy="1188720"/>
          </a:xfrm>
          <a:prstGeom prst="roundRect">
            <a:avLst>
              <a:gd name="adj" fmla="val 5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918" name="icv3"/>
          <p:cNvSpPr>
            <a:spLocks noGrp="1"/>
          </p:cNvSpPr>
          <p:nvPr/>
        </p:nvSpPr>
        <p:spPr>
          <a:xfrm>
            <a:off x="9290304" y="5486400"/>
            <a:ext cx="256032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FFB800"/>
                </a:solidFill>
                <a:latin typeface="Segoe UI"/>
                <a:b/>
              </a:rPr>
              <a:t>Normal Traffic Only
24,152 rows</a:t>
            </a:r>
          </a:p>
        </p:txBody>
      </p:sp>
      <p:sp>
        <p:nvSpPr>
          <p:cNvPr id="919" name="icl3"/>
          <p:cNvSpPr>
            <a:spLocks noGrp="1"/>
          </p:cNvSpPr>
          <p:nvPr/>
        </p:nvSpPr>
        <p:spPr>
          <a:xfrm>
            <a:off x="9290304" y="5897880"/>
            <a:ext cx="256032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FFFFFF"/>
                </a:solidFill>
                <a:latin typeface="Segoe UI"/>
                <a:b/>
              </a:rPr>
              <a:t>Training</a:t>
            </a:r>
          </a:p>
        </p:txBody>
      </p:sp>
      <p:sp>
        <p:nvSpPr>
          <p:cNvPr id="920" name="icd3"/>
          <p:cNvSpPr>
            <a:spLocks noGrp="1"/>
          </p:cNvSpPr>
          <p:nvPr/>
        </p:nvSpPr>
        <p:spPr>
          <a:xfrm>
            <a:off x="9290304" y="6172200"/>
            <a:ext cx="2560320" cy="41148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Learns clean traffic distribution; anomalies diverge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921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22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23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24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925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Autoencoder Results — Anomaly Detection</a:t>
            </a:r>
          </a:p>
        </p:txBody>
      </p:sp>
      <p:sp>
        <p:nvSpPr>
          <p:cNvPr id="926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27" name="aehero"/>
          <p:cNvSpPr>
            <a:spLocks noGrp="1"/>
          </p:cNvSpPr>
          <p:nvPr/>
        </p:nvSpPr>
        <p:spPr>
          <a:xfrm>
            <a:off x="365760" y="1051560"/>
            <a:ext cx="11430000" cy="91440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928" name="aeherotext"/>
          <p:cNvSpPr>
            <a:spLocks noGrp="1"/>
          </p:cNvSpPr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24" dirty="0">
                <a:solidFill>
                  <a:srgbClr val="FFFFFF"/>
                </a:solidFill>
                <a:latin typeface="Segoe UI"/>
                <a:b/>
              </a:rPr>
              <a:t>Overall Accuracy: </a:t>
            </a:r>
            <a:r>
              <a:rPr lang="en-US" sz="34" dirty="0">
                <a:solidFill>
                  <a:srgbClr val="00FF88"/>
                </a:solidFill>
                <a:latin typeface="Segoe UI"/>
                <a:b/>
              </a:rPr>
              <a:t>99.19%</a:t>
            </a:r>
            <a:r>
              <a:rPr lang="en-US" sz="18" dirty="0">
                <a:solidFill>
                  <a:srgbClr val="B0C4DE"/>
                </a:solidFill>
                <a:latin typeface="Segoe UI"/>
              </a:rPr>
              <a:t>   |   Tested on: </a:t>
            </a:r>
            <a:r>
              <a:rPr lang="en-US" sz="22" dirty="0">
                <a:solidFill>
                  <a:srgbClr val="00D4FF"/>
                </a:solidFill>
                <a:latin typeface="Segoe UI"/>
                <a:b/>
              </a:rPr>
              <a:t>152,389</a:t>
            </a:r>
            <a:r>
              <a:rPr lang="en-US" sz="18" dirty="0">
                <a:solidFill>
                  <a:srgbClr val="B0C4DE"/>
                </a:solidFill>
                <a:latin typeface="Segoe UI"/>
              </a:rPr>
              <a:t>  samples</a:t>
            </a:r>
          </a:p>
        </p:txBody>
      </p:sp>
      <p:sp>
        <p:nvSpPr>
          <p:cNvPr id="929" name="stat"/>
          <p:cNvSpPr>
            <a:spLocks noGrp="1"/>
          </p:cNvSpPr>
          <p:nvPr/>
        </p:nvSpPr>
        <p:spPr>
          <a:xfrm>
            <a:off x="365760" y="2148840"/>
            <a:ext cx="1828800" cy="109728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00FF88"/>
                </a:solidFill>
                <a:latin typeface="Segoe UI"/>
                <a:b/>
              </a:rPr>
              <a:t>100.0%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Normal Precision</a:t>
            </a:r>
          </a:p>
        </p:txBody>
      </p:sp>
      <p:sp>
        <p:nvSpPr>
          <p:cNvPr id="930" name="stat"/>
          <p:cNvSpPr>
            <a:spLocks noGrp="1"/>
          </p:cNvSpPr>
          <p:nvPr/>
        </p:nvSpPr>
        <p:spPr>
          <a:xfrm>
            <a:off x="2313432" y="2148840"/>
            <a:ext cx="1828800" cy="109728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FFB800"/>
                </a:solidFill>
                <a:latin typeface="Segoe UI"/>
                <a:b/>
              </a:rPr>
              <a:t>94.87%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Normal Recall</a:t>
            </a:r>
          </a:p>
        </p:txBody>
      </p:sp>
      <p:sp>
        <p:nvSpPr>
          <p:cNvPr id="931" name="stat"/>
          <p:cNvSpPr>
            <a:spLocks noGrp="1"/>
          </p:cNvSpPr>
          <p:nvPr/>
        </p:nvSpPr>
        <p:spPr>
          <a:xfrm>
            <a:off x="4261104" y="2148840"/>
            <a:ext cx="1828800" cy="109728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00FF88"/>
                </a:solidFill>
                <a:latin typeface="Segoe UI"/>
                <a:b/>
              </a:rPr>
              <a:t>99.04%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Attack Precision</a:t>
            </a:r>
          </a:p>
        </p:txBody>
      </p:sp>
      <p:sp>
        <p:nvSpPr>
          <p:cNvPr id="932" name="stat"/>
          <p:cNvSpPr>
            <a:spLocks noGrp="1"/>
          </p:cNvSpPr>
          <p:nvPr/>
        </p:nvSpPr>
        <p:spPr>
          <a:xfrm>
            <a:off x="6208776" y="2148840"/>
            <a:ext cx="1828800" cy="109728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00D4FF"/>
                </a:solidFill>
                <a:latin typeface="Segoe UI"/>
                <a:b/>
              </a:rPr>
              <a:t>100.0%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Attack Recall</a:t>
            </a:r>
          </a:p>
        </p:txBody>
      </p:sp>
      <p:sp>
        <p:nvSpPr>
          <p:cNvPr id="933" name="stat"/>
          <p:cNvSpPr>
            <a:spLocks noGrp="1"/>
          </p:cNvSpPr>
          <p:nvPr/>
        </p:nvSpPr>
        <p:spPr>
          <a:xfrm>
            <a:off x="8156448" y="2148840"/>
            <a:ext cx="1828800" cy="109728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7B2FFF"/>
                </a:solidFill>
                <a:latin typeface="Segoe UI"/>
                <a:b/>
              </a:rPr>
              <a:t>98.44%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Macro F1</a:t>
            </a:r>
          </a:p>
        </p:txBody>
      </p:sp>
      <p:sp>
        <p:nvSpPr>
          <p:cNvPr id="934" name="stat"/>
          <p:cNvSpPr>
            <a:spLocks noGrp="1"/>
          </p:cNvSpPr>
          <p:nvPr/>
        </p:nvSpPr>
        <p:spPr>
          <a:xfrm>
            <a:off x="10104120" y="2148840"/>
            <a:ext cx="1828800" cy="109728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FF4C4C"/>
                </a:solidFill>
                <a:latin typeface="Segoe UI"/>
                <a:b/>
              </a:rPr>
              <a:t>0.0122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Threshold</a:t>
            </a:r>
          </a:p>
        </p:txBody>
      </p:sp>
      <p:sp>
        <p:nvSpPr>
          <p:cNvPr id="935" name="aemetcard"/>
          <p:cNvSpPr>
            <a:spLocks noGrp="1"/>
          </p:cNvSpPr>
          <p:nvPr/>
        </p:nvSpPr>
        <p:spPr>
          <a:xfrm>
            <a:off x="365760" y="3429000"/>
            <a:ext cx="5303520" cy="30175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936" name="aerephdr"/>
          <p:cNvSpPr>
            <a:spLocks noGrp="1"/>
          </p:cNvSpPr>
          <p:nvPr/>
        </p:nvSpPr>
        <p:spPr>
          <a:xfrm>
            <a:off x="502920" y="3493008"/>
            <a:ext cx="502920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5" dirty="0">
                <a:solidFill>
                  <a:srgbClr val="7B2FFF"/>
                </a:solidFill>
                <a:latin typeface="Segoe UI"/>
                <a:b/>
              </a:rPr>
              <a:t>Classification Report</a:t>
            </a:r>
          </a:p>
        </p:txBody>
      </p:sp>
      <p:sp>
        <p:nvSpPr>
          <p:cNvPr id="937" name="aeh0"/>
          <p:cNvSpPr>
            <a:spLocks noGrp="1"/>
          </p:cNvSpPr>
          <p:nvPr/>
        </p:nvSpPr>
        <p:spPr>
          <a:xfrm>
            <a:off x="502920" y="3913632"/>
            <a:ext cx="11887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  <a:b/>
              </a:rPr>
              <a:t>Class</a:t>
            </a:r>
          </a:p>
        </p:txBody>
      </p:sp>
      <p:sp>
        <p:nvSpPr>
          <p:cNvPr id="938" name="aeh1"/>
          <p:cNvSpPr>
            <a:spLocks noGrp="1"/>
          </p:cNvSpPr>
          <p:nvPr/>
        </p:nvSpPr>
        <p:spPr>
          <a:xfrm>
            <a:off x="1737360" y="3913632"/>
            <a:ext cx="9144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  <a:b/>
              </a:rPr>
              <a:t>Precision</a:t>
            </a:r>
          </a:p>
        </p:txBody>
      </p:sp>
      <p:sp>
        <p:nvSpPr>
          <p:cNvPr id="939" name="aeh2"/>
          <p:cNvSpPr>
            <a:spLocks noGrp="1"/>
          </p:cNvSpPr>
          <p:nvPr/>
        </p:nvSpPr>
        <p:spPr>
          <a:xfrm>
            <a:off x="2651760" y="3913632"/>
            <a:ext cx="9144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  <a:b/>
              </a:rPr>
              <a:t>Recall</a:t>
            </a:r>
          </a:p>
        </p:txBody>
      </p:sp>
      <p:sp>
        <p:nvSpPr>
          <p:cNvPr id="940" name="aeh3"/>
          <p:cNvSpPr>
            <a:spLocks noGrp="1"/>
          </p:cNvSpPr>
          <p:nvPr/>
        </p:nvSpPr>
        <p:spPr>
          <a:xfrm>
            <a:off x="3520440" y="3913632"/>
            <a:ext cx="9144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  <a:b/>
              </a:rPr>
              <a:t>F1</a:t>
            </a:r>
          </a:p>
        </p:txBody>
      </p:sp>
      <p:sp>
        <p:nvSpPr>
          <p:cNvPr id="941" name="aeh4"/>
          <p:cNvSpPr>
            <a:spLocks noGrp="1"/>
          </p:cNvSpPr>
          <p:nvPr/>
        </p:nvSpPr>
        <p:spPr>
          <a:xfrm>
            <a:off x="4389120" y="3913632"/>
            <a:ext cx="100584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  <a:b/>
              </a:rPr>
              <a:t>Support</a:t>
            </a:r>
          </a:p>
        </p:txBody>
      </p:sp>
      <p:sp>
        <p:nvSpPr>
          <p:cNvPr id="942" name="aehr2"/>
          <p:cNvSpPr>
            <a:spLocks noGrp="1"/>
          </p:cNvSpPr>
          <p:nvPr/>
        </p:nvSpPr>
        <p:spPr>
          <a:xfrm>
            <a:off x="502920" y="4224528"/>
            <a:ext cx="5029200" cy="27432"/>
          </a:xfrm>
          <a:prstGeom prst="rect">
            <a:avLst/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43" name="aerow0"/>
          <p:cNvSpPr>
            <a:spLocks noGrp="1"/>
          </p:cNvSpPr>
          <p:nvPr/>
        </p:nvSpPr>
        <p:spPr>
          <a:xfrm>
            <a:off x="502920" y="4297680"/>
            <a:ext cx="5029200" cy="457200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44" name="aecell00"/>
          <p:cNvSpPr>
            <a:spLocks noGrp="1"/>
          </p:cNvSpPr>
          <p:nvPr/>
        </p:nvSpPr>
        <p:spPr>
          <a:xfrm>
            <a:off x="502920" y="4297680"/>
            <a:ext cx="118872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Normal (0)</a:t>
            </a:r>
          </a:p>
        </p:txBody>
      </p:sp>
      <p:sp>
        <p:nvSpPr>
          <p:cNvPr id="945" name="aecell01"/>
          <p:cNvSpPr>
            <a:spLocks noGrp="1"/>
          </p:cNvSpPr>
          <p:nvPr/>
        </p:nvSpPr>
        <p:spPr>
          <a:xfrm>
            <a:off x="1737360" y="4297680"/>
            <a:ext cx="914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946" name="aecell02"/>
          <p:cNvSpPr>
            <a:spLocks noGrp="1"/>
          </p:cNvSpPr>
          <p:nvPr/>
        </p:nvSpPr>
        <p:spPr>
          <a:xfrm>
            <a:off x="2651760" y="4297680"/>
            <a:ext cx="914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94.87%</a:t>
            </a:r>
          </a:p>
        </p:txBody>
      </p:sp>
      <p:sp>
        <p:nvSpPr>
          <p:cNvPr id="947" name="aecell03"/>
          <p:cNvSpPr>
            <a:spLocks noGrp="1"/>
          </p:cNvSpPr>
          <p:nvPr/>
        </p:nvSpPr>
        <p:spPr>
          <a:xfrm>
            <a:off x="3520440" y="4297680"/>
            <a:ext cx="914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97.37%</a:t>
            </a:r>
          </a:p>
        </p:txBody>
      </p:sp>
      <p:sp>
        <p:nvSpPr>
          <p:cNvPr id="948" name="aecell04"/>
          <p:cNvSpPr>
            <a:spLocks noGrp="1"/>
          </p:cNvSpPr>
          <p:nvPr/>
        </p:nvSpPr>
        <p:spPr>
          <a:xfrm>
            <a:off x="4389120" y="4297680"/>
            <a:ext cx="100584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24,152</a:t>
            </a:r>
          </a:p>
        </p:txBody>
      </p:sp>
      <p:sp>
        <p:nvSpPr>
          <p:cNvPr id="949" name="aerow1"/>
          <p:cNvSpPr>
            <a:spLocks noGrp="1"/>
          </p:cNvSpPr>
          <p:nvPr/>
        </p:nvSpPr>
        <p:spPr>
          <a:xfrm>
            <a:off x="502920" y="4800600"/>
            <a:ext cx="5029200" cy="457200"/>
          </a:xfrm>
          <a:prstGeom prst="roundRect">
            <a:avLst>
              <a:gd name="adj" fmla="val 15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50" name="aecell10"/>
          <p:cNvSpPr>
            <a:spLocks noGrp="1"/>
          </p:cNvSpPr>
          <p:nvPr/>
        </p:nvSpPr>
        <p:spPr>
          <a:xfrm>
            <a:off x="502920" y="4800600"/>
            <a:ext cx="118872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Attack (1)</a:t>
            </a:r>
          </a:p>
        </p:txBody>
      </p:sp>
      <p:sp>
        <p:nvSpPr>
          <p:cNvPr id="951" name="aecell11"/>
          <p:cNvSpPr>
            <a:spLocks noGrp="1"/>
          </p:cNvSpPr>
          <p:nvPr/>
        </p:nvSpPr>
        <p:spPr>
          <a:xfrm>
            <a:off x="1737360" y="4800600"/>
            <a:ext cx="914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99.04%</a:t>
            </a:r>
          </a:p>
        </p:txBody>
      </p:sp>
      <p:sp>
        <p:nvSpPr>
          <p:cNvPr id="952" name="aecell12"/>
          <p:cNvSpPr>
            <a:spLocks noGrp="1"/>
          </p:cNvSpPr>
          <p:nvPr/>
        </p:nvSpPr>
        <p:spPr>
          <a:xfrm>
            <a:off x="2651760" y="4800600"/>
            <a:ext cx="914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100.0%</a:t>
            </a:r>
          </a:p>
        </p:txBody>
      </p:sp>
      <p:sp>
        <p:nvSpPr>
          <p:cNvPr id="953" name="aecell13"/>
          <p:cNvSpPr>
            <a:spLocks noGrp="1"/>
          </p:cNvSpPr>
          <p:nvPr/>
        </p:nvSpPr>
        <p:spPr>
          <a:xfrm>
            <a:off x="3520440" y="4800600"/>
            <a:ext cx="914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99.52%</a:t>
            </a:r>
          </a:p>
        </p:txBody>
      </p:sp>
      <p:sp>
        <p:nvSpPr>
          <p:cNvPr id="954" name="aecell14"/>
          <p:cNvSpPr>
            <a:spLocks noGrp="1"/>
          </p:cNvSpPr>
          <p:nvPr/>
        </p:nvSpPr>
        <p:spPr>
          <a:xfrm>
            <a:off x="4389120" y="4800600"/>
            <a:ext cx="100584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128,237</a:t>
            </a:r>
          </a:p>
        </p:txBody>
      </p:sp>
      <p:sp>
        <p:nvSpPr>
          <p:cNvPr id="955" name="aerow2"/>
          <p:cNvSpPr>
            <a:spLocks noGrp="1"/>
          </p:cNvSpPr>
          <p:nvPr/>
        </p:nvSpPr>
        <p:spPr>
          <a:xfrm>
            <a:off x="502920" y="5303520"/>
            <a:ext cx="5029200" cy="457200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56" name="aecell20"/>
          <p:cNvSpPr>
            <a:spLocks noGrp="1"/>
          </p:cNvSpPr>
          <p:nvPr/>
        </p:nvSpPr>
        <p:spPr>
          <a:xfrm>
            <a:off x="502920" y="5303520"/>
            <a:ext cx="118872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Accuracy</a:t>
            </a:r>
          </a:p>
        </p:txBody>
      </p:sp>
      <p:sp>
        <p:nvSpPr>
          <p:cNvPr id="957" name="aecell21"/>
          <p:cNvSpPr>
            <a:spLocks noGrp="1"/>
          </p:cNvSpPr>
          <p:nvPr/>
        </p:nvSpPr>
        <p:spPr>
          <a:xfrm>
            <a:off x="1737360" y="5303520"/>
            <a:ext cx="914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–</a:t>
            </a:r>
          </a:p>
        </p:txBody>
      </p:sp>
      <p:sp>
        <p:nvSpPr>
          <p:cNvPr id="958" name="aecell22"/>
          <p:cNvSpPr>
            <a:spLocks noGrp="1"/>
          </p:cNvSpPr>
          <p:nvPr/>
        </p:nvSpPr>
        <p:spPr>
          <a:xfrm>
            <a:off x="2651760" y="5303520"/>
            <a:ext cx="914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–</a:t>
            </a:r>
          </a:p>
        </p:txBody>
      </p:sp>
      <p:sp>
        <p:nvSpPr>
          <p:cNvPr id="959" name="aecell23"/>
          <p:cNvSpPr>
            <a:spLocks noGrp="1"/>
          </p:cNvSpPr>
          <p:nvPr/>
        </p:nvSpPr>
        <p:spPr>
          <a:xfrm>
            <a:off x="3520440" y="5303520"/>
            <a:ext cx="914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99.19%</a:t>
            </a:r>
          </a:p>
        </p:txBody>
      </p:sp>
      <p:sp>
        <p:nvSpPr>
          <p:cNvPr id="960" name="aecell24"/>
          <p:cNvSpPr>
            <a:spLocks noGrp="1"/>
          </p:cNvSpPr>
          <p:nvPr/>
        </p:nvSpPr>
        <p:spPr>
          <a:xfrm>
            <a:off x="4389120" y="5303520"/>
            <a:ext cx="100584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152,389</a:t>
            </a:r>
          </a:p>
        </p:txBody>
      </p:sp>
      <p:sp>
        <p:nvSpPr>
          <p:cNvPr id="961" name="aerow3"/>
          <p:cNvSpPr>
            <a:spLocks noGrp="1"/>
          </p:cNvSpPr>
          <p:nvPr/>
        </p:nvSpPr>
        <p:spPr>
          <a:xfrm>
            <a:off x="502920" y="5806440"/>
            <a:ext cx="5029200" cy="457200"/>
          </a:xfrm>
          <a:prstGeom prst="roundRect">
            <a:avLst>
              <a:gd name="adj" fmla="val 15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62" name="aecell30"/>
          <p:cNvSpPr>
            <a:spLocks noGrp="1"/>
          </p:cNvSpPr>
          <p:nvPr/>
        </p:nvSpPr>
        <p:spPr>
          <a:xfrm>
            <a:off x="502920" y="5806440"/>
            <a:ext cx="118872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Macro Avg</a:t>
            </a:r>
          </a:p>
        </p:txBody>
      </p:sp>
      <p:sp>
        <p:nvSpPr>
          <p:cNvPr id="963" name="aecell31"/>
          <p:cNvSpPr>
            <a:spLocks noGrp="1"/>
          </p:cNvSpPr>
          <p:nvPr/>
        </p:nvSpPr>
        <p:spPr>
          <a:xfrm>
            <a:off x="1737360" y="5806440"/>
            <a:ext cx="914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99.52%</a:t>
            </a:r>
          </a:p>
        </p:txBody>
      </p:sp>
      <p:sp>
        <p:nvSpPr>
          <p:cNvPr id="964" name="aecell32"/>
          <p:cNvSpPr>
            <a:spLocks noGrp="1"/>
          </p:cNvSpPr>
          <p:nvPr/>
        </p:nvSpPr>
        <p:spPr>
          <a:xfrm>
            <a:off x="2651760" y="5806440"/>
            <a:ext cx="914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97.43%</a:t>
            </a:r>
          </a:p>
        </p:txBody>
      </p:sp>
      <p:sp>
        <p:nvSpPr>
          <p:cNvPr id="965" name="aecell33"/>
          <p:cNvSpPr>
            <a:spLocks noGrp="1"/>
          </p:cNvSpPr>
          <p:nvPr/>
        </p:nvSpPr>
        <p:spPr>
          <a:xfrm>
            <a:off x="3520440" y="5806440"/>
            <a:ext cx="91440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98.44%</a:t>
            </a:r>
          </a:p>
        </p:txBody>
      </p:sp>
      <p:sp>
        <p:nvSpPr>
          <p:cNvPr id="966" name="aecell34"/>
          <p:cNvSpPr>
            <a:spLocks noGrp="1"/>
          </p:cNvSpPr>
          <p:nvPr/>
        </p:nvSpPr>
        <p:spPr>
          <a:xfrm>
            <a:off x="4389120" y="5806440"/>
            <a:ext cx="100584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152,389</a:t>
            </a:r>
          </a:p>
        </p:txBody>
      </p:sp>
      <p:sp>
        <p:nvSpPr>
          <p:cNvPr id="967" name="reshist"/>
          <p:cNvSpPr>
            <a:spLocks noGrp="1"/>
          </p:cNvSpPr>
          <p:nvPr/>
        </p:nvSpPr>
        <p:spPr>
          <a:xfrm>
            <a:off x="5852160" y="3429000"/>
            <a:ext cx="5943600" cy="30175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968" name="reshisthdr"/>
          <p:cNvSpPr>
            <a:spLocks noGrp="1"/>
          </p:cNvSpPr>
          <p:nvPr/>
        </p:nvSpPr>
        <p:spPr>
          <a:xfrm>
            <a:off x="5989320" y="3493008"/>
            <a:ext cx="566928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FF4C4C"/>
                </a:solidFill>
                <a:latin typeface="Segoe UI"/>
                <a:b/>
              </a:rPr>
              <a:t>Reconstruction Error Distribution</a:t>
            </a:r>
          </a:p>
        </p:txBody>
      </p:sp>
      <p:sp>
        <p:nvSpPr>
          <p:cNvPr id="969" name="nhb0"/>
          <p:cNvSpPr>
            <a:spLocks noGrp="1"/>
          </p:cNvSpPr>
          <p:nvPr/>
        </p:nvSpPr>
        <p:spPr>
          <a:xfrm>
            <a:off x="6035040" y="6088076"/>
            <a:ext cx="347472" cy="38404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70" name="nhb1"/>
          <p:cNvSpPr>
            <a:spLocks noGrp="1"/>
          </p:cNvSpPr>
          <p:nvPr/>
        </p:nvSpPr>
        <p:spPr>
          <a:xfrm>
            <a:off x="6537960" y="5972861"/>
            <a:ext cx="347472" cy="153619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71" name="nhb2"/>
          <p:cNvSpPr>
            <a:spLocks noGrp="1"/>
          </p:cNvSpPr>
          <p:nvPr/>
        </p:nvSpPr>
        <p:spPr>
          <a:xfrm>
            <a:off x="7040880" y="5704028"/>
            <a:ext cx="347472" cy="422452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72" name="ahb2"/>
          <p:cNvSpPr>
            <a:spLocks noGrp="1"/>
          </p:cNvSpPr>
          <p:nvPr/>
        </p:nvSpPr>
        <p:spPr>
          <a:xfrm>
            <a:off x="7223760" y="6107278"/>
            <a:ext cx="347472" cy="19202"/>
          </a:xfrm>
          <a:prstGeom prst="roundRect">
            <a:avLst>
              <a:gd name="adj" fmla="val 10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73" name="nhb3"/>
          <p:cNvSpPr>
            <a:spLocks noGrp="1"/>
          </p:cNvSpPr>
          <p:nvPr/>
        </p:nvSpPr>
        <p:spPr>
          <a:xfrm>
            <a:off x="7543800" y="5070348"/>
            <a:ext cx="347472" cy="1056132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74" name="ahb3"/>
          <p:cNvSpPr>
            <a:spLocks noGrp="1"/>
          </p:cNvSpPr>
          <p:nvPr/>
        </p:nvSpPr>
        <p:spPr>
          <a:xfrm>
            <a:off x="7726680" y="6068873"/>
            <a:ext cx="347472" cy="57607"/>
          </a:xfrm>
          <a:prstGeom prst="roundRect">
            <a:avLst>
              <a:gd name="adj" fmla="val 10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75" name="nhb4"/>
          <p:cNvSpPr>
            <a:spLocks noGrp="1"/>
          </p:cNvSpPr>
          <p:nvPr/>
        </p:nvSpPr>
        <p:spPr>
          <a:xfrm>
            <a:off x="8046720" y="4494276"/>
            <a:ext cx="347472" cy="1632204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76" name="ahb4"/>
          <p:cNvSpPr>
            <a:spLocks noGrp="1"/>
          </p:cNvSpPr>
          <p:nvPr/>
        </p:nvSpPr>
        <p:spPr>
          <a:xfrm>
            <a:off x="8229600" y="5972861"/>
            <a:ext cx="347472" cy="153619"/>
          </a:xfrm>
          <a:prstGeom prst="roundRect">
            <a:avLst>
              <a:gd name="adj" fmla="val 10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77" name="nhb5"/>
          <p:cNvSpPr>
            <a:spLocks noGrp="1"/>
          </p:cNvSpPr>
          <p:nvPr/>
        </p:nvSpPr>
        <p:spPr>
          <a:xfrm>
            <a:off x="8549640" y="4206240"/>
            <a:ext cx="347472" cy="1920240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78" name="ahb5"/>
          <p:cNvSpPr>
            <a:spLocks noGrp="1"/>
          </p:cNvSpPr>
          <p:nvPr/>
        </p:nvSpPr>
        <p:spPr>
          <a:xfrm>
            <a:off x="8732520" y="5857647"/>
            <a:ext cx="347472" cy="268833"/>
          </a:xfrm>
          <a:prstGeom prst="roundRect">
            <a:avLst>
              <a:gd name="adj" fmla="val 10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79" name="nhb6"/>
          <p:cNvSpPr>
            <a:spLocks noGrp="1"/>
          </p:cNvSpPr>
          <p:nvPr/>
        </p:nvSpPr>
        <p:spPr>
          <a:xfrm>
            <a:off x="9052560" y="4782312"/>
            <a:ext cx="347472" cy="1344168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80" name="ahb6"/>
          <p:cNvSpPr>
            <a:spLocks noGrp="1"/>
          </p:cNvSpPr>
          <p:nvPr/>
        </p:nvSpPr>
        <p:spPr>
          <a:xfrm>
            <a:off x="9235440" y="5646420"/>
            <a:ext cx="347472" cy="480060"/>
          </a:xfrm>
          <a:prstGeom prst="roundRect">
            <a:avLst>
              <a:gd name="adj" fmla="val 10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81" name="nhb7"/>
          <p:cNvSpPr>
            <a:spLocks noGrp="1"/>
          </p:cNvSpPr>
          <p:nvPr/>
        </p:nvSpPr>
        <p:spPr>
          <a:xfrm>
            <a:off x="9555480" y="5396789"/>
            <a:ext cx="347472" cy="729691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82" name="ahb7"/>
          <p:cNvSpPr>
            <a:spLocks noGrp="1"/>
          </p:cNvSpPr>
          <p:nvPr/>
        </p:nvSpPr>
        <p:spPr>
          <a:xfrm>
            <a:off x="9738360" y="5262372"/>
            <a:ext cx="347472" cy="864108"/>
          </a:xfrm>
          <a:prstGeom prst="roundRect">
            <a:avLst>
              <a:gd name="adj" fmla="val 10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83" name="nhb8"/>
          <p:cNvSpPr>
            <a:spLocks noGrp="1"/>
          </p:cNvSpPr>
          <p:nvPr/>
        </p:nvSpPr>
        <p:spPr>
          <a:xfrm>
            <a:off x="10058400" y="5896052"/>
            <a:ext cx="347472" cy="230428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84" name="ahb8"/>
          <p:cNvSpPr>
            <a:spLocks noGrp="1"/>
          </p:cNvSpPr>
          <p:nvPr/>
        </p:nvSpPr>
        <p:spPr>
          <a:xfrm>
            <a:off x="10241280" y="4743908"/>
            <a:ext cx="347472" cy="1382572"/>
          </a:xfrm>
          <a:prstGeom prst="roundRect">
            <a:avLst>
              <a:gd name="adj" fmla="val 10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85" name="nhb9"/>
          <p:cNvSpPr>
            <a:spLocks noGrp="1"/>
          </p:cNvSpPr>
          <p:nvPr/>
        </p:nvSpPr>
        <p:spPr>
          <a:xfrm>
            <a:off x="10561320" y="6049671"/>
            <a:ext cx="347472" cy="76809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86" name="ahb9"/>
          <p:cNvSpPr>
            <a:spLocks noGrp="1"/>
          </p:cNvSpPr>
          <p:nvPr/>
        </p:nvSpPr>
        <p:spPr>
          <a:xfrm>
            <a:off x="10744200" y="4302252"/>
            <a:ext cx="347472" cy="1824228"/>
          </a:xfrm>
          <a:prstGeom prst="roundRect">
            <a:avLst>
              <a:gd name="adj" fmla="val 10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87" name="resthresh"/>
          <p:cNvSpPr>
            <a:spLocks noGrp="1"/>
          </p:cNvSpPr>
          <p:nvPr/>
        </p:nvSpPr>
        <p:spPr>
          <a:xfrm>
            <a:off x="8046720" y="3931920"/>
            <a:ext cx="36576" cy="2240280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88" name="restlbl"/>
          <p:cNvSpPr>
            <a:spLocks noGrp="1"/>
          </p:cNvSpPr>
          <p:nvPr/>
        </p:nvSpPr>
        <p:spPr>
          <a:xfrm>
            <a:off x="7498080" y="3749039"/>
            <a:ext cx="137160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00D4FF"/>
                </a:solidFill>
                <a:latin typeface="Segoe UI"/>
                <a:b/>
              </a:rPr>
              <a:t>Threshold</a:t>
            </a:r>
          </a:p>
        </p:txBody>
      </p:sp>
      <p:sp>
        <p:nvSpPr>
          <p:cNvPr id="989" name="lowlbl"/>
          <p:cNvSpPr>
            <a:spLocks noGrp="1"/>
          </p:cNvSpPr>
          <p:nvPr/>
        </p:nvSpPr>
        <p:spPr>
          <a:xfrm>
            <a:off x="6035040" y="6172200"/>
            <a:ext cx="1828800" cy="228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0" dirty="0">
                <a:solidFill>
                  <a:srgbClr val="00FF88"/>
                </a:solidFill>
                <a:latin typeface="Segoe UI"/>
              </a:rPr>
              <a:t>Low Error →</a:t>
            </a:r>
          </a:p>
        </p:txBody>
      </p:sp>
      <p:sp>
        <p:nvSpPr>
          <p:cNvPr id="990" name="highlbl"/>
          <p:cNvSpPr>
            <a:spLocks noGrp="1"/>
          </p:cNvSpPr>
          <p:nvPr/>
        </p:nvSpPr>
        <p:spPr>
          <a:xfrm>
            <a:off x="9235440" y="6172200"/>
            <a:ext cx="2286000" cy="228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0" dirty="0">
                <a:solidFill>
                  <a:srgbClr val="FF4C4C"/>
                </a:solidFill>
                <a:latin typeface="Segoe UI"/>
              </a:rPr>
              <a:t>← High Error</a:t>
            </a:r>
          </a:p>
        </p:txBody>
      </p:sp>
      <p:sp>
        <p:nvSpPr>
          <p:cNvPr id="991" name="leg1"/>
          <p:cNvSpPr>
            <a:spLocks noGrp="1"/>
          </p:cNvSpPr>
          <p:nvPr/>
        </p:nvSpPr>
        <p:spPr>
          <a:xfrm>
            <a:off x="6035040" y="5897880"/>
            <a:ext cx="228600" cy="182880"/>
          </a:xfrm>
          <a:prstGeom prst="roundRect">
            <a:avLst>
              <a:gd name="adj" fmla="val 1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92" name="leg1t"/>
          <p:cNvSpPr>
            <a:spLocks noGrp="1"/>
          </p:cNvSpPr>
          <p:nvPr/>
        </p:nvSpPr>
        <p:spPr>
          <a:xfrm>
            <a:off x="6309360" y="5870448"/>
            <a:ext cx="1371600" cy="228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1" dirty="0">
                <a:solidFill>
                  <a:srgbClr val="00FF88"/>
                </a:solidFill>
                <a:latin typeface="Segoe UI"/>
              </a:rPr>
              <a:t>Normal Traffic</a:t>
            </a:r>
          </a:p>
        </p:txBody>
      </p:sp>
      <p:sp>
        <p:nvSpPr>
          <p:cNvPr id="993" name="leg2"/>
          <p:cNvSpPr>
            <a:spLocks noGrp="1"/>
          </p:cNvSpPr>
          <p:nvPr/>
        </p:nvSpPr>
        <p:spPr>
          <a:xfrm>
            <a:off x="7863840" y="5897880"/>
            <a:ext cx="228600" cy="182880"/>
          </a:xfrm>
          <a:prstGeom prst="roundRect">
            <a:avLst>
              <a:gd name="adj" fmla="val 10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94" name="leg2t"/>
          <p:cNvSpPr>
            <a:spLocks noGrp="1"/>
          </p:cNvSpPr>
          <p:nvPr/>
        </p:nvSpPr>
        <p:spPr>
          <a:xfrm>
            <a:off x="8138160" y="5870448"/>
            <a:ext cx="1371600" cy="228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1" dirty="0">
                <a:solidFill>
                  <a:srgbClr val="FF4C4C"/>
                </a:solidFill>
                <a:latin typeface="Segoe UI"/>
              </a:rPr>
              <a:t>Attack Traffic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995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96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97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998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999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Why a Fusion Model?</a:t>
            </a:r>
          </a:p>
        </p:txBody>
      </p:sp>
      <p:sp>
        <p:nvSpPr>
          <p:cNvPr id="1000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01" name="fusionintro"/>
          <p:cNvSpPr>
            <a:spLocks noGrp="1"/>
          </p:cNvSpPr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B0C4DE"/>
                </a:solidFill>
                <a:latin typeface="Segoe UI"/>
              </a:rPr>
              <a:t>Neither LightGBM nor Autoencoder alone achieves complete intrusion detection. Their complementary strengths make Fusion the optimal solution.</a:t>
            </a:r>
          </a:p>
        </p:txBody>
      </p:sp>
      <p:sp>
        <p:nvSpPr>
          <p:cNvPr id="1002" name="lgbfw"/>
          <p:cNvSpPr>
            <a:spLocks noGrp="1"/>
          </p:cNvSpPr>
          <p:nvPr/>
        </p:nvSpPr>
        <p:spPr>
          <a:xfrm>
            <a:off x="365760" y="1600200"/>
            <a:ext cx="3611880" cy="48463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003" name="lgbfwhdr"/>
          <p:cNvSpPr>
            <a:spLocks noGrp="1"/>
          </p:cNvSpPr>
          <p:nvPr/>
        </p:nvSpPr>
        <p:spPr>
          <a:xfrm>
            <a:off x="502920" y="1664208"/>
            <a:ext cx="333756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7" dirty="0">
                <a:solidFill>
                  <a:srgbClr val="FFB800"/>
                </a:solidFill>
                <a:latin typeface="Segoe UI"/>
                <a:b/>
              </a:rPr>
              <a:t>🌿  LightGBM</a:t>
            </a:r>
          </a:p>
        </p:txBody>
      </p:sp>
      <p:sp>
        <p:nvSpPr>
          <p:cNvPr id="1004" name="lgbstr"/>
          <p:cNvSpPr>
            <a:spLocks noGrp="1"/>
          </p:cNvSpPr>
          <p:nvPr/>
        </p:nvSpPr>
        <p:spPr>
          <a:xfrm>
            <a:off x="502920" y="2194560"/>
            <a:ext cx="33375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FF88"/>
                </a:solidFill>
                <a:latin typeface="Segoe UI"/>
                <a:b/>
              </a:rPr>
              <a:t>✅  Strengths</a:t>
            </a:r>
          </a:p>
        </p:txBody>
      </p:sp>
      <p:sp>
        <p:nvSpPr>
          <p:cNvPr id="1005" name="lstr0"/>
          <p:cNvSpPr>
            <a:spLocks noGrp="1"/>
          </p:cNvSpPr>
          <p:nvPr/>
        </p:nvSpPr>
        <p:spPr>
          <a:xfrm>
            <a:off x="548640" y="2542032"/>
            <a:ext cx="3291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FF88"/>
                </a:solidFill>
                <a:latin typeface="Segoe UI"/>
              </a:rPr>
              <a:t>  ✓  99.99% on known attacks</a:t>
            </a:r>
          </a:p>
        </p:txBody>
      </p:sp>
      <p:sp>
        <p:nvSpPr>
          <p:cNvPr id="1006" name="lstr1"/>
          <p:cNvSpPr>
            <a:spLocks noGrp="1"/>
          </p:cNvSpPr>
          <p:nvPr/>
        </p:nvSpPr>
        <p:spPr>
          <a:xfrm>
            <a:off x="548640" y="2926080"/>
            <a:ext cx="3291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FF88"/>
                </a:solidFill>
                <a:latin typeface="Segoe UI"/>
              </a:rPr>
              <a:t>  ✓  Names the specific attack type</a:t>
            </a:r>
          </a:p>
        </p:txBody>
      </p:sp>
      <p:sp>
        <p:nvSpPr>
          <p:cNvPr id="1007" name="lstr2"/>
          <p:cNvSpPr>
            <a:spLocks noGrp="1"/>
          </p:cNvSpPr>
          <p:nvPr/>
        </p:nvSpPr>
        <p:spPr>
          <a:xfrm>
            <a:off x="548640" y="3310128"/>
            <a:ext cx="3291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FF88"/>
                </a:solidFill>
                <a:latin typeface="Segoe UI"/>
              </a:rPr>
              <a:t>  ✓  Fast, lightweight inference</a:t>
            </a:r>
          </a:p>
        </p:txBody>
      </p:sp>
      <p:sp>
        <p:nvSpPr>
          <p:cNvPr id="1008" name="lgbwkhdr"/>
          <p:cNvSpPr>
            <a:spLocks noGrp="1"/>
          </p:cNvSpPr>
          <p:nvPr/>
        </p:nvSpPr>
        <p:spPr>
          <a:xfrm>
            <a:off x="502920" y="3794760"/>
            <a:ext cx="33375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4C4C"/>
                </a:solidFill>
                <a:latin typeface="Segoe UI"/>
                <a:b/>
              </a:rPr>
              <a:t>❌  Weakness</a:t>
            </a:r>
          </a:p>
        </p:txBody>
      </p:sp>
      <p:sp>
        <p:nvSpPr>
          <p:cNvPr id="1009" name="lwk0"/>
          <p:cNvSpPr>
            <a:spLocks noGrp="1"/>
          </p:cNvSpPr>
          <p:nvPr/>
        </p:nvSpPr>
        <p:spPr>
          <a:xfrm>
            <a:off x="548640" y="4142232"/>
            <a:ext cx="3291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4C4C"/>
                </a:solidFill>
                <a:latin typeface="Segoe UI"/>
              </a:rPr>
              <a:t>  ✗  Cannot generalise to unseen attacks</a:t>
            </a:r>
          </a:p>
        </p:txBody>
      </p:sp>
      <p:sp>
        <p:nvSpPr>
          <p:cNvPr id="1010" name="lwk1"/>
          <p:cNvSpPr>
            <a:spLocks noGrp="1"/>
          </p:cNvSpPr>
          <p:nvPr/>
        </p:nvSpPr>
        <p:spPr>
          <a:xfrm>
            <a:off x="548640" y="4526280"/>
            <a:ext cx="3291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4C4C"/>
                </a:solidFill>
                <a:latin typeface="Segoe UI"/>
              </a:rPr>
              <a:t>  ✗  Predicts wrong class for zero-days</a:t>
            </a:r>
          </a:p>
        </p:txBody>
      </p:sp>
      <p:sp>
        <p:nvSpPr>
          <p:cNvPr id="1011" name="lwk2"/>
          <p:cNvSpPr>
            <a:spLocks noGrp="1"/>
          </p:cNvSpPr>
          <p:nvPr/>
        </p:nvSpPr>
        <p:spPr>
          <a:xfrm>
            <a:off x="548640" y="4910328"/>
            <a:ext cx="3291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4C4C"/>
                </a:solidFill>
                <a:latin typeface="Segoe UI"/>
              </a:rPr>
              <a:t>  ✗  Blind to novel threat patterns</a:t>
            </a:r>
          </a:p>
        </p:txBody>
      </p:sp>
      <p:sp>
        <p:nvSpPr>
          <p:cNvPr id="1012" name="aefw"/>
          <p:cNvSpPr>
            <a:spLocks noGrp="1"/>
          </p:cNvSpPr>
          <p:nvPr/>
        </p:nvSpPr>
        <p:spPr>
          <a:xfrm>
            <a:off x="4206240" y="1600200"/>
            <a:ext cx="3611880" cy="48463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013" name="aefwhdr"/>
          <p:cNvSpPr>
            <a:spLocks noGrp="1"/>
          </p:cNvSpPr>
          <p:nvPr/>
        </p:nvSpPr>
        <p:spPr>
          <a:xfrm>
            <a:off x="4343400" y="1664208"/>
            <a:ext cx="333756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7" dirty="0">
                <a:solidFill>
                  <a:srgbClr val="00FF88"/>
                </a:solidFill>
                <a:latin typeface="Segoe UI"/>
                <a:b/>
              </a:rPr>
              <a:t>🧠  Autoencoder</a:t>
            </a:r>
          </a:p>
        </p:txBody>
      </p:sp>
      <p:sp>
        <p:nvSpPr>
          <p:cNvPr id="1014" name="aestr"/>
          <p:cNvSpPr>
            <a:spLocks noGrp="1"/>
          </p:cNvSpPr>
          <p:nvPr/>
        </p:nvSpPr>
        <p:spPr>
          <a:xfrm>
            <a:off x="4343400" y="2194560"/>
            <a:ext cx="33375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FF88"/>
                </a:solidFill>
                <a:latin typeface="Segoe UI"/>
                <a:b/>
              </a:rPr>
              <a:t>✅  Strengths</a:t>
            </a:r>
          </a:p>
        </p:txBody>
      </p:sp>
      <p:sp>
        <p:nvSpPr>
          <p:cNvPr id="1015" name="aestr0"/>
          <p:cNvSpPr>
            <a:spLocks noGrp="1"/>
          </p:cNvSpPr>
          <p:nvPr/>
        </p:nvSpPr>
        <p:spPr>
          <a:xfrm>
            <a:off x="4389120" y="2542032"/>
            <a:ext cx="3291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FF88"/>
                </a:solidFill>
                <a:latin typeface="Segoe UI"/>
              </a:rPr>
              <a:t>  ✓  Detects zero-day / unseen attacks</a:t>
            </a:r>
          </a:p>
        </p:txBody>
      </p:sp>
      <p:sp>
        <p:nvSpPr>
          <p:cNvPr id="1016" name="aestr1"/>
          <p:cNvSpPr>
            <a:spLocks noGrp="1"/>
          </p:cNvSpPr>
          <p:nvPr/>
        </p:nvSpPr>
        <p:spPr>
          <a:xfrm>
            <a:off x="4389120" y="2926080"/>
            <a:ext cx="3291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FF88"/>
                </a:solidFill>
                <a:latin typeface="Segoe UI"/>
              </a:rPr>
              <a:t>  ✓  No labelled attack data needed</a:t>
            </a:r>
          </a:p>
        </p:txBody>
      </p:sp>
      <p:sp>
        <p:nvSpPr>
          <p:cNvPr id="1017" name="aestr2"/>
          <p:cNvSpPr>
            <a:spLocks noGrp="1"/>
          </p:cNvSpPr>
          <p:nvPr/>
        </p:nvSpPr>
        <p:spPr>
          <a:xfrm>
            <a:off x="4389120" y="3310128"/>
            <a:ext cx="3291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FF88"/>
                </a:solidFill>
                <a:latin typeface="Segoe UI"/>
              </a:rPr>
              <a:t>  ✓  Generalises beyond training data</a:t>
            </a:r>
          </a:p>
        </p:txBody>
      </p:sp>
      <p:sp>
        <p:nvSpPr>
          <p:cNvPr id="1018" name="aewkhdr"/>
          <p:cNvSpPr>
            <a:spLocks noGrp="1"/>
          </p:cNvSpPr>
          <p:nvPr/>
        </p:nvSpPr>
        <p:spPr>
          <a:xfrm>
            <a:off x="4343400" y="3794760"/>
            <a:ext cx="33375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4C4C"/>
                </a:solidFill>
                <a:latin typeface="Segoe UI"/>
                <a:b/>
              </a:rPr>
              <a:t>❌  Weakness</a:t>
            </a:r>
          </a:p>
        </p:txBody>
      </p:sp>
      <p:sp>
        <p:nvSpPr>
          <p:cNvPr id="1019" name="aewk0"/>
          <p:cNvSpPr>
            <a:spLocks noGrp="1"/>
          </p:cNvSpPr>
          <p:nvPr/>
        </p:nvSpPr>
        <p:spPr>
          <a:xfrm>
            <a:off x="4389120" y="4142232"/>
            <a:ext cx="3291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4C4C"/>
                </a:solidFill>
                <a:latin typeface="Segoe UI"/>
              </a:rPr>
              <a:t>  ✗  Cannot name specific attack types</a:t>
            </a:r>
          </a:p>
        </p:txBody>
      </p:sp>
      <p:sp>
        <p:nvSpPr>
          <p:cNvPr id="1020" name="aewk1"/>
          <p:cNvSpPr>
            <a:spLocks noGrp="1"/>
          </p:cNvSpPr>
          <p:nvPr/>
        </p:nvSpPr>
        <p:spPr>
          <a:xfrm>
            <a:off x="4389120" y="4526280"/>
            <a:ext cx="3291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4C4C"/>
                </a:solidFill>
                <a:latin typeface="Segoe UI"/>
              </a:rPr>
              <a:t>  ✗  Higher false positive rate</a:t>
            </a:r>
          </a:p>
        </p:txBody>
      </p:sp>
      <p:sp>
        <p:nvSpPr>
          <p:cNvPr id="1021" name="aewk2"/>
          <p:cNvSpPr>
            <a:spLocks noGrp="1"/>
          </p:cNvSpPr>
          <p:nvPr/>
        </p:nvSpPr>
        <p:spPr>
          <a:xfrm>
            <a:off x="4389120" y="4910328"/>
            <a:ext cx="32918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4C4C"/>
                </a:solidFill>
                <a:latin typeface="Segoe UI"/>
              </a:rPr>
              <a:t>  ✗  Threshold sensitivity issue</a:t>
            </a:r>
          </a:p>
        </p:txBody>
      </p:sp>
      <p:sp>
        <p:nvSpPr>
          <p:cNvPr id="1022" name="fuscard"/>
          <p:cNvSpPr>
            <a:spLocks noGrp="1"/>
          </p:cNvSpPr>
          <p:nvPr/>
        </p:nvSpPr>
        <p:spPr>
          <a:xfrm>
            <a:off x="8046720" y="1600200"/>
            <a:ext cx="3749039" cy="48463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023" name="fusfwhdr"/>
          <p:cNvSpPr>
            <a:spLocks noGrp="1"/>
          </p:cNvSpPr>
          <p:nvPr/>
        </p:nvSpPr>
        <p:spPr>
          <a:xfrm>
            <a:off x="8183879" y="1664208"/>
            <a:ext cx="3474720" cy="43891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7" dirty="0">
                <a:solidFill>
                  <a:srgbClr val="00D4FF"/>
                </a:solidFill>
                <a:latin typeface="Segoe UI"/>
                <a:b/>
              </a:rPr>
              <a:t>🔀  Fusion Model</a:t>
            </a:r>
          </a:p>
        </p:txBody>
      </p:sp>
      <p:sp>
        <p:nvSpPr>
          <p:cNvPr id="1024" name="fusstr"/>
          <p:cNvSpPr>
            <a:spLocks noGrp="1"/>
          </p:cNvSpPr>
          <p:nvPr/>
        </p:nvSpPr>
        <p:spPr>
          <a:xfrm>
            <a:off x="8183879" y="2194560"/>
            <a:ext cx="347472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🏆  Combined Strengths</a:t>
            </a:r>
          </a:p>
        </p:txBody>
      </p:sp>
      <p:sp>
        <p:nvSpPr>
          <p:cNvPr id="1025" name="fpt0"/>
          <p:cNvSpPr>
            <a:spLocks noGrp="1"/>
          </p:cNvSpPr>
          <p:nvPr/>
        </p:nvSpPr>
        <p:spPr>
          <a:xfrm>
            <a:off x="8229600" y="2542032"/>
            <a:ext cx="34290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D4FF"/>
                </a:solidFill>
                <a:latin typeface="Segoe UI"/>
              </a:rPr>
              <a:t>  ★  Routes known attacks through LightGBM</a:t>
            </a:r>
          </a:p>
        </p:txBody>
      </p:sp>
      <p:sp>
        <p:nvSpPr>
          <p:cNvPr id="1026" name="fpt1"/>
          <p:cNvSpPr>
            <a:spLocks noGrp="1"/>
          </p:cNvSpPr>
          <p:nvPr/>
        </p:nvSpPr>
        <p:spPr>
          <a:xfrm>
            <a:off x="8229600" y="2999232"/>
            <a:ext cx="34290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D4FF"/>
                </a:solidFill>
                <a:latin typeface="Segoe UI"/>
              </a:rPr>
              <a:t>  ★  Routes suspicious traffic through AE</a:t>
            </a:r>
          </a:p>
        </p:txBody>
      </p:sp>
      <p:sp>
        <p:nvSpPr>
          <p:cNvPr id="1027" name="fpt2"/>
          <p:cNvSpPr>
            <a:spLocks noGrp="1"/>
          </p:cNvSpPr>
          <p:nvPr/>
        </p:nvSpPr>
        <p:spPr>
          <a:xfrm>
            <a:off x="8229600" y="3456432"/>
            <a:ext cx="34290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FF88"/>
                </a:solidFill>
                <a:latin typeface="Segoe UI"/>
                <a:b/>
              </a:rPr>
              <a:t>  ★  97% zero-day detection accuracy</a:t>
            </a:r>
          </a:p>
        </p:txBody>
      </p:sp>
      <p:sp>
        <p:nvSpPr>
          <p:cNvPr id="1028" name="fpt3"/>
          <p:cNvSpPr>
            <a:spLocks noGrp="1"/>
          </p:cNvSpPr>
          <p:nvPr/>
        </p:nvSpPr>
        <p:spPr>
          <a:xfrm>
            <a:off x="8229600" y="3913632"/>
            <a:ext cx="34290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  ★  Reduced false positive rate</a:t>
            </a:r>
          </a:p>
        </p:txBody>
      </p:sp>
      <p:sp>
        <p:nvSpPr>
          <p:cNvPr id="1029" name="fpt4"/>
          <p:cNvSpPr>
            <a:spLocks noGrp="1"/>
          </p:cNvSpPr>
          <p:nvPr/>
        </p:nvSpPr>
        <p:spPr>
          <a:xfrm>
            <a:off x="8229600" y="4370832"/>
            <a:ext cx="34290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  ★  Best of both supervised + unsupervised</a:t>
            </a:r>
          </a:p>
        </p:txBody>
      </p:sp>
      <p:sp>
        <p:nvSpPr>
          <p:cNvPr id="1030" name="fpt5"/>
          <p:cNvSpPr>
            <a:spLocks noGrp="1"/>
          </p:cNvSpPr>
          <p:nvPr/>
        </p:nvSpPr>
        <p:spPr>
          <a:xfrm>
            <a:off x="8229600" y="4828032"/>
            <a:ext cx="3429000" cy="384048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  ★  Single end-to-end IDS pipeline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1031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32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33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34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1035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Fusion Model Decision Workflow</a:t>
            </a:r>
          </a:p>
        </p:txBody>
      </p:sp>
      <p:sp>
        <p:nvSpPr>
          <p:cNvPr id="1036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37" name="fusionsub"/>
          <p:cNvSpPr>
            <a:spLocks noGrp="1"/>
          </p:cNvSpPr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5" dirty="0">
                <a:solidFill>
                  <a:srgbClr val="00D4FF"/>
                </a:solidFill>
                <a:latin typeface="Segoe UI"/>
                <a:i/>
              </a:rPr>
              <a:t>Evaluated on: 24,152 Normal + 31,096 Zero-Day = 55,248 unseen test samples</a:t>
            </a:r>
          </a:p>
        </p:txBody>
      </p:sp>
      <p:sp>
        <p:nvSpPr>
          <p:cNvPr id="1038" name="fbox"/>
          <p:cNvSpPr>
            <a:spLocks noGrp="1"/>
          </p:cNvSpPr>
          <p:nvPr/>
        </p:nvSpPr>
        <p:spPr>
          <a:xfrm>
            <a:off x="4631436" y="1508760"/>
            <a:ext cx="2926080" cy="777240"/>
          </a:xfrm>
          <a:prstGeom prst="roundRect">
            <a:avLst>
              <a:gd name="adj" fmla="val 60000"/>
            </a:avLst>
          </a:prstGeom>
          <a:solidFill>
            <a:srgbClr val="0A1628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FFFFFF"/>
                </a:solidFill>
                <a:latin typeface="Segoe UI"/>
              </a:rPr>
              <a:t>🌐  IoT Traffic Input</a:t>
            </a:r>
          </a:p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55,248 test samples (Normal + Zero-Day)</a:t>
            </a:r>
          </a:p>
        </p:txBody>
      </p:sp>
      <p:sp>
        <p:nvSpPr>
          <p:cNvPr id="1039" name="arrow"/>
          <p:cNvSpPr>
            <a:spLocks noGrp="1"/>
          </p:cNvSpPr>
          <p:nvPr/>
        </p:nvSpPr>
        <p:spPr>
          <a:xfrm>
            <a:off x="5934456" y="2286000"/>
            <a:ext cx="320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▼</a:t>
            </a:r>
          </a:p>
        </p:txBody>
      </p:sp>
      <p:sp>
        <p:nvSpPr>
          <p:cNvPr id="1040" name="fbox"/>
          <p:cNvSpPr>
            <a:spLocks noGrp="1"/>
          </p:cNvSpPr>
          <p:nvPr/>
        </p:nvSpPr>
        <p:spPr>
          <a:xfrm>
            <a:off x="4631436" y="2487168"/>
            <a:ext cx="2926080" cy="7772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FFFFFF"/>
                </a:solidFill>
                <a:latin typeface="Segoe UI"/>
              </a:rPr>
              <a:t>🌿  LightGBM Prediction</a:t>
            </a:r>
          </a:p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Predict class + confidence score</a:t>
            </a:r>
          </a:p>
        </p:txBody>
      </p:sp>
      <p:sp>
        <p:nvSpPr>
          <p:cNvPr id="1041" name="arrow"/>
          <p:cNvSpPr>
            <a:spLocks noGrp="1"/>
          </p:cNvSpPr>
          <p:nvPr/>
        </p:nvSpPr>
        <p:spPr>
          <a:xfrm>
            <a:off x="5934456" y="3264408"/>
            <a:ext cx="320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▼</a:t>
            </a:r>
          </a:p>
        </p:txBody>
      </p:sp>
      <p:sp>
        <p:nvSpPr>
          <p:cNvPr id="1042" name="diamond"/>
          <p:cNvSpPr>
            <a:spLocks noGrp="1"/>
          </p:cNvSpPr>
          <p:nvPr/>
        </p:nvSpPr>
        <p:spPr>
          <a:xfrm>
            <a:off x="4174236" y="3465576"/>
            <a:ext cx="3840480" cy="914400"/>
          </a:xfrm>
          <a:prstGeom prst="roundRect">
            <a:avLst>
              <a:gd name="adj" fmla="val 166666"/>
            </a:avLst>
          </a:prstGeom>
          <a:solidFill>
            <a:srgbClr val="FFB800"/>
          </a:solidFill>
          <a:ln w="12700">
            <a:solidFill>
              <a:srgbClr val="FFFF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15" dirty="0">
                <a:solidFill>
                  <a:srgbClr val="050B1F"/>
                </a:solidFill>
                <a:latin typeface="Segoe UI"/>
                <a:b/>
              </a:rPr>
              <a:t>LightGBM says 'Normal'
&amp; Confidence ≥ 90%?</a:t>
            </a:r>
          </a:p>
        </p:txBody>
      </p:sp>
      <p:sp>
        <p:nvSpPr>
          <p:cNvPr id="1043" name="arrowr"/>
          <p:cNvSpPr>
            <a:spLocks noGrp="1"/>
          </p:cNvSpPr>
          <p:nvPr/>
        </p:nvSpPr>
        <p:spPr>
          <a:xfrm>
            <a:off x="8014716" y="3794760"/>
            <a:ext cx="64008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1044" name="fbox"/>
          <p:cNvSpPr>
            <a:spLocks noGrp="1"/>
          </p:cNvSpPr>
          <p:nvPr/>
        </p:nvSpPr>
        <p:spPr>
          <a:xfrm>
            <a:off x="8654796" y="3374136"/>
            <a:ext cx="2926080" cy="109728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15" dirty="0">
                <a:solidFill>
                  <a:srgbClr val="FFFFFF"/>
                </a:solidFill>
                <a:latin typeface="Segoe UI"/>
              </a:rPr>
              <a:t>✅  Accept as NORMAL</a:t>
            </a:r>
          </a:p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High-confidence Normal verdict
from LightGBM is trusted</a:t>
            </a:r>
          </a:p>
        </p:txBody>
      </p:sp>
      <p:sp>
        <p:nvSpPr>
          <p:cNvPr id="1045" name="yesl"/>
          <p:cNvSpPr>
            <a:spLocks noGrp="1"/>
          </p:cNvSpPr>
          <p:nvPr/>
        </p:nvSpPr>
        <p:spPr>
          <a:xfrm>
            <a:off x="8289036" y="3099816"/>
            <a:ext cx="73152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FF88"/>
                </a:solidFill>
                <a:latin typeface="Segoe UI"/>
                <a:b/>
              </a:rPr>
              <a:t>YES</a:t>
            </a:r>
          </a:p>
        </p:txBody>
      </p:sp>
      <p:sp>
        <p:nvSpPr>
          <p:cNvPr id="1046" name="arrow"/>
          <p:cNvSpPr>
            <a:spLocks noGrp="1"/>
          </p:cNvSpPr>
          <p:nvPr/>
        </p:nvSpPr>
        <p:spPr>
          <a:xfrm>
            <a:off x="5934456" y="4379976"/>
            <a:ext cx="320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▼</a:t>
            </a:r>
          </a:p>
        </p:txBody>
      </p:sp>
      <p:sp>
        <p:nvSpPr>
          <p:cNvPr id="1047" name="nol"/>
          <p:cNvSpPr>
            <a:spLocks noGrp="1"/>
          </p:cNvSpPr>
          <p:nvPr/>
        </p:nvSpPr>
        <p:spPr>
          <a:xfrm>
            <a:off x="6231636" y="4398264"/>
            <a:ext cx="54864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4" dirty="0">
                <a:solidFill>
                  <a:srgbClr val="FF4C4C"/>
                </a:solidFill>
                <a:latin typeface="Segoe UI"/>
                <a:b/>
              </a:rPr>
              <a:t>NO</a:t>
            </a:r>
          </a:p>
        </p:txBody>
      </p:sp>
      <p:sp>
        <p:nvSpPr>
          <p:cNvPr id="1048" name="fbox"/>
          <p:cNvSpPr>
            <a:spLocks noGrp="1"/>
          </p:cNvSpPr>
          <p:nvPr/>
        </p:nvSpPr>
        <p:spPr>
          <a:xfrm>
            <a:off x="4631436" y="4727448"/>
            <a:ext cx="2926080" cy="7772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FFFFFF"/>
                </a:solidFill>
                <a:latin typeface="Segoe UI"/>
              </a:rPr>
              <a:t>🧠  Autoencoder Evaluation</a:t>
            </a:r>
          </a:p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Compute reconstruction error (MSE)</a:t>
            </a:r>
          </a:p>
        </p:txBody>
      </p:sp>
      <p:sp>
        <p:nvSpPr>
          <p:cNvPr id="1049" name="arrow"/>
          <p:cNvSpPr>
            <a:spLocks noGrp="1"/>
          </p:cNvSpPr>
          <p:nvPr/>
        </p:nvSpPr>
        <p:spPr>
          <a:xfrm>
            <a:off x="5934456" y="5504688"/>
            <a:ext cx="320040" cy="3200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▼</a:t>
            </a:r>
          </a:p>
        </p:txBody>
      </p:sp>
      <p:sp>
        <p:nvSpPr>
          <p:cNvPr id="1050" name="aedia"/>
          <p:cNvSpPr>
            <a:spLocks noGrp="1"/>
          </p:cNvSpPr>
          <p:nvPr/>
        </p:nvSpPr>
        <p:spPr>
          <a:xfrm>
            <a:off x="4174236" y="5824728"/>
            <a:ext cx="3840480" cy="914400"/>
          </a:xfrm>
          <a:prstGeom prst="roundRect">
            <a:avLst>
              <a:gd name="adj" fmla="val 166666"/>
            </a:avLst>
          </a:prstGeom>
          <a:solidFill>
            <a:srgbClr val="00FF88"/>
          </a:solidFill>
          <a:ln w="12700">
            <a:solidFill>
              <a:srgbClr val="FFFF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15" dirty="0">
                <a:solidFill>
                  <a:srgbClr val="050B1F"/>
                </a:solidFill>
                <a:latin typeface="Segoe UI"/>
                <a:b/>
              </a:rPr>
              <a:t>MSE &gt; Threshold
(0.0122)?</a:t>
            </a:r>
          </a:p>
        </p:txBody>
      </p:sp>
      <p:sp>
        <p:nvSpPr>
          <p:cNvPr id="1051" name="arrowr"/>
          <p:cNvSpPr>
            <a:spLocks noGrp="1"/>
          </p:cNvSpPr>
          <p:nvPr/>
        </p:nvSpPr>
        <p:spPr>
          <a:xfrm>
            <a:off x="8014716" y="6153912"/>
            <a:ext cx="640080" cy="2560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▶</a:t>
            </a:r>
          </a:p>
        </p:txBody>
      </p:sp>
      <p:sp>
        <p:nvSpPr>
          <p:cNvPr id="1052" name="fbox"/>
          <p:cNvSpPr>
            <a:spLocks noGrp="1"/>
          </p:cNvSpPr>
          <p:nvPr/>
        </p:nvSpPr>
        <p:spPr>
          <a:xfrm>
            <a:off x="8654796" y="5779008"/>
            <a:ext cx="2743200" cy="10058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FFFFFF"/>
                </a:solidFill>
                <a:latin typeface="Segoe UI"/>
              </a:rPr>
              <a:t>🚨  ZERO-DAY ANOMALY</a:t>
            </a:r>
          </a:p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Unknown attack detected!
Reconstruction error too high</a:t>
            </a:r>
          </a:p>
        </p:txBody>
      </p:sp>
      <p:sp>
        <p:nvSpPr>
          <p:cNvPr id="1053" name="aeyesl"/>
          <p:cNvSpPr>
            <a:spLocks noGrp="1"/>
          </p:cNvSpPr>
          <p:nvPr/>
        </p:nvSpPr>
        <p:spPr>
          <a:xfrm>
            <a:off x="8289036" y="5477256"/>
            <a:ext cx="73152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FF4C4C"/>
                </a:solidFill>
                <a:latin typeface="Segoe UI"/>
                <a:b/>
              </a:rPr>
              <a:t>YES</a:t>
            </a:r>
          </a:p>
        </p:txBody>
      </p:sp>
      <p:sp>
        <p:nvSpPr>
          <p:cNvPr id="1054" name="aenol"/>
          <p:cNvSpPr>
            <a:spLocks noGrp="1"/>
          </p:cNvSpPr>
          <p:nvPr/>
        </p:nvSpPr>
        <p:spPr>
          <a:xfrm>
            <a:off x="3076956" y="6144768"/>
            <a:ext cx="1051560" cy="2743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0FF88"/>
                </a:solidFill>
                <a:latin typeface="Segoe UI"/>
                <a:b/>
              </a:rPr>
              <a:t>NO</a:t>
            </a:r>
          </a:p>
        </p:txBody>
      </p:sp>
      <p:sp>
        <p:nvSpPr>
          <p:cNvPr id="1055" name="aenoa"/>
          <p:cNvSpPr>
            <a:spLocks noGrp="1"/>
          </p:cNvSpPr>
          <p:nvPr/>
        </p:nvSpPr>
        <p:spPr>
          <a:xfrm>
            <a:off x="4155948" y="6263640"/>
            <a:ext cx="36576" cy="36576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</p:txBody>
      </p:sp>
      <p:sp>
        <p:nvSpPr>
          <p:cNvPr id="1056" name="fbox"/>
          <p:cNvSpPr>
            <a:spLocks noGrp="1"/>
          </p:cNvSpPr>
          <p:nvPr/>
        </p:nvSpPr>
        <p:spPr>
          <a:xfrm>
            <a:off x="882396" y="5779008"/>
            <a:ext cx="2743200" cy="10058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FFFFFF"/>
                </a:solidFill>
                <a:latin typeface="Segoe UI"/>
              </a:rPr>
              <a:t>✅  Accept as NORMAL</a:t>
            </a:r>
          </a:p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Low reconstruction error —
confirmed normal traffic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1057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58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59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60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1061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Fusion Model Results — Zero-Day Scenario</a:t>
            </a:r>
          </a:p>
        </p:txBody>
      </p:sp>
      <p:sp>
        <p:nvSpPr>
          <p:cNvPr id="1062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63" name="fushero"/>
          <p:cNvSpPr>
            <a:spLocks noGrp="1"/>
          </p:cNvSpPr>
          <p:nvPr/>
        </p:nvSpPr>
        <p:spPr>
          <a:xfrm>
            <a:off x="365760" y="1051560"/>
            <a:ext cx="11430000" cy="91440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064" name="fusheroftxt"/>
          <p:cNvSpPr>
            <a:spLocks noGrp="1"/>
          </p:cNvSpPr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22" dirty="0">
                <a:solidFill>
                  <a:srgbClr val="FFFFFF"/>
                </a:solidFill>
                <a:latin typeface="Segoe UI"/>
                <a:b/>
              </a:rPr>
              <a:t>Zero-Day Detection Accuracy: </a:t>
            </a:r>
            <a:r>
              <a:rPr lang="en-US" sz="34" dirty="0">
                <a:solidFill>
                  <a:srgbClr val="00FF88"/>
                </a:solidFill>
                <a:latin typeface="Segoe UI"/>
                <a:b/>
              </a:rPr>
              <a:t>96.82%</a:t>
            </a:r>
            <a:r>
              <a:rPr lang="en-US" sz="17" dirty="0">
                <a:solidFill>
                  <a:srgbClr val="B0C4DE"/>
                </a:solidFill>
                <a:latin typeface="Segoe UI"/>
              </a:rPr>
              <a:t>  on 55,248 Unseen Samples</a:t>
            </a:r>
          </a:p>
        </p:txBody>
      </p:sp>
      <p:sp>
        <p:nvSpPr>
          <p:cNvPr id="1065" name="stat"/>
          <p:cNvSpPr>
            <a:spLocks noGrp="1"/>
          </p:cNvSpPr>
          <p:nvPr/>
        </p:nvSpPr>
        <p:spPr>
          <a:xfrm>
            <a:off x="365760" y="2148840"/>
            <a:ext cx="1828800" cy="10515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00FF88"/>
                </a:solidFill>
                <a:latin typeface="Segoe UI"/>
                <a:b/>
              </a:rPr>
              <a:t>97.78%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Normal Precision</a:t>
            </a:r>
          </a:p>
        </p:txBody>
      </p:sp>
      <p:sp>
        <p:nvSpPr>
          <p:cNvPr id="1066" name="stat"/>
          <p:cNvSpPr>
            <a:spLocks noGrp="1"/>
          </p:cNvSpPr>
          <p:nvPr/>
        </p:nvSpPr>
        <p:spPr>
          <a:xfrm>
            <a:off x="2313432" y="2148840"/>
            <a:ext cx="1828800" cy="10515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FFB800"/>
                </a:solidFill>
                <a:latin typeface="Segoe UI"/>
                <a:b/>
              </a:rPr>
              <a:t>94.87%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Normal Recall</a:t>
            </a:r>
          </a:p>
        </p:txBody>
      </p:sp>
      <p:sp>
        <p:nvSpPr>
          <p:cNvPr id="1067" name="stat"/>
          <p:cNvSpPr>
            <a:spLocks noGrp="1"/>
          </p:cNvSpPr>
          <p:nvPr/>
        </p:nvSpPr>
        <p:spPr>
          <a:xfrm>
            <a:off x="4261104" y="2148840"/>
            <a:ext cx="1828800" cy="10515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7B2FFF"/>
                </a:solidFill>
                <a:latin typeface="Segoe UI"/>
                <a:b/>
              </a:rPr>
              <a:t>96.11%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ZeroDay Precision</a:t>
            </a:r>
          </a:p>
        </p:txBody>
      </p:sp>
      <p:sp>
        <p:nvSpPr>
          <p:cNvPr id="1068" name="stat"/>
          <p:cNvSpPr>
            <a:spLocks noGrp="1"/>
          </p:cNvSpPr>
          <p:nvPr/>
        </p:nvSpPr>
        <p:spPr>
          <a:xfrm>
            <a:off x="6208776" y="2148840"/>
            <a:ext cx="1828800" cy="10515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00D4FF"/>
                </a:solidFill>
                <a:latin typeface="Segoe UI"/>
                <a:b/>
              </a:rPr>
              <a:t>98.33%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ZeroDay Recall</a:t>
            </a:r>
          </a:p>
        </p:txBody>
      </p:sp>
      <p:sp>
        <p:nvSpPr>
          <p:cNvPr id="1069" name="stat"/>
          <p:cNvSpPr>
            <a:spLocks noGrp="1"/>
          </p:cNvSpPr>
          <p:nvPr/>
        </p:nvSpPr>
        <p:spPr>
          <a:xfrm>
            <a:off x="8156448" y="2148840"/>
            <a:ext cx="1828800" cy="10515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00FF88"/>
                </a:solidFill>
                <a:latin typeface="Segoe UI"/>
                <a:b/>
              </a:rPr>
              <a:t>96.75%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Macro Avg F1</a:t>
            </a:r>
          </a:p>
        </p:txBody>
      </p:sp>
      <p:sp>
        <p:nvSpPr>
          <p:cNvPr id="1070" name="stat"/>
          <p:cNvSpPr>
            <a:spLocks noGrp="1"/>
          </p:cNvSpPr>
          <p:nvPr/>
        </p:nvSpPr>
        <p:spPr>
          <a:xfrm>
            <a:off x="10104120" y="2148840"/>
            <a:ext cx="1828800" cy="10515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FFB800"/>
                </a:solidFill>
                <a:latin typeface="Segoe UI"/>
                <a:b/>
              </a:rPr>
              <a:t>55,248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Test Samples</a:t>
            </a:r>
          </a:p>
        </p:txBody>
      </p:sp>
      <p:sp>
        <p:nvSpPr>
          <p:cNvPr id="1071" name="fusrepcard"/>
          <p:cNvSpPr>
            <a:spLocks noGrp="1"/>
          </p:cNvSpPr>
          <p:nvPr/>
        </p:nvSpPr>
        <p:spPr>
          <a:xfrm>
            <a:off x="365760" y="3383280"/>
            <a:ext cx="5486400" cy="31089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072" name="fusrephdr"/>
          <p:cNvSpPr>
            <a:spLocks noGrp="1"/>
          </p:cNvSpPr>
          <p:nvPr/>
        </p:nvSpPr>
        <p:spPr>
          <a:xfrm>
            <a:off x="502920" y="3447288"/>
            <a:ext cx="521208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5" dirty="0">
                <a:solidFill>
                  <a:srgbClr val="7B2FFF"/>
                </a:solidFill>
                <a:latin typeface="Segoe UI"/>
                <a:b/>
              </a:rPr>
              <a:t>Classification Report</a:t>
            </a:r>
          </a:p>
        </p:txBody>
      </p:sp>
      <p:sp>
        <p:nvSpPr>
          <p:cNvPr id="1073" name="frh0"/>
          <p:cNvSpPr>
            <a:spLocks noGrp="1"/>
          </p:cNvSpPr>
          <p:nvPr/>
        </p:nvSpPr>
        <p:spPr>
          <a:xfrm>
            <a:off x="502920" y="3867912"/>
            <a:ext cx="123444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  <a:b/>
              </a:rPr>
              <a:t>Class</a:t>
            </a:r>
          </a:p>
        </p:txBody>
      </p:sp>
      <p:sp>
        <p:nvSpPr>
          <p:cNvPr id="1074" name="frh1"/>
          <p:cNvSpPr>
            <a:spLocks noGrp="1"/>
          </p:cNvSpPr>
          <p:nvPr/>
        </p:nvSpPr>
        <p:spPr>
          <a:xfrm>
            <a:off x="1783080" y="3867912"/>
            <a:ext cx="9144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  <a:b/>
              </a:rPr>
              <a:t>Precision</a:t>
            </a:r>
          </a:p>
        </p:txBody>
      </p:sp>
      <p:sp>
        <p:nvSpPr>
          <p:cNvPr id="1075" name="frh2"/>
          <p:cNvSpPr>
            <a:spLocks noGrp="1"/>
          </p:cNvSpPr>
          <p:nvPr/>
        </p:nvSpPr>
        <p:spPr>
          <a:xfrm>
            <a:off x="2697480" y="3867912"/>
            <a:ext cx="9144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  <a:b/>
              </a:rPr>
              <a:t>Recall</a:t>
            </a:r>
          </a:p>
        </p:txBody>
      </p:sp>
      <p:sp>
        <p:nvSpPr>
          <p:cNvPr id="1076" name="frh3"/>
          <p:cNvSpPr>
            <a:spLocks noGrp="1"/>
          </p:cNvSpPr>
          <p:nvPr/>
        </p:nvSpPr>
        <p:spPr>
          <a:xfrm>
            <a:off x="3566160" y="3867912"/>
            <a:ext cx="91440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  <a:b/>
              </a:rPr>
              <a:t>F1</a:t>
            </a:r>
          </a:p>
        </p:txBody>
      </p:sp>
      <p:sp>
        <p:nvSpPr>
          <p:cNvPr id="1077" name="frh4"/>
          <p:cNvSpPr>
            <a:spLocks noGrp="1"/>
          </p:cNvSpPr>
          <p:nvPr/>
        </p:nvSpPr>
        <p:spPr>
          <a:xfrm>
            <a:off x="4434840" y="3867912"/>
            <a:ext cx="100584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7B2FFF"/>
                </a:solidFill>
                <a:latin typeface="Segoe UI"/>
                <a:b/>
              </a:rPr>
              <a:t>Support</a:t>
            </a:r>
          </a:p>
        </p:txBody>
      </p:sp>
      <p:sp>
        <p:nvSpPr>
          <p:cNvPr id="1078" name="frhr2"/>
          <p:cNvSpPr>
            <a:spLocks noGrp="1"/>
          </p:cNvSpPr>
          <p:nvPr/>
        </p:nvSpPr>
        <p:spPr>
          <a:xfrm>
            <a:off x="502920" y="4178808"/>
            <a:ext cx="5212080" cy="27432"/>
          </a:xfrm>
          <a:prstGeom prst="rect">
            <a:avLst/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79" name="frr0"/>
          <p:cNvSpPr>
            <a:spLocks noGrp="1"/>
          </p:cNvSpPr>
          <p:nvPr/>
        </p:nvSpPr>
        <p:spPr>
          <a:xfrm>
            <a:off x="502920" y="4251960"/>
            <a:ext cx="5212080" cy="502920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80" name="frc00"/>
          <p:cNvSpPr>
            <a:spLocks noGrp="1"/>
          </p:cNvSpPr>
          <p:nvPr/>
        </p:nvSpPr>
        <p:spPr>
          <a:xfrm>
            <a:off x="502920" y="4251960"/>
            <a:ext cx="123444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Normal (0)</a:t>
            </a:r>
          </a:p>
        </p:txBody>
      </p:sp>
      <p:sp>
        <p:nvSpPr>
          <p:cNvPr id="1081" name="frc01"/>
          <p:cNvSpPr>
            <a:spLocks noGrp="1"/>
          </p:cNvSpPr>
          <p:nvPr/>
        </p:nvSpPr>
        <p:spPr>
          <a:xfrm>
            <a:off x="1783080" y="4251960"/>
            <a:ext cx="9144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97.78%</a:t>
            </a:r>
          </a:p>
        </p:txBody>
      </p:sp>
      <p:sp>
        <p:nvSpPr>
          <p:cNvPr id="1082" name="frc02"/>
          <p:cNvSpPr>
            <a:spLocks noGrp="1"/>
          </p:cNvSpPr>
          <p:nvPr/>
        </p:nvSpPr>
        <p:spPr>
          <a:xfrm>
            <a:off x="2697480" y="4251960"/>
            <a:ext cx="9144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94.87%</a:t>
            </a:r>
          </a:p>
        </p:txBody>
      </p:sp>
      <p:sp>
        <p:nvSpPr>
          <p:cNvPr id="1083" name="frc03"/>
          <p:cNvSpPr>
            <a:spLocks noGrp="1"/>
          </p:cNvSpPr>
          <p:nvPr/>
        </p:nvSpPr>
        <p:spPr>
          <a:xfrm>
            <a:off x="3566160" y="4251960"/>
            <a:ext cx="9144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96.30%</a:t>
            </a:r>
          </a:p>
        </p:txBody>
      </p:sp>
      <p:sp>
        <p:nvSpPr>
          <p:cNvPr id="1084" name="frc04"/>
          <p:cNvSpPr>
            <a:spLocks noGrp="1"/>
          </p:cNvSpPr>
          <p:nvPr/>
        </p:nvSpPr>
        <p:spPr>
          <a:xfrm>
            <a:off x="4434840" y="4251960"/>
            <a:ext cx="100584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24,152</a:t>
            </a:r>
          </a:p>
        </p:txBody>
      </p:sp>
      <p:sp>
        <p:nvSpPr>
          <p:cNvPr id="1085" name="frr1"/>
          <p:cNvSpPr>
            <a:spLocks noGrp="1"/>
          </p:cNvSpPr>
          <p:nvPr/>
        </p:nvSpPr>
        <p:spPr>
          <a:xfrm>
            <a:off x="502920" y="4800600"/>
            <a:ext cx="5212080" cy="502920"/>
          </a:xfrm>
          <a:prstGeom prst="roundRect">
            <a:avLst>
              <a:gd name="adj" fmla="val 15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86" name="frc10"/>
          <p:cNvSpPr>
            <a:spLocks noGrp="1"/>
          </p:cNvSpPr>
          <p:nvPr/>
        </p:nvSpPr>
        <p:spPr>
          <a:xfrm>
            <a:off x="502920" y="4800600"/>
            <a:ext cx="123444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Zero-Day (1)</a:t>
            </a:r>
          </a:p>
        </p:txBody>
      </p:sp>
      <p:sp>
        <p:nvSpPr>
          <p:cNvPr id="1087" name="frc11"/>
          <p:cNvSpPr>
            <a:spLocks noGrp="1"/>
          </p:cNvSpPr>
          <p:nvPr/>
        </p:nvSpPr>
        <p:spPr>
          <a:xfrm>
            <a:off x="1783080" y="4800600"/>
            <a:ext cx="9144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96.11%</a:t>
            </a:r>
          </a:p>
        </p:txBody>
      </p:sp>
      <p:sp>
        <p:nvSpPr>
          <p:cNvPr id="1088" name="frc12"/>
          <p:cNvSpPr>
            <a:spLocks noGrp="1"/>
          </p:cNvSpPr>
          <p:nvPr/>
        </p:nvSpPr>
        <p:spPr>
          <a:xfrm>
            <a:off x="2697480" y="4800600"/>
            <a:ext cx="9144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98.33%</a:t>
            </a:r>
          </a:p>
        </p:txBody>
      </p:sp>
      <p:sp>
        <p:nvSpPr>
          <p:cNvPr id="1089" name="frc13"/>
          <p:cNvSpPr>
            <a:spLocks noGrp="1"/>
          </p:cNvSpPr>
          <p:nvPr/>
        </p:nvSpPr>
        <p:spPr>
          <a:xfrm>
            <a:off x="3566160" y="4800600"/>
            <a:ext cx="9144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97.20%</a:t>
            </a:r>
          </a:p>
        </p:txBody>
      </p:sp>
      <p:sp>
        <p:nvSpPr>
          <p:cNvPr id="1090" name="frc14"/>
          <p:cNvSpPr>
            <a:spLocks noGrp="1"/>
          </p:cNvSpPr>
          <p:nvPr/>
        </p:nvSpPr>
        <p:spPr>
          <a:xfrm>
            <a:off x="4434840" y="4800600"/>
            <a:ext cx="100584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31,096</a:t>
            </a:r>
          </a:p>
        </p:txBody>
      </p:sp>
      <p:sp>
        <p:nvSpPr>
          <p:cNvPr id="1091" name="frr2"/>
          <p:cNvSpPr>
            <a:spLocks noGrp="1"/>
          </p:cNvSpPr>
          <p:nvPr/>
        </p:nvSpPr>
        <p:spPr>
          <a:xfrm>
            <a:off x="502920" y="5349240"/>
            <a:ext cx="5212080" cy="502920"/>
          </a:xfrm>
          <a:prstGeom prst="roundRect">
            <a:avLst>
              <a:gd name="adj" fmla="val 15000"/>
            </a:avLst>
          </a:prstGeom>
          <a:solidFill>
            <a:srgbClr val="12204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92" name="frc20"/>
          <p:cNvSpPr>
            <a:spLocks noGrp="1"/>
          </p:cNvSpPr>
          <p:nvPr/>
        </p:nvSpPr>
        <p:spPr>
          <a:xfrm>
            <a:off x="502920" y="5349240"/>
            <a:ext cx="123444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Accuracy</a:t>
            </a:r>
          </a:p>
        </p:txBody>
      </p:sp>
      <p:sp>
        <p:nvSpPr>
          <p:cNvPr id="1093" name="frc21"/>
          <p:cNvSpPr>
            <a:spLocks noGrp="1"/>
          </p:cNvSpPr>
          <p:nvPr/>
        </p:nvSpPr>
        <p:spPr>
          <a:xfrm>
            <a:off x="1783080" y="5349240"/>
            <a:ext cx="9144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–</a:t>
            </a:r>
          </a:p>
        </p:txBody>
      </p:sp>
      <p:sp>
        <p:nvSpPr>
          <p:cNvPr id="1094" name="frc22"/>
          <p:cNvSpPr>
            <a:spLocks noGrp="1"/>
          </p:cNvSpPr>
          <p:nvPr/>
        </p:nvSpPr>
        <p:spPr>
          <a:xfrm>
            <a:off x="2697480" y="5349240"/>
            <a:ext cx="9144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–</a:t>
            </a:r>
          </a:p>
        </p:txBody>
      </p:sp>
      <p:sp>
        <p:nvSpPr>
          <p:cNvPr id="1095" name="frc23"/>
          <p:cNvSpPr>
            <a:spLocks noGrp="1"/>
          </p:cNvSpPr>
          <p:nvPr/>
        </p:nvSpPr>
        <p:spPr>
          <a:xfrm>
            <a:off x="3566160" y="5349240"/>
            <a:ext cx="9144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96.82%</a:t>
            </a:r>
          </a:p>
        </p:txBody>
      </p:sp>
      <p:sp>
        <p:nvSpPr>
          <p:cNvPr id="1096" name="frc24"/>
          <p:cNvSpPr>
            <a:spLocks noGrp="1"/>
          </p:cNvSpPr>
          <p:nvPr/>
        </p:nvSpPr>
        <p:spPr>
          <a:xfrm>
            <a:off x="4434840" y="5349240"/>
            <a:ext cx="100584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55,248</a:t>
            </a:r>
          </a:p>
        </p:txBody>
      </p:sp>
      <p:sp>
        <p:nvSpPr>
          <p:cNvPr id="1097" name="frr3"/>
          <p:cNvSpPr>
            <a:spLocks noGrp="1"/>
          </p:cNvSpPr>
          <p:nvPr/>
        </p:nvSpPr>
        <p:spPr>
          <a:xfrm>
            <a:off x="502920" y="5897880"/>
            <a:ext cx="5212080" cy="502920"/>
          </a:xfrm>
          <a:prstGeom prst="roundRect">
            <a:avLst>
              <a:gd name="adj" fmla="val 15000"/>
            </a:avLst>
          </a:prstGeom>
          <a:solidFill>
            <a:srgbClr val="0D1F3C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098" name="frc30"/>
          <p:cNvSpPr>
            <a:spLocks noGrp="1"/>
          </p:cNvSpPr>
          <p:nvPr/>
        </p:nvSpPr>
        <p:spPr>
          <a:xfrm>
            <a:off x="502920" y="5897880"/>
            <a:ext cx="123444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  <a:b/>
              </a:rPr>
              <a:t>Macro Avg</a:t>
            </a:r>
          </a:p>
        </p:txBody>
      </p:sp>
      <p:sp>
        <p:nvSpPr>
          <p:cNvPr id="1099" name="frc31"/>
          <p:cNvSpPr>
            <a:spLocks noGrp="1"/>
          </p:cNvSpPr>
          <p:nvPr/>
        </p:nvSpPr>
        <p:spPr>
          <a:xfrm>
            <a:off x="1783080" y="5897880"/>
            <a:ext cx="9144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96.94%</a:t>
            </a:r>
          </a:p>
        </p:txBody>
      </p:sp>
      <p:sp>
        <p:nvSpPr>
          <p:cNvPr id="1100" name="frc32"/>
          <p:cNvSpPr>
            <a:spLocks noGrp="1"/>
          </p:cNvSpPr>
          <p:nvPr/>
        </p:nvSpPr>
        <p:spPr>
          <a:xfrm>
            <a:off x="2697480" y="5897880"/>
            <a:ext cx="9144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96.60%</a:t>
            </a:r>
          </a:p>
        </p:txBody>
      </p:sp>
      <p:sp>
        <p:nvSpPr>
          <p:cNvPr id="1101" name="frc33"/>
          <p:cNvSpPr>
            <a:spLocks noGrp="1"/>
          </p:cNvSpPr>
          <p:nvPr/>
        </p:nvSpPr>
        <p:spPr>
          <a:xfrm>
            <a:off x="3566160" y="5897880"/>
            <a:ext cx="9144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96.75%</a:t>
            </a:r>
          </a:p>
        </p:txBody>
      </p:sp>
      <p:sp>
        <p:nvSpPr>
          <p:cNvPr id="1102" name="frc34"/>
          <p:cNvSpPr>
            <a:spLocks noGrp="1"/>
          </p:cNvSpPr>
          <p:nvPr/>
        </p:nvSpPr>
        <p:spPr>
          <a:xfrm>
            <a:off x="4434840" y="5897880"/>
            <a:ext cx="100584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55,248</a:t>
            </a:r>
          </a:p>
        </p:txBody>
      </p:sp>
      <p:sp>
        <p:nvSpPr>
          <p:cNvPr id="1103" name="fuscmcard"/>
          <p:cNvSpPr>
            <a:spLocks noGrp="1"/>
          </p:cNvSpPr>
          <p:nvPr/>
        </p:nvSpPr>
        <p:spPr>
          <a:xfrm>
            <a:off x="6035040" y="3383280"/>
            <a:ext cx="5760720" cy="31089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04" name="fuscmhdr"/>
          <p:cNvSpPr>
            <a:spLocks noGrp="1"/>
          </p:cNvSpPr>
          <p:nvPr/>
        </p:nvSpPr>
        <p:spPr>
          <a:xfrm>
            <a:off x="6172200" y="3447288"/>
            <a:ext cx="544068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FF88"/>
                </a:solidFill>
                <a:latin typeface="Segoe UI"/>
                <a:b/>
              </a:rPr>
              <a:t>Fusion Confusion Matrix (2×2)</a:t>
            </a:r>
          </a:p>
        </p:txBody>
      </p:sp>
      <p:sp>
        <p:nvSpPr>
          <p:cNvPr id="1105" name="fce00"/>
          <p:cNvSpPr>
            <a:spLocks noGrp="1"/>
          </p:cNvSpPr>
          <p:nvPr/>
        </p:nvSpPr>
        <p:spPr>
          <a:xfrm>
            <a:off x="6537960" y="3977639"/>
            <a:ext cx="2103120" cy="1005840"/>
          </a:xfrm>
          <a:prstGeom prst="roundRect">
            <a:avLst>
              <a:gd name="adj" fmla="val 30000"/>
            </a:avLst>
          </a:prstGeom>
          <a:solidFill>
            <a:srgbClr val="00FF88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06" name="fcval00"/>
          <p:cNvSpPr>
            <a:spLocks noGrp="1"/>
          </p:cNvSpPr>
          <p:nvPr/>
        </p:nvSpPr>
        <p:spPr>
          <a:xfrm>
            <a:off x="6537960" y="3977639"/>
            <a:ext cx="2103120" cy="670560"/>
          </a:xfrm>
          <a:prstGeom prst="rect">
            <a:avLst/>
          </a:prstGeom>
          <a:noFill/>
        </p:spPr>
        <p:txBody>
          <a:bodyPr anchor="b" vert="horz" lIns="91440" rIns="91440" tIns="45720" bIns="45720" wrap="square"/>
          <a:lstStyle/>
          <a:p>
            <a:pPr algn="c"/>
            <a:r>
              <a:rPr lang="en-US" sz="22" dirty="0">
                <a:solidFill>
                  <a:srgbClr val="050B1F"/>
                </a:solidFill>
                <a:latin typeface="Segoe UI"/>
                <a:b/>
              </a:rPr>
              <a:t>22,902</a:t>
            </a:r>
          </a:p>
        </p:txBody>
      </p:sp>
      <p:sp>
        <p:nvSpPr>
          <p:cNvPr id="1107" name="fctip00"/>
          <p:cNvSpPr>
            <a:spLocks noGrp="1"/>
          </p:cNvSpPr>
          <p:nvPr/>
        </p:nvSpPr>
        <p:spPr>
          <a:xfrm>
            <a:off x="6537960" y="4648199"/>
            <a:ext cx="2103120" cy="33528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</a:rPr>
              <a:t>True Normal</a:t>
            </a:r>
          </a:p>
        </p:txBody>
      </p:sp>
      <p:sp>
        <p:nvSpPr>
          <p:cNvPr id="1108" name="fce01"/>
          <p:cNvSpPr>
            <a:spLocks noGrp="1"/>
          </p:cNvSpPr>
          <p:nvPr/>
        </p:nvSpPr>
        <p:spPr>
          <a:xfrm>
            <a:off x="8732520" y="3977639"/>
            <a:ext cx="2103120" cy="1005840"/>
          </a:xfrm>
          <a:prstGeom prst="roundRect">
            <a:avLst>
              <a:gd name="adj" fmla="val 30000"/>
            </a:avLst>
          </a:prstGeom>
          <a:solidFill>
            <a:srgbClr val="122040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09" name="fcval01"/>
          <p:cNvSpPr>
            <a:spLocks noGrp="1"/>
          </p:cNvSpPr>
          <p:nvPr/>
        </p:nvSpPr>
        <p:spPr>
          <a:xfrm>
            <a:off x="8732520" y="3977639"/>
            <a:ext cx="2103120" cy="670560"/>
          </a:xfrm>
          <a:prstGeom prst="rect">
            <a:avLst/>
          </a:prstGeom>
          <a:noFill/>
        </p:spPr>
        <p:txBody>
          <a:bodyPr anchor="b" vert="horz" lIns="91440" rIns="91440" tIns="45720" bIns="45720" wrap="square"/>
          <a:lstStyle/>
          <a:p>
            <a:pPr algn="c"/>
            <a:r>
              <a:rPr lang="en-US" sz="22" dirty="0">
                <a:solidFill>
                  <a:srgbClr val="FF4C4C"/>
                </a:solidFill>
                <a:latin typeface="Segoe UI"/>
                <a:b/>
              </a:rPr>
              <a:t>1,250</a:t>
            </a:r>
          </a:p>
        </p:txBody>
      </p:sp>
      <p:sp>
        <p:nvSpPr>
          <p:cNvPr id="1110" name="fctip01"/>
          <p:cNvSpPr>
            <a:spLocks noGrp="1"/>
          </p:cNvSpPr>
          <p:nvPr/>
        </p:nvSpPr>
        <p:spPr>
          <a:xfrm>
            <a:off x="8732520" y="4648199"/>
            <a:ext cx="2103120" cy="33528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False Alarm</a:t>
            </a:r>
          </a:p>
        </p:txBody>
      </p:sp>
      <p:sp>
        <p:nvSpPr>
          <p:cNvPr id="1111" name="fce10"/>
          <p:cNvSpPr>
            <a:spLocks noGrp="1"/>
          </p:cNvSpPr>
          <p:nvPr/>
        </p:nvSpPr>
        <p:spPr>
          <a:xfrm>
            <a:off x="6537960" y="5074919"/>
            <a:ext cx="2103120" cy="1005840"/>
          </a:xfrm>
          <a:prstGeom prst="roundRect">
            <a:avLst>
              <a:gd name="adj" fmla="val 30000"/>
            </a:avLst>
          </a:prstGeom>
          <a:solidFill>
            <a:srgbClr val="122040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12" name="fcval10"/>
          <p:cNvSpPr>
            <a:spLocks noGrp="1"/>
          </p:cNvSpPr>
          <p:nvPr/>
        </p:nvSpPr>
        <p:spPr>
          <a:xfrm>
            <a:off x="6537960" y="5074919"/>
            <a:ext cx="2103120" cy="670560"/>
          </a:xfrm>
          <a:prstGeom prst="rect">
            <a:avLst/>
          </a:prstGeom>
          <a:noFill/>
        </p:spPr>
        <p:txBody>
          <a:bodyPr anchor="b" vert="horz" lIns="91440" rIns="91440" tIns="45720" bIns="45720" wrap="square"/>
          <a:lstStyle/>
          <a:p>
            <a:pPr algn="c"/>
            <a:r>
              <a:rPr lang="en-US" sz="22" dirty="0">
                <a:solidFill>
                  <a:srgbClr val="FFB800"/>
                </a:solidFill>
                <a:latin typeface="Segoe UI"/>
                <a:b/>
              </a:rPr>
              <a:t>524</a:t>
            </a:r>
          </a:p>
        </p:txBody>
      </p:sp>
      <p:sp>
        <p:nvSpPr>
          <p:cNvPr id="1113" name="fctip10"/>
          <p:cNvSpPr>
            <a:spLocks noGrp="1"/>
          </p:cNvSpPr>
          <p:nvPr/>
        </p:nvSpPr>
        <p:spPr>
          <a:xfrm>
            <a:off x="6537960" y="5745479"/>
            <a:ext cx="2103120" cy="33528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Missed ZeroDay</a:t>
            </a:r>
          </a:p>
        </p:txBody>
      </p:sp>
      <p:sp>
        <p:nvSpPr>
          <p:cNvPr id="1114" name="fce11"/>
          <p:cNvSpPr>
            <a:spLocks noGrp="1"/>
          </p:cNvSpPr>
          <p:nvPr/>
        </p:nvSpPr>
        <p:spPr>
          <a:xfrm>
            <a:off x="8732520" y="5074919"/>
            <a:ext cx="2103120" cy="1005840"/>
          </a:xfrm>
          <a:prstGeom prst="roundRect">
            <a:avLst>
              <a:gd name="adj" fmla="val 30000"/>
            </a:avLst>
          </a:prstGeom>
          <a:solidFill>
            <a:srgbClr val="00FF88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15" name="fcval11"/>
          <p:cNvSpPr>
            <a:spLocks noGrp="1"/>
          </p:cNvSpPr>
          <p:nvPr/>
        </p:nvSpPr>
        <p:spPr>
          <a:xfrm>
            <a:off x="8732520" y="5074919"/>
            <a:ext cx="2103120" cy="670560"/>
          </a:xfrm>
          <a:prstGeom prst="rect">
            <a:avLst/>
          </a:prstGeom>
          <a:noFill/>
        </p:spPr>
        <p:txBody>
          <a:bodyPr anchor="b" vert="horz" lIns="91440" rIns="91440" tIns="45720" bIns="45720" wrap="square"/>
          <a:lstStyle/>
          <a:p>
            <a:pPr algn="c"/>
            <a:r>
              <a:rPr lang="en-US" sz="22" dirty="0">
                <a:solidFill>
                  <a:srgbClr val="050B1F"/>
                </a:solidFill>
                <a:latin typeface="Segoe UI"/>
                <a:b/>
              </a:rPr>
              <a:t>30,572</a:t>
            </a:r>
          </a:p>
        </p:txBody>
      </p:sp>
      <p:sp>
        <p:nvSpPr>
          <p:cNvPr id="1116" name="fctip11"/>
          <p:cNvSpPr>
            <a:spLocks noGrp="1"/>
          </p:cNvSpPr>
          <p:nvPr/>
        </p:nvSpPr>
        <p:spPr>
          <a:xfrm>
            <a:off x="8732520" y="5745479"/>
            <a:ext cx="2103120" cy="335280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</a:rPr>
              <a:t>True ZeroDay</a:t>
            </a:r>
          </a:p>
        </p:txBody>
      </p:sp>
      <p:sp>
        <p:nvSpPr>
          <p:cNvPr id="1117" name="fch0"/>
          <p:cNvSpPr>
            <a:spLocks noGrp="1"/>
          </p:cNvSpPr>
          <p:nvPr/>
        </p:nvSpPr>
        <p:spPr>
          <a:xfrm>
            <a:off x="6537960" y="3630167"/>
            <a:ext cx="21031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B0C4DE"/>
                </a:solidFill>
                <a:latin typeface="Segoe UI"/>
              </a:rPr>
              <a:t>Pred: Normal</a:t>
            </a:r>
          </a:p>
        </p:txBody>
      </p:sp>
      <p:sp>
        <p:nvSpPr>
          <p:cNvPr id="1118" name="fch1"/>
          <p:cNvSpPr>
            <a:spLocks noGrp="1"/>
          </p:cNvSpPr>
          <p:nvPr/>
        </p:nvSpPr>
        <p:spPr>
          <a:xfrm>
            <a:off x="8732520" y="3630167"/>
            <a:ext cx="2103120" cy="30175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1" dirty="0">
                <a:solidFill>
                  <a:srgbClr val="B0C4DE"/>
                </a:solidFill>
                <a:latin typeface="Segoe UI"/>
              </a:rPr>
              <a:t>Pred: ZeroDay</a:t>
            </a:r>
          </a:p>
        </p:txBody>
      </p:sp>
      <p:sp>
        <p:nvSpPr>
          <p:cNvPr id="1119" name="fcrh0"/>
          <p:cNvSpPr>
            <a:spLocks noGrp="1"/>
          </p:cNvSpPr>
          <p:nvPr/>
        </p:nvSpPr>
        <p:spPr>
          <a:xfrm>
            <a:off x="6080760" y="3977639"/>
            <a:ext cx="457200" cy="10058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Act: Normal</a:t>
            </a:r>
          </a:p>
        </p:txBody>
      </p:sp>
      <p:sp>
        <p:nvSpPr>
          <p:cNvPr id="1120" name="fcrh1"/>
          <p:cNvSpPr>
            <a:spLocks noGrp="1"/>
          </p:cNvSpPr>
          <p:nvPr/>
        </p:nvSpPr>
        <p:spPr>
          <a:xfrm>
            <a:off x="6080760" y="5074919"/>
            <a:ext cx="457200" cy="100584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B0C4DE"/>
                </a:solidFill>
                <a:latin typeface="Segoe UI"/>
              </a:rPr>
              <a:t>Act: ZeroDay</a:t>
            </a:r>
          </a:p>
        </p:txBody>
      </p:sp>
      <p:sp>
        <p:nvSpPr>
          <p:cNvPr id="1121" name="fusnote"/>
          <p:cNvSpPr>
            <a:spLocks noGrp="1"/>
          </p:cNvSpPr>
          <p:nvPr/>
        </p:nvSpPr>
        <p:spPr>
          <a:xfrm>
            <a:off x="365760" y="6400800"/>
            <a:ext cx="11430000" cy="347472"/>
          </a:xfrm>
          <a:prstGeom prst="roundRect">
            <a:avLst>
              <a:gd name="adj" fmla="val 30000"/>
            </a:avLst>
          </a:prstGeom>
          <a:solidFill>
            <a:srgbClr val="0A1628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22" name="fusnotetxt"/>
          <p:cNvSpPr>
            <a:spLocks noGrp="1"/>
          </p:cNvSpPr>
          <p:nvPr/>
        </p:nvSpPr>
        <p:spPr>
          <a:xfrm>
            <a:off x="502920" y="6400800"/>
            <a:ext cx="1115568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⚡  Fusion model evaluated ENTIRELY on data the system has never seen — true zero-day simulation with 5 hidden attack types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1123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24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25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26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1127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Model Comparison &amp; Benchmarking</a:t>
            </a:r>
          </a:p>
        </p:txBody>
      </p:sp>
      <p:sp>
        <p:nvSpPr>
          <p:cNvPr id="1128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29" name="compsub"/>
          <p:cNvSpPr>
            <a:spLocks noGrp="1"/>
          </p:cNvSpPr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B0C4DE"/>
                </a:solidFill>
                <a:latin typeface="Segoe UI"/>
                <a:i/>
              </a:rPr>
              <a:t>Benchmarked against Isolation Forest (standard anomaly detection baseline)</a:t>
            </a:r>
          </a:p>
        </p:txBody>
      </p:sp>
      <p:sp>
        <p:nvSpPr>
          <p:cNvPr id="1130" name="comptable"/>
          <p:cNvSpPr>
            <a:spLocks noGrp="1"/>
          </p:cNvSpPr>
          <p:nvPr/>
        </p:nvSpPr>
        <p:spPr>
          <a:xfrm>
            <a:off x="365760" y="1463040"/>
            <a:ext cx="11430000" cy="365760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31" name="ch0"/>
          <p:cNvSpPr>
            <a:spLocks noGrp="1"/>
          </p:cNvSpPr>
          <p:nvPr/>
        </p:nvSpPr>
        <p:spPr>
          <a:xfrm>
            <a:off x="502920" y="1536192"/>
            <a:ext cx="16916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Model</a:t>
            </a:r>
          </a:p>
        </p:txBody>
      </p:sp>
      <p:sp>
        <p:nvSpPr>
          <p:cNvPr id="1132" name="ch1"/>
          <p:cNvSpPr>
            <a:spLocks noGrp="1"/>
          </p:cNvSpPr>
          <p:nvPr/>
        </p:nvSpPr>
        <p:spPr>
          <a:xfrm>
            <a:off x="2240280" y="1536192"/>
            <a:ext cx="242316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Purpose</a:t>
            </a:r>
          </a:p>
        </p:txBody>
      </p:sp>
      <p:sp>
        <p:nvSpPr>
          <p:cNvPr id="1133" name="ch2"/>
          <p:cNvSpPr>
            <a:spLocks noGrp="1"/>
          </p:cNvSpPr>
          <p:nvPr/>
        </p:nvSpPr>
        <p:spPr>
          <a:xfrm>
            <a:off x="4709160" y="1536192"/>
            <a:ext cx="12344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Accuracy</a:t>
            </a:r>
          </a:p>
        </p:txBody>
      </p:sp>
      <p:sp>
        <p:nvSpPr>
          <p:cNvPr id="1134" name="ch3"/>
          <p:cNvSpPr>
            <a:spLocks noGrp="1"/>
          </p:cNvSpPr>
          <p:nvPr/>
        </p:nvSpPr>
        <p:spPr>
          <a:xfrm>
            <a:off x="5989320" y="1536192"/>
            <a:ext cx="146304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Zero-Day</a:t>
            </a:r>
          </a:p>
        </p:txBody>
      </p:sp>
      <p:sp>
        <p:nvSpPr>
          <p:cNvPr id="1135" name="ch4"/>
          <p:cNvSpPr>
            <a:spLocks noGrp="1"/>
          </p:cNvSpPr>
          <p:nvPr/>
        </p:nvSpPr>
        <p:spPr>
          <a:xfrm>
            <a:off x="7498079" y="1536192"/>
            <a:ext cx="155448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Lightweight</a:t>
            </a:r>
          </a:p>
        </p:txBody>
      </p:sp>
      <p:sp>
        <p:nvSpPr>
          <p:cNvPr id="1136" name="ch5"/>
          <p:cNvSpPr>
            <a:spLocks noGrp="1"/>
          </p:cNvSpPr>
          <p:nvPr/>
        </p:nvSpPr>
        <p:spPr>
          <a:xfrm>
            <a:off x="9098280" y="1536192"/>
            <a:ext cx="182880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Production Ready</a:t>
            </a:r>
          </a:p>
        </p:txBody>
      </p:sp>
      <p:sp>
        <p:nvSpPr>
          <p:cNvPr id="1137" name="cthr"/>
          <p:cNvSpPr>
            <a:spLocks noGrp="1"/>
          </p:cNvSpPr>
          <p:nvPr/>
        </p:nvSpPr>
        <p:spPr>
          <a:xfrm>
            <a:off x="502920" y="1901952"/>
            <a:ext cx="11155680" cy="27432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38" name="cr0"/>
          <p:cNvSpPr>
            <a:spLocks noGrp="1"/>
          </p:cNvSpPr>
          <p:nvPr/>
        </p:nvSpPr>
        <p:spPr>
          <a:xfrm>
            <a:off x="502920" y="1965960"/>
            <a:ext cx="11155680" cy="713232"/>
          </a:xfrm>
          <a:prstGeom prst="roundRect">
            <a:avLst>
              <a:gd name="adj" fmla="val 20000"/>
            </a:avLst>
          </a:prstGeom>
          <a:solidFill>
            <a:srgbClr val="122040"/>
          </a:solidFill>
          <a:ln w="12700">
            <a:solidFill>
              <a:srgbClr val="none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39" name="ccell00"/>
          <p:cNvSpPr>
            <a:spLocks noGrp="1"/>
          </p:cNvSpPr>
          <p:nvPr/>
        </p:nvSpPr>
        <p:spPr>
          <a:xfrm>
            <a:off x="502920" y="1965960"/>
            <a:ext cx="169164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Isolation Forest</a:t>
            </a:r>
          </a:p>
        </p:txBody>
      </p:sp>
      <p:sp>
        <p:nvSpPr>
          <p:cNvPr id="1140" name="ccell01"/>
          <p:cNvSpPr>
            <a:spLocks noGrp="1"/>
          </p:cNvSpPr>
          <p:nvPr/>
        </p:nvSpPr>
        <p:spPr>
          <a:xfrm>
            <a:off x="2240280" y="1965960"/>
            <a:ext cx="242316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</a:rPr>
              <a:t>Anomaly Detection
(Baseline)</a:t>
            </a:r>
          </a:p>
        </p:txBody>
      </p:sp>
      <p:sp>
        <p:nvSpPr>
          <p:cNvPr id="1141" name="ccell02"/>
          <p:cNvSpPr>
            <a:spLocks noGrp="1"/>
          </p:cNvSpPr>
          <p:nvPr/>
        </p:nvSpPr>
        <p:spPr>
          <a:xfrm>
            <a:off x="4709160" y="1965960"/>
            <a:ext cx="123444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4C4C"/>
                </a:solidFill>
                <a:latin typeface="Segoe UI"/>
              </a:rPr>
              <a:t>49.0%</a:t>
            </a:r>
          </a:p>
        </p:txBody>
      </p:sp>
      <p:sp>
        <p:nvSpPr>
          <p:cNvPr id="1142" name="ccell03"/>
          <p:cNvSpPr>
            <a:spLocks noGrp="1"/>
          </p:cNvSpPr>
          <p:nvPr/>
        </p:nvSpPr>
        <p:spPr>
          <a:xfrm>
            <a:off x="5989320" y="1965960"/>
            <a:ext cx="146304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</a:rPr>
              <a:t>Partial ⚠️</a:t>
            </a:r>
          </a:p>
        </p:txBody>
      </p:sp>
      <p:sp>
        <p:nvSpPr>
          <p:cNvPr id="1143" name="ccell04"/>
          <p:cNvSpPr>
            <a:spLocks noGrp="1"/>
          </p:cNvSpPr>
          <p:nvPr/>
        </p:nvSpPr>
        <p:spPr>
          <a:xfrm>
            <a:off x="7498079" y="1965960"/>
            <a:ext cx="155448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✅ Yes</a:t>
            </a:r>
          </a:p>
        </p:txBody>
      </p:sp>
      <p:sp>
        <p:nvSpPr>
          <p:cNvPr id="1144" name="ccell05"/>
          <p:cNvSpPr>
            <a:spLocks noGrp="1"/>
          </p:cNvSpPr>
          <p:nvPr/>
        </p:nvSpPr>
        <p:spPr>
          <a:xfrm>
            <a:off x="9098280" y="1965960"/>
            <a:ext cx="182880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4C4C"/>
                </a:solidFill>
                <a:latin typeface="Segoe UI"/>
              </a:rPr>
              <a:t>❌ No</a:t>
            </a:r>
          </a:p>
        </p:txBody>
      </p:sp>
      <p:sp>
        <p:nvSpPr>
          <p:cNvPr id="1145" name="cr1"/>
          <p:cNvSpPr>
            <a:spLocks noGrp="1"/>
          </p:cNvSpPr>
          <p:nvPr/>
        </p:nvSpPr>
        <p:spPr>
          <a:xfrm>
            <a:off x="502920" y="2715768"/>
            <a:ext cx="11155680" cy="713232"/>
          </a:xfrm>
          <a:prstGeom prst="roundRect">
            <a:avLst>
              <a:gd name="adj" fmla="val 20000"/>
            </a:avLst>
          </a:prstGeom>
          <a:solidFill>
            <a:srgbClr val="0D1F3C"/>
          </a:solidFill>
          <a:ln w="12700">
            <a:solidFill>
              <a:srgbClr val="none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46" name="ccell10"/>
          <p:cNvSpPr>
            <a:spLocks noGrp="1"/>
          </p:cNvSpPr>
          <p:nvPr/>
        </p:nvSpPr>
        <p:spPr>
          <a:xfrm>
            <a:off x="502920" y="2715768"/>
            <a:ext cx="169164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B800"/>
                </a:solidFill>
                <a:latin typeface="Segoe UI"/>
              </a:rPr>
              <a:t>LightGBM</a:t>
            </a:r>
          </a:p>
        </p:txBody>
      </p:sp>
      <p:sp>
        <p:nvSpPr>
          <p:cNvPr id="1147" name="ccell11"/>
          <p:cNvSpPr>
            <a:spLocks noGrp="1"/>
          </p:cNvSpPr>
          <p:nvPr/>
        </p:nvSpPr>
        <p:spPr>
          <a:xfrm>
            <a:off x="2240280" y="2715768"/>
            <a:ext cx="242316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</a:rPr>
              <a:t>Known Attack
Classification</a:t>
            </a:r>
          </a:p>
        </p:txBody>
      </p:sp>
      <p:sp>
        <p:nvSpPr>
          <p:cNvPr id="1148" name="ccell12"/>
          <p:cNvSpPr>
            <a:spLocks noGrp="1"/>
          </p:cNvSpPr>
          <p:nvPr/>
        </p:nvSpPr>
        <p:spPr>
          <a:xfrm>
            <a:off x="4709160" y="2715768"/>
            <a:ext cx="123444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99.99%</a:t>
            </a:r>
          </a:p>
        </p:txBody>
      </p:sp>
      <p:sp>
        <p:nvSpPr>
          <p:cNvPr id="1149" name="ccell13"/>
          <p:cNvSpPr>
            <a:spLocks noGrp="1"/>
          </p:cNvSpPr>
          <p:nvPr/>
        </p:nvSpPr>
        <p:spPr>
          <a:xfrm>
            <a:off x="5989320" y="2715768"/>
            <a:ext cx="146304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4C4C"/>
                </a:solidFill>
                <a:latin typeface="Segoe UI"/>
              </a:rPr>
              <a:t>❌ No</a:t>
            </a:r>
          </a:p>
        </p:txBody>
      </p:sp>
      <p:sp>
        <p:nvSpPr>
          <p:cNvPr id="1150" name="ccell14"/>
          <p:cNvSpPr>
            <a:spLocks noGrp="1"/>
          </p:cNvSpPr>
          <p:nvPr/>
        </p:nvSpPr>
        <p:spPr>
          <a:xfrm>
            <a:off x="7498079" y="2715768"/>
            <a:ext cx="155448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✅ Yes</a:t>
            </a:r>
          </a:p>
        </p:txBody>
      </p:sp>
      <p:sp>
        <p:nvSpPr>
          <p:cNvPr id="1151" name="ccell15"/>
          <p:cNvSpPr>
            <a:spLocks noGrp="1"/>
          </p:cNvSpPr>
          <p:nvPr/>
        </p:nvSpPr>
        <p:spPr>
          <a:xfrm>
            <a:off x="9098280" y="2715768"/>
            <a:ext cx="182880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✅ Yes</a:t>
            </a:r>
          </a:p>
        </p:txBody>
      </p:sp>
      <p:sp>
        <p:nvSpPr>
          <p:cNvPr id="1152" name="cr2"/>
          <p:cNvSpPr>
            <a:spLocks noGrp="1"/>
          </p:cNvSpPr>
          <p:nvPr/>
        </p:nvSpPr>
        <p:spPr>
          <a:xfrm>
            <a:off x="502920" y="3465576"/>
            <a:ext cx="11155680" cy="713232"/>
          </a:xfrm>
          <a:prstGeom prst="roundRect">
            <a:avLst>
              <a:gd name="adj" fmla="val 20000"/>
            </a:avLst>
          </a:prstGeom>
          <a:solidFill>
            <a:srgbClr val="122040"/>
          </a:solidFill>
          <a:ln w="12700">
            <a:solidFill>
              <a:srgbClr val="none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53" name="ccell20"/>
          <p:cNvSpPr>
            <a:spLocks noGrp="1"/>
          </p:cNvSpPr>
          <p:nvPr/>
        </p:nvSpPr>
        <p:spPr>
          <a:xfrm>
            <a:off x="502920" y="3465576"/>
            <a:ext cx="169164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Autoencoder</a:t>
            </a:r>
          </a:p>
        </p:txBody>
      </p:sp>
      <p:sp>
        <p:nvSpPr>
          <p:cNvPr id="1154" name="ccell21"/>
          <p:cNvSpPr>
            <a:spLocks noGrp="1"/>
          </p:cNvSpPr>
          <p:nvPr/>
        </p:nvSpPr>
        <p:spPr>
          <a:xfrm>
            <a:off x="2240280" y="3465576"/>
            <a:ext cx="242316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FFFFFF"/>
                </a:solidFill>
                <a:latin typeface="Segoe UI"/>
              </a:rPr>
              <a:t>Zero-Day
Detection</a:t>
            </a:r>
          </a:p>
        </p:txBody>
      </p:sp>
      <p:sp>
        <p:nvSpPr>
          <p:cNvPr id="1155" name="ccell22"/>
          <p:cNvSpPr>
            <a:spLocks noGrp="1"/>
          </p:cNvSpPr>
          <p:nvPr/>
        </p:nvSpPr>
        <p:spPr>
          <a:xfrm>
            <a:off x="4709160" y="3465576"/>
            <a:ext cx="123444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99.19%</a:t>
            </a:r>
          </a:p>
        </p:txBody>
      </p:sp>
      <p:sp>
        <p:nvSpPr>
          <p:cNvPr id="1156" name="ccell23"/>
          <p:cNvSpPr>
            <a:spLocks noGrp="1"/>
          </p:cNvSpPr>
          <p:nvPr/>
        </p:nvSpPr>
        <p:spPr>
          <a:xfrm>
            <a:off x="5989320" y="3465576"/>
            <a:ext cx="146304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✅ Yes</a:t>
            </a:r>
          </a:p>
        </p:txBody>
      </p:sp>
      <p:sp>
        <p:nvSpPr>
          <p:cNvPr id="1157" name="ccell24"/>
          <p:cNvSpPr>
            <a:spLocks noGrp="1"/>
          </p:cNvSpPr>
          <p:nvPr/>
        </p:nvSpPr>
        <p:spPr>
          <a:xfrm>
            <a:off x="7498079" y="3465576"/>
            <a:ext cx="155448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✅ Yes</a:t>
            </a:r>
          </a:p>
        </p:txBody>
      </p:sp>
      <p:sp>
        <p:nvSpPr>
          <p:cNvPr id="1158" name="ccell25"/>
          <p:cNvSpPr>
            <a:spLocks noGrp="1"/>
          </p:cNvSpPr>
          <p:nvPr/>
        </p:nvSpPr>
        <p:spPr>
          <a:xfrm>
            <a:off x="9098280" y="3465576"/>
            <a:ext cx="182880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</a:rPr>
              <a:t>✅ Yes</a:t>
            </a:r>
          </a:p>
        </p:txBody>
      </p:sp>
      <p:sp>
        <p:nvSpPr>
          <p:cNvPr id="1159" name="cr3"/>
          <p:cNvSpPr>
            <a:spLocks noGrp="1"/>
          </p:cNvSpPr>
          <p:nvPr/>
        </p:nvSpPr>
        <p:spPr>
          <a:xfrm>
            <a:off x="502920" y="4215384"/>
            <a:ext cx="11155680" cy="713232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60" name="ccell30"/>
          <p:cNvSpPr>
            <a:spLocks noGrp="1"/>
          </p:cNvSpPr>
          <p:nvPr/>
        </p:nvSpPr>
        <p:spPr>
          <a:xfrm>
            <a:off x="502920" y="4215384"/>
            <a:ext cx="169164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D4FF"/>
                </a:solidFill>
                <a:latin typeface="Segoe UI"/>
                <a:b/>
              </a:rPr>
              <a:t>Fusion Model
★ Proposed</a:t>
            </a:r>
          </a:p>
        </p:txBody>
      </p:sp>
      <p:sp>
        <p:nvSpPr>
          <p:cNvPr id="1161" name="ccell31"/>
          <p:cNvSpPr>
            <a:spLocks noGrp="1"/>
          </p:cNvSpPr>
          <p:nvPr/>
        </p:nvSpPr>
        <p:spPr>
          <a:xfrm>
            <a:off x="2240280" y="4215384"/>
            <a:ext cx="242316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D4FF"/>
                </a:solidFill>
                <a:latin typeface="Segoe UI"/>
                <a:b/>
              </a:rPr>
              <a:t>Hybrid IDS
System</a:t>
            </a:r>
          </a:p>
        </p:txBody>
      </p:sp>
      <p:sp>
        <p:nvSpPr>
          <p:cNvPr id="1162" name="ccell32"/>
          <p:cNvSpPr>
            <a:spLocks noGrp="1"/>
          </p:cNvSpPr>
          <p:nvPr/>
        </p:nvSpPr>
        <p:spPr>
          <a:xfrm>
            <a:off x="4709160" y="4215384"/>
            <a:ext cx="123444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FF88"/>
                </a:solidFill>
                <a:latin typeface="Segoe UI"/>
                <a:b/>
              </a:rPr>
              <a:t>96.82%</a:t>
            </a:r>
          </a:p>
        </p:txBody>
      </p:sp>
      <p:sp>
        <p:nvSpPr>
          <p:cNvPr id="1163" name="ccell33"/>
          <p:cNvSpPr>
            <a:spLocks noGrp="1"/>
          </p:cNvSpPr>
          <p:nvPr/>
        </p:nvSpPr>
        <p:spPr>
          <a:xfrm>
            <a:off x="5989320" y="4215384"/>
            <a:ext cx="146304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D4FF"/>
                </a:solidFill>
                <a:latin typeface="Segoe UI"/>
                <a:b/>
              </a:rPr>
              <a:t>✅ 97%</a:t>
            </a:r>
          </a:p>
        </p:txBody>
      </p:sp>
      <p:sp>
        <p:nvSpPr>
          <p:cNvPr id="1164" name="ccell34"/>
          <p:cNvSpPr>
            <a:spLocks noGrp="1"/>
          </p:cNvSpPr>
          <p:nvPr/>
        </p:nvSpPr>
        <p:spPr>
          <a:xfrm>
            <a:off x="7498079" y="4215384"/>
            <a:ext cx="155448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D4FF"/>
                </a:solidFill>
                <a:latin typeface="Segoe UI"/>
                <a:b/>
              </a:rPr>
              <a:t>✅ Yes</a:t>
            </a:r>
          </a:p>
        </p:txBody>
      </p:sp>
      <p:sp>
        <p:nvSpPr>
          <p:cNvPr id="1165" name="ccell35"/>
          <p:cNvSpPr>
            <a:spLocks noGrp="1"/>
          </p:cNvSpPr>
          <p:nvPr/>
        </p:nvSpPr>
        <p:spPr>
          <a:xfrm>
            <a:off x="9098280" y="4215384"/>
            <a:ext cx="1828800" cy="71323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00D4FF"/>
                </a:solidFill>
                <a:latin typeface="Segoe UI"/>
                <a:b/>
              </a:rPr>
              <a:t>✅ Yes</a:t>
            </a:r>
          </a:p>
        </p:txBody>
      </p:sp>
      <p:sp>
        <p:nvSpPr>
          <p:cNvPr id="1166" name="chartcard"/>
          <p:cNvSpPr>
            <a:spLocks noGrp="1"/>
          </p:cNvSpPr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67" name="charthdr"/>
          <p:cNvSpPr>
            <a:spLocks noGrp="1"/>
          </p:cNvSpPr>
          <p:nvPr/>
        </p:nvSpPr>
        <p:spPr>
          <a:xfrm>
            <a:off x="502920" y="5367528"/>
            <a:ext cx="11155680" cy="347472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7B2FFF"/>
                </a:solidFill>
                <a:latin typeface="Segoe UI"/>
                <a:b/>
              </a:rPr>
              <a:t>Zero-Day Detection Accuracy Comparison</a:t>
            </a:r>
          </a:p>
        </p:txBody>
      </p:sp>
      <p:sp>
        <p:nvSpPr>
          <p:cNvPr id="1168" name="zbtrack0"/>
          <p:cNvSpPr>
            <a:spLocks noGrp="1"/>
          </p:cNvSpPr>
          <p:nvPr/>
        </p:nvSpPr>
        <p:spPr>
          <a:xfrm>
            <a:off x="2331720" y="5806440"/>
            <a:ext cx="2057400" cy="411480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69" name="zbbar0"/>
          <p:cNvSpPr>
            <a:spLocks noGrp="1"/>
          </p:cNvSpPr>
          <p:nvPr/>
        </p:nvSpPr>
        <p:spPr>
          <a:xfrm>
            <a:off x="2331720" y="5806440"/>
            <a:ext cx="1008126" cy="411480"/>
          </a:xfrm>
          <a:prstGeom prst="roundRect">
            <a:avLst>
              <a:gd name="adj" fmla="val 15000"/>
            </a:avLst>
          </a:prstGeom>
          <a:solidFill>
            <a:srgbClr val="B0C4DE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70" name="zbn0"/>
          <p:cNvSpPr>
            <a:spLocks noGrp="1"/>
          </p:cNvSpPr>
          <p:nvPr/>
        </p:nvSpPr>
        <p:spPr>
          <a:xfrm>
            <a:off x="502920" y="5760720"/>
            <a:ext cx="18288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2" dirty="0">
                <a:solidFill>
                  <a:srgbClr val="B0C4DE"/>
                </a:solidFill>
                <a:latin typeface="Segoe UI"/>
              </a:rPr>
              <a:t>Isolation Forest</a:t>
            </a:r>
          </a:p>
        </p:txBody>
      </p:sp>
      <p:sp>
        <p:nvSpPr>
          <p:cNvPr id="1171" name="zbval0"/>
          <p:cNvSpPr>
            <a:spLocks noGrp="1"/>
          </p:cNvSpPr>
          <p:nvPr/>
        </p:nvSpPr>
        <p:spPr>
          <a:xfrm>
            <a:off x="4434840" y="5760720"/>
            <a:ext cx="77724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  <a:b/>
              </a:rPr>
              <a:t>49%</a:t>
            </a:r>
          </a:p>
        </p:txBody>
      </p:sp>
      <p:sp>
        <p:nvSpPr>
          <p:cNvPr id="1172" name="zbtrack1"/>
          <p:cNvSpPr>
            <a:spLocks noGrp="1"/>
          </p:cNvSpPr>
          <p:nvPr/>
        </p:nvSpPr>
        <p:spPr>
          <a:xfrm>
            <a:off x="5212080" y="5806440"/>
            <a:ext cx="2057400" cy="411480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73" name="zbn1"/>
          <p:cNvSpPr>
            <a:spLocks noGrp="1"/>
          </p:cNvSpPr>
          <p:nvPr/>
        </p:nvSpPr>
        <p:spPr>
          <a:xfrm>
            <a:off x="3383280" y="5760720"/>
            <a:ext cx="18288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2" dirty="0">
                <a:solidFill>
                  <a:srgbClr val="FFB800"/>
                </a:solidFill>
                <a:latin typeface="Segoe UI"/>
              </a:rPr>
              <a:t>LightGBM</a:t>
            </a:r>
          </a:p>
        </p:txBody>
      </p:sp>
      <p:sp>
        <p:nvSpPr>
          <p:cNvPr id="1174" name="zbval1"/>
          <p:cNvSpPr>
            <a:spLocks noGrp="1"/>
          </p:cNvSpPr>
          <p:nvPr/>
        </p:nvSpPr>
        <p:spPr>
          <a:xfrm>
            <a:off x="7315200" y="5760720"/>
            <a:ext cx="77724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FFB800"/>
                </a:solidFill>
                <a:latin typeface="Segoe UI"/>
                <a:b/>
              </a:rPr>
              <a:t>N/A</a:t>
            </a:r>
          </a:p>
        </p:txBody>
      </p:sp>
      <p:sp>
        <p:nvSpPr>
          <p:cNvPr id="1175" name="zbtrack2"/>
          <p:cNvSpPr>
            <a:spLocks noGrp="1"/>
          </p:cNvSpPr>
          <p:nvPr/>
        </p:nvSpPr>
        <p:spPr>
          <a:xfrm>
            <a:off x="8092440" y="5806440"/>
            <a:ext cx="2057400" cy="411480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76" name="zbbar2"/>
          <p:cNvSpPr>
            <a:spLocks noGrp="1"/>
          </p:cNvSpPr>
          <p:nvPr/>
        </p:nvSpPr>
        <p:spPr>
          <a:xfrm>
            <a:off x="8092440" y="5806440"/>
            <a:ext cx="2036826" cy="411480"/>
          </a:xfrm>
          <a:prstGeom prst="roundRect">
            <a:avLst>
              <a:gd name="adj" fmla="val 15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77" name="zbn2"/>
          <p:cNvSpPr>
            <a:spLocks noGrp="1"/>
          </p:cNvSpPr>
          <p:nvPr/>
        </p:nvSpPr>
        <p:spPr>
          <a:xfrm>
            <a:off x="6263640" y="5760720"/>
            <a:ext cx="18288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2" dirty="0">
                <a:solidFill>
                  <a:srgbClr val="00FF88"/>
                </a:solidFill>
                <a:latin typeface="Segoe UI"/>
              </a:rPr>
              <a:t>Autoencoder</a:t>
            </a:r>
          </a:p>
        </p:txBody>
      </p:sp>
      <p:sp>
        <p:nvSpPr>
          <p:cNvPr id="1178" name="zbval2"/>
          <p:cNvSpPr>
            <a:spLocks noGrp="1"/>
          </p:cNvSpPr>
          <p:nvPr/>
        </p:nvSpPr>
        <p:spPr>
          <a:xfrm>
            <a:off x="10195560" y="5760720"/>
            <a:ext cx="77724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FF88"/>
                </a:solidFill>
                <a:latin typeface="Segoe UI"/>
                <a:b/>
              </a:rPr>
              <a:t>99%</a:t>
            </a:r>
          </a:p>
        </p:txBody>
      </p:sp>
      <p:sp>
        <p:nvSpPr>
          <p:cNvPr id="1179" name="zbtrack3"/>
          <p:cNvSpPr>
            <a:spLocks noGrp="1"/>
          </p:cNvSpPr>
          <p:nvPr/>
        </p:nvSpPr>
        <p:spPr>
          <a:xfrm>
            <a:off x="10972800" y="5806440"/>
            <a:ext cx="2057400" cy="411480"/>
          </a:xfrm>
          <a:prstGeom prst="roundRect">
            <a:avLst>
              <a:gd name="adj" fmla="val 15000"/>
            </a:avLst>
          </a:prstGeom>
          <a:solidFill>
            <a:srgbClr val="3A4A6B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80" name="zbbar3"/>
          <p:cNvSpPr>
            <a:spLocks noGrp="1"/>
          </p:cNvSpPr>
          <p:nvPr/>
        </p:nvSpPr>
        <p:spPr>
          <a:xfrm>
            <a:off x="10972800" y="5806440"/>
            <a:ext cx="1995678" cy="411480"/>
          </a:xfrm>
          <a:prstGeom prst="roundRect">
            <a:avLst>
              <a:gd name="adj" fmla="val 15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81" name="zbn3"/>
          <p:cNvSpPr>
            <a:spLocks noGrp="1"/>
          </p:cNvSpPr>
          <p:nvPr/>
        </p:nvSpPr>
        <p:spPr>
          <a:xfrm>
            <a:off x="9144000" y="5760720"/>
            <a:ext cx="182880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r"/>
            <a:r>
              <a:rPr lang="en-US" sz="12" dirty="0">
                <a:solidFill>
                  <a:srgbClr val="00D4FF"/>
                </a:solidFill>
                <a:latin typeface="Segoe UI"/>
                <a:b/>
              </a:rPr>
              <a:t>Fusion Model ★</a:t>
            </a:r>
          </a:p>
        </p:txBody>
      </p:sp>
      <p:sp>
        <p:nvSpPr>
          <p:cNvPr id="1182" name="zbval3"/>
          <p:cNvSpPr>
            <a:spLocks noGrp="1"/>
          </p:cNvSpPr>
          <p:nvPr/>
        </p:nvSpPr>
        <p:spPr>
          <a:xfrm>
            <a:off x="13075920" y="5760720"/>
            <a:ext cx="77724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00D4FF"/>
                </a:solidFill>
                <a:latin typeface="Segoe UI"/>
                <a:b/>
              </a:rPr>
              <a:t>97%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1183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84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85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86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1187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Key Research Contributions</a:t>
            </a:r>
          </a:p>
        </p:txBody>
      </p:sp>
      <p:sp>
        <p:nvSpPr>
          <p:cNvPr id="1188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189" name="contrib0"/>
          <p:cNvSpPr>
            <a:spLocks noGrp="1"/>
          </p:cNvSpPr>
          <p:nvPr/>
        </p:nvSpPr>
        <p:spPr>
          <a:xfrm>
            <a:off x="365760" y="1051560"/>
            <a:ext cx="5577840" cy="17373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90" name="cbadge0"/>
          <p:cNvSpPr>
            <a:spLocks noGrp="1"/>
          </p:cNvSpPr>
          <p:nvPr/>
        </p:nvSpPr>
        <p:spPr>
          <a:xfrm>
            <a:off x="530352" y="1216152"/>
            <a:ext cx="640080" cy="640080"/>
          </a:xfrm>
          <a:prstGeom prst="roundRect">
            <a:avLst>
              <a:gd name="adj" fmla="val 166666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20" dirty="0">
                <a:solidFill>
                  <a:srgbClr val="FFFFFF"/>
                </a:solidFill>
                <a:latin typeface="Segoe UI"/>
              </a:rPr>
              <a:t>🔀</a:t>
            </a:r>
          </a:p>
        </p:txBody>
      </p:sp>
      <p:sp>
        <p:nvSpPr>
          <p:cNvPr id="1191" name="ctitle0"/>
          <p:cNvSpPr>
            <a:spLocks noGrp="1"/>
          </p:cNvSpPr>
          <p:nvPr/>
        </p:nvSpPr>
        <p:spPr>
          <a:xfrm>
            <a:off x="1280160" y="1188720"/>
            <a:ext cx="452628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00D4FF"/>
                </a:solidFill>
                <a:latin typeface="Segoe UI"/>
                <a:b/>
              </a:rPr>
              <a:t>Hybrid IDS Framework</a:t>
            </a:r>
          </a:p>
        </p:txBody>
      </p:sp>
      <p:sp>
        <p:nvSpPr>
          <p:cNvPr id="1192" name="cdesc0"/>
          <p:cNvSpPr>
            <a:spLocks noGrp="1"/>
          </p:cNvSpPr>
          <p:nvPr/>
        </p:nvSpPr>
        <p:spPr>
          <a:xfrm>
            <a:off x="548640" y="1737360"/>
            <a:ext cx="5212080" cy="96012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Novel combination of supervised LightGBM + unsupervised Autoencoder in a single end-to-end IoT intrusion detection pipeline</a:t>
            </a:r>
          </a:p>
        </p:txBody>
      </p:sp>
      <p:sp>
        <p:nvSpPr>
          <p:cNvPr id="1193" name="contrib1"/>
          <p:cNvSpPr>
            <a:spLocks noGrp="1"/>
          </p:cNvSpPr>
          <p:nvPr/>
        </p:nvSpPr>
        <p:spPr>
          <a:xfrm>
            <a:off x="6309360" y="1051560"/>
            <a:ext cx="5577840" cy="17373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94" name="cbadge1"/>
          <p:cNvSpPr>
            <a:spLocks noGrp="1"/>
          </p:cNvSpPr>
          <p:nvPr/>
        </p:nvSpPr>
        <p:spPr>
          <a:xfrm>
            <a:off x="6473952" y="1216152"/>
            <a:ext cx="640080" cy="640080"/>
          </a:xfrm>
          <a:prstGeom prst="roundRect">
            <a:avLst>
              <a:gd name="adj" fmla="val 166666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20" dirty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1195" name="ctitle1"/>
          <p:cNvSpPr>
            <a:spLocks noGrp="1"/>
          </p:cNvSpPr>
          <p:nvPr/>
        </p:nvSpPr>
        <p:spPr>
          <a:xfrm>
            <a:off x="7223760" y="1188720"/>
            <a:ext cx="452628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00FF88"/>
                </a:solidFill>
                <a:latin typeface="Segoe UI"/>
                <a:b/>
              </a:rPr>
              <a:t>Zero-Day Detection Capability</a:t>
            </a:r>
          </a:p>
        </p:txBody>
      </p:sp>
      <p:sp>
        <p:nvSpPr>
          <p:cNvPr id="1196" name="cdesc1"/>
          <p:cNvSpPr>
            <a:spLocks noGrp="1"/>
          </p:cNvSpPr>
          <p:nvPr/>
        </p:nvSpPr>
        <p:spPr>
          <a:xfrm>
            <a:off x="6492240" y="1737360"/>
            <a:ext cx="5212080" cy="96012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Achieves 97% detection accuracy on 5 completely unseen attack types — simulating real-world zero-day scenarios</a:t>
            </a:r>
          </a:p>
        </p:txBody>
      </p:sp>
      <p:sp>
        <p:nvSpPr>
          <p:cNvPr id="1197" name="contrib2"/>
          <p:cNvSpPr>
            <a:spLocks noGrp="1"/>
          </p:cNvSpPr>
          <p:nvPr/>
        </p:nvSpPr>
        <p:spPr>
          <a:xfrm>
            <a:off x="365760" y="2926079"/>
            <a:ext cx="5577840" cy="17373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198" name="cbadge2"/>
          <p:cNvSpPr>
            <a:spLocks noGrp="1"/>
          </p:cNvSpPr>
          <p:nvPr/>
        </p:nvSpPr>
        <p:spPr>
          <a:xfrm>
            <a:off x="530352" y="3090671"/>
            <a:ext cx="640080" cy="640080"/>
          </a:xfrm>
          <a:prstGeom prst="roundRect">
            <a:avLst>
              <a:gd name="adj" fmla="val 166666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20" dirty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1199" name="ctitle2"/>
          <p:cNvSpPr>
            <a:spLocks noGrp="1"/>
          </p:cNvSpPr>
          <p:nvPr/>
        </p:nvSpPr>
        <p:spPr>
          <a:xfrm>
            <a:off x="1280160" y="3063239"/>
            <a:ext cx="452628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7B2FFF"/>
                </a:solidFill>
                <a:latin typeface="Segoe UI"/>
                <a:b/>
              </a:rPr>
              <a:t>Ultra-Lightweight Architecture</a:t>
            </a:r>
          </a:p>
        </p:txBody>
      </p:sp>
      <p:sp>
        <p:nvSpPr>
          <p:cNvPr id="1200" name="cdesc2"/>
          <p:cNvSpPr>
            <a:spLocks noGrp="1"/>
          </p:cNvSpPr>
          <p:nvPr/>
        </p:nvSpPr>
        <p:spPr>
          <a:xfrm>
            <a:off x="548640" y="3611879"/>
            <a:ext cx="5212080" cy="96012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Autoencoder with only 11,907 parameters — deployable on resource-constrained IoT edge gateways</a:t>
            </a:r>
          </a:p>
        </p:txBody>
      </p:sp>
      <p:sp>
        <p:nvSpPr>
          <p:cNvPr id="1201" name="contrib3"/>
          <p:cNvSpPr>
            <a:spLocks noGrp="1"/>
          </p:cNvSpPr>
          <p:nvPr/>
        </p:nvSpPr>
        <p:spPr>
          <a:xfrm>
            <a:off x="6309360" y="2926079"/>
            <a:ext cx="5577840" cy="17373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02" name="cbadge3"/>
          <p:cNvSpPr>
            <a:spLocks noGrp="1"/>
          </p:cNvSpPr>
          <p:nvPr/>
        </p:nvSpPr>
        <p:spPr>
          <a:xfrm>
            <a:off x="6473952" y="3090671"/>
            <a:ext cx="640080" cy="640080"/>
          </a:xfrm>
          <a:prstGeom prst="roundRect">
            <a:avLst>
              <a:gd name="adj" fmla="val 166666"/>
            </a:avLst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20" dirty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1203" name="ctitle3"/>
          <p:cNvSpPr>
            <a:spLocks noGrp="1"/>
          </p:cNvSpPr>
          <p:nvPr/>
        </p:nvSpPr>
        <p:spPr>
          <a:xfrm>
            <a:off x="7223760" y="3063239"/>
            <a:ext cx="452628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FFB800"/>
                </a:solidFill>
                <a:latin typeface="Segoe UI"/>
                <a:b/>
              </a:rPr>
              <a:t>Rigorous Zero-Day Simulation</a:t>
            </a:r>
          </a:p>
        </p:txBody>
      </p:sp>
      <p:sp>
        <p:nvSpPr>
          <p:cNvPr id="1204" name="cdesc3"/>
          <p:cNvSpPr>
            <a:spLocks noGrp="1"/>
          </p:cNvSpPr>
          <p:nvPr/>
        </p:nvSpPr>
        <p:spPr>
          <a:xfrm>
            <a:off x="6492240" y="3611879"/>
            <a:ext cx="5212080" cy="96012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Strict experimental protocol: 5 attack types are fully hidden from training — ensuring valid zero-day evaluation</a:t>
            </a:r>
          </a:p>
        </p:txBody>
      </p:sp>
      <p:sp>
        <p:nvSpPr>
          <p:cNvPr id="1205" name="contrib4"/>
          <p:cNvSpPr>
            <a:spLocks noGrp="1"/>
          </p:cNvSpPr>
          <p:nvPr/>
        </p:nvSpPr>
        <p:spPr>
          <a:xfrm>
            <a:off x="365760" y="4800598"/>
            <a:ext cx="5577840" cy="17373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06" name="cbadge4"/>
          <p:cNvSpPr>
            <a:spLocks noGrp="1"/>
          </p:cNvSpPr>
          <p:nvPr/>
        </p:nvSpPr>
        <p:spPr>
          <a:xfrm>
            <a:off x="530352" y="4965190"/>
            <a:ext cx="640080" cy="640080"/>
          </a:xfrm>
          <a:prstGeom prst="roundRect">
            <a:avLst>
              <a:gd name="adj" fmla="val 166666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20" dirty="0">
                <a:solidFill>
                  <a:srgbClr val="FFFFFF"/>
                </a:solidFill>
                <a:latin typeface="Segoe UI"/>
              </a:rPr>
              <a:t>🏆</a:t>
            </a:r>
          </a:p>
        </p:txBody>
      </p:sp>
      <p:sp>
        <p:nvSpPr>
          <p:cNvPr id="1207" name="ctitle4"/>
          <p:cNvSpPr>
            <a:spLocks noGrp="1"/>
          </p:cNvSpPr>
          <p:nvPr/>
        </p:nvSpPr>
        <p:spPr>
          <a:xfrm>
            <a:off x="1280160" y="4937758"/>
            <a:ext cx="452628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FF4C4C"/>
                </a:solidFill>
                <a:latin typeface="Segoe UI"/>
                <a:b/>
              </a:rPr>
              <a:t>Baseline Benchmarking</a:t>
            </a:r>
          </a:p>
        </p:txBody>
      </p:sp>
      <p:sp>
        <p:nvSpPr>
          <p:cNvPr id="1208" name="cdesc4"/>
          <p:cNvSpPr>
            <a:spLocks noGrp="1"/>
          </p:cNvSpPr>
          <p:nvPr/>
        </p:nvSpPr>
        <p:spPr>
          <a:xfrm>
            <a:off x="548640" y="5486398"/>
            <a:ext cx="5212080" cy="96012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Outperforms Isolation Forest (49%) baseline by 48 percentage points on zero-day detection accuracy</a:t>
            </a:r>
          </a:p>
        </p:txBody>
      </p:sp>
      <p:sp>
        <p:nvSpPr>
          <p:cNvPr id="1209" name="contrib5"/>
          <p:cNvSpPr>
            <a:spLocks noGrp="1"/>
          </p:cNvSpPr>
          <p:nvPr/>
        </p:nvSpPr>
        <p:spPr>
          <a:xfrm>
            <a:off x="6309360" y="4800598"/>
            <a:ext cx="5577840" cy="17373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B0C4DE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10" name="cbadge5"/>
          <p:cNvSpPr>
            <a:spLocks noGrp="1"/>
          </p:cNvSpPr>
          <p:nvPr/>
        </p:nvSpPr>
        <p:spPr>
          <a:xfrm>
            <a:off x="6473952" y="4965190"/>
            <a:ext cx="640080" cy="640080"/>
          </a:xfrm>
          <a:prstGeom prst="roundRect">
            <a:avLst>
              <a:gd name="adj" fmla="val 166666"/>
            </a:avLst>
          </a:prstGeom>
          <a:solidFill>
            <a:srgbClr val="B0C4DE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20" dirty="0">
                <a:solidFill>
                  <a:srgbClr val="FFFFFF"/>
                </a:solidFill>
                <a:latin typeface="Segoe UI"/>
              </a:rPr>
              <a:t>🔬</a:t>
            </a:r>
          </a:p>
        </p:txBody>
      </p:sp>
      <p:sp>
        <p:nvSpPr>
          <p:cNvPr id="1211" name="ctitle5"/>
          <p:cNvSpPr>
            <a:spLocks noGrp="1"/>
          </p:cNvSpPr>
          <p:nvPr/>
        </p:nvSpPr>
        <p:spPr>
          <a:xfrm>
            <a:off x="7223760" y="4937758"/>
            <a:ext cx="4526280" cy="4572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7" dirty="0">
                <a:solidFill>
                  <a:srgbClr val="B0C4DE"/>
                </a:solidFill>
                <a:latin typeface="Segoe UI"/>
                <a:b/>
              </a:rPr>
              <a:t>Research-Grade Reproducibility</a:t>
            </a:r>
          </a:p>
        </p:txBody>
      </p:sp>
      <p:sp>
        <p:nvSpPr>
          <p:cNvPr id="1212" name="cdesc5"/>
          <p:cNvSpPr>
            <a:spLocks noGrp="1"/>
          </p:cNvSpPr>
          <p:nvPr/>
        </p:nvSpPr>
        <p:spPr>
          <a:xfrm>
            <a:off x="6492240" y="5486398"/>
            <a:ext cx="5212080" cy="96012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All code, datasets, and model artifacts published — fully reproducible pipeline from raw data to final evaluation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1213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14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15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16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1217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Limitations</a:t>
            </a:r>
          </a:p>
        </p:txBody>
      </p:sp>
      <p:sp>
        <p:nvSpPr>
          <p:cNvPr id="1218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19" name="limsub"/>
          <p:cNvSpPr>
            <a:spLocks noGrp="1"/>
          </p:cNvSpPr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  <a:i/>
              </a:rPr>
              <a:t>Honest academic assessment of current limitations — areas for future improvement.</a:t>
            </a:r>
          </a:p>
        </p:txBody>
      </p:sp>
      <p:sp>
        <p:nvSpPr>
          <p:cNvPr id="1220" name="lim0"/>
          <p:cNvSpPr>
            <a:spLocks noGrp="1"/>
          </p:cNvSpPr>
          <p:nvPr/>
        </p:nvSpPr>
        <p:spPr>
          <a:xfrm>
            <a:off x="365760" y="1508760"/>
            <a:ext cx="11430000" cy="868680"/>
          </a:xfrm>
          <a:prstGeom prst="roundRect">
            <a:avLst>
              <a:gd name="adj" fmla="val 50000"/>
            </a:avLst>
          </a:prstGeom>
          <a:solidFill>
            <a:srgbClr val="0D1F3C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21" name="limnum0"/>
          <p:cNvSpPr>
            <a:spLocks noGrp="1"/>
          </p:cNvSpPr>
          <p:nvPr/>
        </p:nvSpPr>
        <p:spPr>
          <a:xfrm>
            <a:off x="411480" y="1691640"/>
            <a:ext cx="457200" cy="457200"/>
          </a:xfrm>
          <a:prstGeom prst="roundRect">
            <a:avLst>
              <a:gd name="adj" fmla="val 166666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50B1F"/>
                </a:solidFill>
                <a:latin typeface="Segoe UI"/>
                <a:b/>
              </a:rPr>
              <a:t>01</a:t>
            </a:r>
          </a:p>
        </p:txBody>
      </p:sp>
      <p:sp>
        <p:nvSpPr>
          <p:cNvPr id="1222" name="ltitle0"/>
          <p:cNvSpPr>
            <a:spLocks noGrp="1"/>
          </p:cNvSpPr>
          <p:nvPr/>
        </p:nvSpPr>
        <p:spPr>
          <a:xfrm>
            <a:off x="1005840" y="1563624"/>
            <a:ext cx="1065276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FF4C4C"/>
                </a:solidFill>
                <a:latin typeface="Segoe UI"/>
                <a:b/>
              </a:rPr>
              <a:t>Offline Dataset Evaluation</a:t>
            </a:r>
          </a:p>
        </p:txBody>
      </p:sp>
      <p:sp>
        <p:nvSpPr>
          <p:cNvPr id="1223" name="ldesc0"/>
          <p:cNvSpPr>
            <a:spLocks noGrp="1"/>
          </p:cNvSpPr>
          <p:nvPr/>
        </p:nvSpPr>
        <p:spPr>
          <a:xfrm>
            <a:off x="1005840" y="1965960"/>
            <a:ext cx="10652760" cy="384048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The system was evaluated on a pre-collected static dataset (Edge-IIoT). Real-world deployment requires live packet capture and stream processing.</a:t>
            </a:r>
          </a:p>
        </p:txBody>
      </p:sp>
      <p:sp>
        <p:nvSpPr>
          <p:cNvPr id="1224" name="lim1"/>
          <p:cNvSpPr>
            <a:spLocks noGrp="1"/>
          </p:cNvSpPr>
          <p:nvPr/>
        </p:nvSpPr>
        <p:spPr>
          <a:xfrm>
            <a:off x="365760" y="2478024"/>
            <a:ext cx="11430000" cy="868680"/>
          </a:xfrm>
          <a:prstGeom prst="roundRect">
            <a:avLst>
              <a:gd name="adj" fmla="val 5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25" name="limnum1"/>
          <p:cNvSpPr>
            <a:spLocks noGrp="1"/>
          </p:cNvSpPr>
          <p:nvPr/>
        </p:nvSpPr>
        <p:spPr>
          <a:xfrm>
            <a:off x="411480" y="2660904"/>
            <a:ext cx="457200" cy="457200"/>
          </a:xfrm>
          <a:prstGeom prst="roundRect">
            <a:avLst>
              <a:gd name="adj" fmla="val 166666"/>
            </a:avLst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50B1F"/>
                </a:solidFill>
                <a:latin typeface="Segoe UI"/>
                <a:b/>
              </a:rPr>
              <a:t>02</a:t>
            </a:r>
          </a:p>
        </p:txBody>
      </p:sp>
      <p:sp>
        <p:nvSpPr>
          <p:cNvPr id="1226" name="ltitle1"/>
          <p:cNvSpPr>
            <a:spLocks noGrp="1"/>
          </p:cNvSpPr>
          <p:nvPr/>
        </p:nvSpPr>
        <p:spPr>
          <a:xfrm>
            <a:off x="1005840" y="2532888"/>
            <a:ext cx="1065276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FFB800"/>
                </a:solidFill>
                <a:latin typeface="Segoe UI"/>
                <a:b/>
              </a:rPr>
              <a:t>No Real-Time Deployment</a:t>
            </a:r>
          </a:p>
        </p:txBody>
      </p:sp>
      <p:sp>
        <p:nvSpPr>
          <p:cNvPr id="1227" name="ldesc1"/>
          <p:cNvSpPr>
            <a:spLocks noGrp="1"/>
          </p:cNvSpPr>
          <p:nvPr/>
        </p:nvSpPr>
        <p:spPr>
          <a:xfrm>
            <a:off x="1005840" y="2935224"/>
            <a:ext cx="10652760" cy="384048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All experiments were conducted in a Colab environment. Performance on actual IoT hardware (Raspberry Pi, NVIDIA Jetson) remains untested.</a:t>
            </a:r>
          </a:p>
        </p:txBody>
      </p:sp>
      <p:sp>
        <p:nvSpPr>
          <p:cNvPr id="1228" name="lim2"/>
          <p:cNvSpPr>
            <a:spLocks noGrp="1"/>
          </p:cNvSpPr>
          <p:nvPr/>
        </p:nvSpPr>
        <p:spPr>
          <a:xfrm>
            <a:off x="365760" y="3447288"/>
            <a:ext cx="11430000" cy="868680"/>
          </a:xfrm>
          <a:prstGeom prst="roundRect">
            <a:avLst>
              <a:gd name="adj" fmla="val 5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29" name="limnum2"/>
          <p:cNvSpPr>
            <a:spLocks noGrp="1"/>
          </p:cNvSpPr>
          <p:nvPr/>
        </p:nvSpPr>
        <p:spPr>
          <a:xfrm>
            <a:off x="411480" y="3630168"/>
            <a:ext cx="457200" cy="457200"/>
          </a:xfrm>
          <a:prstGeom prst="roundRect">
            <a:avLst>
              <a:gd name="adj" fmla="val 166666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50B1F"/>
                </a:solidFill>
                <a:latin typeface="Segoe UI"/>
                <a:b/>
              </a:rPr>
              <a:t>03</a:t>
            </a:r>
          </a:p>
        </p:txBody>
      </p:sp>
      <p:sp>
        <p:nvSpPr>
          <p:cNvPr id="1230" name="ltitle2"/>
          <p:cNvSpPr>
            <a:spLocks noGrp="1"/>
          </p:cNvSpPr>
          <p:nvPr/>
        </p:nvSpPr>
        <p:spPr>
          <a:xfrm>
            <a:off x="1005840" y="3502152"/>
            <a:ext cx="1065276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7B2FFF"/>
                </a:solidFill>
                <a:latin typeface="Segoe UI"/>
                <a:b/>
              </a:rPr>
              <a:t>Threshold Sensitivity</a:t>
            </a:r>
          </a:p>
        </p:txBody>
      </p:sp>
      <p:sp>
        <p:nvSpPr>
          <p:cNvPr id="1231" name="ldesc2"/>
          <p:cNvSpPr>
            <a:spLocks noGrp="1"/>
          </p:cNvSpPr>
          <p:nvPr/>
        </p:nvSpPr>
        <p:spPr>
          <a:xfrm>
            <a:off x="1005840" y="3904488"/>
            <a:ext cx="10652760" cy="384048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The Autoencoder anomaly threshold (0.0122) was tuned on the current dataset. Different IoT environments may require threshold re-calibration.</a:t>
            </a:r>
          </a:p>
        </p:txBody>
      </p:sp>
      <p:sp>
        <p:nvSpPr>
          <p:cNvPr id="1232" name="lim3"/>
          <p:cNvSpPr>
            <a:spLocks noGrp="1"/>
          </p:cNvSpPr>
          <p:nvPr/>
        </p:nvSpPr>
        <p:spPr>
          <a:xfrm>
            <a:off x="365760" y="4416552"/>
            <a:ext cx="11430000" cy="868680"/>
          </a:xfrm>
          <a:prstGeom prst="roundRect">
            <a:avLst>
              <a:gd name="adj" fmla="val 5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33" name="limnum3"/>
          <p:cNvSpPr>
            <a:spLocks noGrp="1"/>
          </p:cNvSpPr>
          <p:nvPr/>
        </p:nvSpPr>
        <p:spPr>
          <a:xfrm>
            <a:off x="411480" y="4599432"/>
            <a:ext cx="457200" cy="457200"/>
          </a:xfrm>
          <a:prstGeom prst="roundRect">
            <a:avLst>
              <a:gd name="adj" fmla="val 166666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50B1F"/>
                </a:solidFill>
                <a:latin typeface="Segoe UI"/>
                <a:b/>
              </a:rPr>
              <a:t>04</a:t>
            </a:r>
          </a:p>
        </p:txBody>
      </p:sp>
      <p:sp>
        <p:nvSpPr>
          <p:cNvPr id="1234" name="ltitle3"/>
          <p:cNvSpPr>
            <a:spLocks noGrp="1"/>
          </p:cNvSpPr>
          <p:nvPr/>
        </p:nvSpPr>
        <p:spPr>
          <a:xfrm>
            <a:off x="1005840" y="4471416"/>
            <a:ext cx="1065276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Limited Dataset Diversity</a:t>
            </a:r>
          </a:p>
        </p:txBody>
      </p:sp>
      <p:sp>
        <p:nvSpPr>
          <p:cNvPr id="1235" name="ldesc3"/>
          <p:cNvSpPr>
            <a:spLocks noGrp="1"/>
          </p:cNvSpPr>
          <p:nvPr/>
        </p:nvSpPr>
        <p:spPr>
          <a:xfrm>
            <a:off x="1005840" y="4873752"/>
            <a:ext cx="10652760" cy="384048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Edge-IIoT covers 14 attack types from a controlled lab environment. Real-world attacks may exhibit more diverse or combined attack patterns.</a:t>
            </a:r>
          </a:p>
        </p:txBody>
      </p:sp>
      <p:sp>
        <p:nvSpPr>
          <p:cNvPr id="1236" name="lim4"/>
          <p:cNvSpPr>
            <a:spLocks noGrp="1"/>
          </p:cNvSpPr>
          <p:nvPr/>
        </p:nvSpPr>
        <p:spPr>
          <a:xfrm>
            <a:off x="365760" y="5385816"/>
            <a:ext cx="11430000" cy="868680"/>
          </a:xfrm>
          <a:prstGeom prst="roundRect">
            <a:avLst>
              <a:gd name="adj" fmla="val 50000"/>
            </a:avLst>
          </a:prstGeom>
          <a:solidFill>
            <a:srgbClr val="0D1F3C"/>
          </a:solidFill>
          <a:ln w="12700">
            <a:solidFill>
              <a:srgbClr val="B0C4DE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37" name="limnum4"/>
          <p:cNvSpPr>
            <a:spLocks noGrp="1"/>
          </p:cNvSpPr>
          <p:nvPr/>
        </p:nvSpPr>
        <p:spPr>
          <a:xfrm>
            <a:off x="411480" y="5568696"/>
            <a:ext cx="457200" cy="457200"/>
          </a:xfrm>
          <a:prstGeom prst="roundRect">
            <a:avLst>
              <a:gd name="adj" fmla="val 166666"/>
            </a:avLst>
          </a:prstGeom>
          <a:solidFill>
            <a:srgbClr val="B0C4DE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50B1F"/>
                </a:solidFill>
                <a:latin typeface="Segoe UI"/>
                <a:b/>
              </a:rPr>
              <a:t>05</a:t>
            </a:r>
          </a:p>
        </p:txBody>
      </p:sp>
      <p:sp>
        <p:nvSpPr>
          <p:cNvPr id="1238" name="ltitle4"/>
          <p:cNvSpPr>
            <a:spLocks noGrp="1"/>
          </p:cNvSpPr>
          <p:nvPr/>
        </p:nvSpPr>
        <p:spPr>
          <a:xfrm>
            <a:off x="1005840" y="5440680"/>
            <a:ext cx="1065276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B0C4DE"/>
                </a:solidFill>
                <a:latin typeface="Segoe UI"/>
                <a:b/>
              </a:rPr>
              <a:t>Class Imbalance in Zero-Day Set</a:t>
            </a:r>
          </a:p>
        </p:txBody>
      </p:sp>
      <p:sp>
        <p:nvSpPr>
          <p:cNvPr id="1239" name="ldesc4"/>
          <p:cNvSpPr>
            <a:spLocks noGrp="1"/>
          </p:cNvSpPr>
          <p:nvPr/>
        </p:nvSpPr>
        <p:spPr>
          <a:xfrm>
            <a:off x="1005840" y="5843016"/>
            <a:ext cx="10652760" cy="384048"/>
          </a:xfrm>
          <a:prstGeom prst="rect">
            <a:avLst/>
          </a:prstGeom>
          <a:noFill/>
        </p:spPr>
        <p:txBody>
          <a:bodyPr anchor="t" vert="horz" lIns="91440" rIns="9144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Fingerprinting (853 rows) and MITM (394 rows) are severely underrepresented compared to other zero-day types — may affect recall for rare attacks.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1240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41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42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43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1244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Future Work &amp; Research Directions</a:t>
            </a:r>
          </a:p>
        </p:txBody>
      </p:sp>
      <p:sp>
        <p:nvSpPr>
          <p:cNvPr id="1245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46" name="fw0"/>
          <p:cNvSpPr>
            <a:spLocks noGrp="1"/>
          </p:cNvSpPr>
          <p:nvPr/>
        </p:nvSpPr>
        <p:spPr>
          <a:xfrm>
            <a:off x="365760" y="1051560"/>
            <a:ext cx="5577840" cy="17373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47" name="fwterm0"/>
          <p:cNvSpPr>
            <a:spLocks noGrp="1"/>
          </p:cNvSpPr>
          <p:nvPr/>
        </p:nvSpPr>
        <p:spPr>
          <a:xfrm>
            <a:off x="4663440" y="1188720"/>
            <a:ext cx="1143000" cy="347472"/>
          </a:xfrm>
          <a:prstGeom prst="roundRect">
            <a:avLst>
              <a:gd name="adj" fmla="val 40000"/>
            </a:avLst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Short Term</a:t>
            </a:r>
          </a:p>
        </p:txBody>
      </p:sp>
      <p:sp>
        <p:nvSpPr>
          <p:cNvPr id="1248" name="fwtitle0"/>
          <p:cNvSpPr>
            <a:spLocks noGrp="1"/>
          </p:cNvSpPr>
          <p:nvPr/>
        </p:nvSpPr>
        <p:spPr>
          <a:xfrm>
            <a:off x="502920" y="1216152"/>
            <a:ext cx="406908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00D4FF"/>
                </a:solidFill>
                <a:latin typeface="Segoe UI"/>
                <a:b/>
              </a:rPr>
              <a:t>🔴  Real-Time Deployment</a:t>
            </a:r>
          </a:p>
        </p:txBody>
      </p:sp>
      <p:sp>
        <p:nvSpPr>
          <p:cNvPr id="1249" name="fwdesc0"/>
          <p:cNvSpPr>
            <a:spLocks noGrp="1"/>
          </p:cNvSpPr>
          <p:nvPr/>
        </p:nvSpPr>
        <p:spPr>
          <a:xfrm>
            <a:off x="548640" y="1709928"/>
            <a:ext cx="5212080" cy="100584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Integrate with live network capture (Scapy/TShark) for streaming IoT traffic analysis at edge gateways</a:t>
            </a:r>
          </a:p>
        </p:txBody>
      </p:sp>
      <p:sp>
        <p:nvSpPr>
          <p:cNvPr id="1250" name="fw1"/>
          <p:cNvSpPr>
            <a:spLocks noGrp="1"/>
          </p:cNvSpPr>
          <p:nvPr/>
        </p:nvSpPr>
        <p:spPr>
          <a:xfrm>
            <a:off x="6309360" y="1051560"/>
            <a:ext cx="5577840" cy="17373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51" name="fwterm1"/>
          <p:cNvSpPr>
            <a:spLocks noGrp="1"/>
          </p:cNvSpPr>
          <p:nvPr/>
        </p:nvSpPr>
        <p:spPr>
          <a:xfrm>
            <a:off x="10607040" y="1188720"/>
            <a:ext cx="1143000" cy="347472"/>
          </a:xfrm>
          <a:prstGeom prst="roundRect">
            <a:avLst>
              <a:gd name="adj" fmla="val 40000"/>
            </a:avLst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Medium Term</a:t>
            </a:r>
          </a:p>
        </p:txBody>
      </p:sp>
      <p:sp>
        <p:nvSpPr>
          <p:cNvPr id="1252" name="fwtitle1"/>
          <p:cNvSpPr>
            <a:spLocks noGrp="1"/>
          </p:cNvSpPr>
          <p:nvPr/>
        </p:nvSpPr>
        <p:spPr>
          <a:xfrm>
            <a:off x="6446520" y="1216152"/>
            <a:ext cx="406908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7B2FFF"/>
                </a:solidFill>
                <a:latin typeface="Segoe UI"/>
                <a:b/>
              </a:rPr>
              <a:t>🟣  Advanced Fusion Strategies</a:t>
            </a:r>
          </a:p>
        </p:txBody>
      </p:sp>
      <p:sp>
        <p:nvSpPr>
          <p:cNvPr id="1253" name="fwdesc1"/>
          <p:cNvSpPr>
            <a:spLocks noGrp="1"/>
          </p:cNvSpPr>
          <p:nvPr/>
        </p:nvSpPr>
        <p:spPr>
          <a:xfrm>
            <a:off x="6492240" y="1709928"/>
            <a:ext cx="5212080" cy="100584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Replace threshold-based routing with a meta-learner (stacking) or attention-based fusion mechanism</a:t>
            </a:r>
          </a:p>
        </p:txBody>
      </p:sp>
      <p:sp>
        <p:nvSpPr>
          <p:cNvPr id="1254" name="fw2"/>
          <p:cNvSpPr>
            <a:spLocks noGrp="1"/>
          </p:cNvSpPr>
          <p:nvPr/>
        </p:nvSpPr>
        <p:spPr>
          <a:xfrm>
            <a:off x="365760" y="2926079"/>
            <a:ext cx="5577840" cy="17373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55" name="fwterm2"/>
          <p:cNvSpPr>
            <a:spLocks noGrp="1"/>
          </p:cNvSpPr>
          <p:nvPr/>
        </p:nvSpPr>
        <p:spPr>
          <a:xfrm>
            <a:off x="4663440" y="3063239"/>
            <a:ext cx="1143000" cy="347472"/>
          </a:xfrm>
          <a:prstGeom prst="roundRect">
            <a:avLst>
              <a:gd name="adj" fmla="val 40000"/>
            </a:avLst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Medium Term</a:t>
            </a:r>
          </a:p>
        </p:txBody>
      </p:sp>
      <p:sp>
        <p:nvSpPr>
          <p:cNvPr id="1256" name="fwtitle2"/>
          <p:cNvSpPr>
            <a:spLocks noGrp="1"/>
          </p:cNvSpPr>
          <p:nvPr/>
        </p:nvSpPr>
        <p:spPr>
          <a:xfrm>
            <a:off x="502920" y="3090671"/>
            <a:ext cx="406908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00FF88"/>
                </a:solidFill>
                <a:latin typeface="Segoe UI"/>
                <a:b/>
              </a:rPr>
              <a:t>🟢  Edge Hardware Validation</a:t>
            </a:r>
          </a:p>
        </p:txBody>
      </p:sp>
      <p:sp>
        <p:nvSpPr>
          <p:cNvPr id="1257" name="fwdesc2"/>
          <p:cNvSpPr>
            <a:spLocks noGrp="1"/>
          </p:cNvSpPr>
          <p:nvPr/>
        </p:nvSpPr>
        <p:spPr>
          <a:xfrm>
            <a:off x="548640" y="3584447"/>
            <a:ext cx="5212080" cy="100584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Deploy and benchmark on Raspberry Pi 4, NVIDIA Jetson Nano — measure actual latency and power consumption</a:t>
            </a:r>
          </a:p>
        </p:txBody>
      </p:sp>
      <p:sp>
        <p:nvSpPr>
          <p:cNvPr id="1258" name="fw3"/>
          <p:cNvSpPr>
            <a:spLocks noGrp="1"/>
          </p:cNvSpPr>
          <p:nvPr/>
        </p:nvSpPr>
        <p:spPr>
          <a:xfrm>
            <a:off x="6309360" y="2926079"/>
            <a:ext cx="5577840" cy="17373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59" name="fwterm3"/>
          <p:cNvSpPr>
            <a:spLocks noGrp="1"/>
          </p:cNvSpPr>
          <p:nvPr/>
        </p:nvSpPr>
        <p:spPr>
          <a:xfrm>
            <a:off x="10607040" y="3063239"/>
            <a:ext cx="1143000" cy="347472"/>
          </a:xfrm>
          <a:prstGeom prst="roundRect">
            <a:avLst>
              <a:gd name="adj" fmla="val 40000"/>
            </a:avLst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Medium Term</a:t>
            </a:r>
          </a:p>
        </p:txBody>
      </p:sp>
      <p:sp>
        <p:nvSpPr>
          <p:cNvPr id="1260" name="fwtitle3"/>
          <p:cNvSpPr>
            <a:spLocks noGrp="1"/>
          </p:cNvSpPr>
          <p:nvPr/>
        </p:nvSpPr>
        <p:spPr>
          <a:xfrm>
            <a:off x="6446520" y="3090671"/>
            <a:ext cx="406908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FFB800"/>
                </a:solidFill>
                <a:latin typeface="Segoe UI"/>
                <a:b/>
              </a:rPr>
              <a:t>🟡  Explainable AI (XAI)</a:t>
            </a:r>
          </a:p>
        </p:txBody>
      </p:sp>
      <p:sp>
        <p:nvSpPr>
          <p:cNvPr id="1261" name="fwdesc3"/>
          <p:cNvSpPr>
            <a:spLocks noGrp="1"/>
          </p:cNvSpPr>
          <p:nvPr/>
        </p:nvSpPr>
        <p:spPr>
          <a:xfrm>
            <a:off x="6492240" y="3584447"/>
            <a:ext cx="5212080" cy="100584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Integrate SHAP values and LIME for interpretable anomaly explanations — critical for security analyst trust</a:t>
            </a:r>
          </a:p>
        </p:txBody>
      </p:sp>
      <p:sp>
        <p:nvSpPr>
          <p:cNvPr id="1262" name="fw4"/>
          <p:cNvSpPr>
            <a:spLocks noGrp="1"/>
          </p:cNvSpPr>
          <p:nvPr/>
        </p:nvSpPr>
        <p:spPr>
          <a:xfrm>
            <a:off x="365760" y="4800598"/>
            <a:ext cx="5577840" cy="17373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4C4C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63" name="fwterm4"/>
          <p:cNvSpPr>
            <a:spLocks noGrp="1"/>
          </p:cNvSpPr>
          <p:nvPr/>
        </p:nvSpPr>
        <p:spPr>
          <a:xfrm>
            <a:off x="4663440" y="4937758"/>
            <a:ext cx="1143000" cy="347472"/>
          </a:xfrm>
          <a:prstGeom prst="roundRect">
            <a:avLst>
              <a:gd name="adj" fmla="val 40000"/>
            </a:avLst>
          </a:prstGeom>
          <a:solidFill>
            <a:srgbClr val="FF4C4C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Long Term</a:t>
            </a:r>
          </a:p>
        </p:txBody>
      </p:sp>
      <p:sp>
        <p:nvSpPr>
          <p:cNvPr id="1264" name="fwtitle4"/>
          <p:cNvSpPr>
            <a:spLocks noGrp="1"/>
          </p:cNvSpPr>
          <p:nvPr/>
        </p:nvSpPr>
        <p:spPr>
          <a:xfrm>
            <a:off x="502920" y="4965190"/>
            <a:ext cx="406908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FF4C4C"/>
                </a:solidFill>
                <a:latin typeface="Segoe UI"/>
                <a:b/>
              </a:rPr>
              <a:t>🔴  Federated Learning</a:t>
            </a:r>
          </a:p>
        </p:txBody>
      </p:sp>
      <p:sp>
        <p:nvSpPr>
          <p:cNvPr id="1265" name="fwdesc4"/>
          <p:cNvSpPr>
            <a:spLocks noGrp="1"/>
          </p:cNvSpPr>
          <p:nvPr/>
        </p:nvSpPr>
        <p:spPr>
          <a:xfrm>
            <a:off x="548640" y="5458966"/>
            <a:ext cx="5212080" cy="100584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Train across distributed IoT devices without centralising sensitive traffic data — privacy-preserving IDS</a:t>
            </a:r>
          </a:p>
        </p:txBody>
      </p:sp>
      <p:sp>
        <p:nvSpPr>
          <p:cNvPr id="1266" name="fw5"/>
          <p:cNvSpPr>
            <a:spLocks noGrp="1"/>
          </p:cNvSpPr>
          <p:nvPr/>
        </p:nvSpPr>
        <p:spPr>
          <a:xfrm>
            <a:off x="6309360" y="4800598"/>
            <a:ext cx="5577840" cy="173736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B0C4DE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67" name="fwterm5"/>
          <p:cNvSpPr>
            <a:spLocks noGrp="1"/>
          </p:cNvSpPr>
          <p:nvPr/>
        </p:nvSpPr>
        <p:spPr>
          <a:xfrm>
            <a:off x="10607040" y="4937758"/>
            <a:ext cx="1143000" cy="347472"/>
          </a:xfrm>
          <a:prstGeom prst="roundRect">
            <a:avLst>
              <a:gd name="adj" fmla="val 40000"/>
            </a:avLst>
          </a:prstGeom>
          <a:solidFill>
            <a:srgbClr val="B0C4DE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0" dirty="0">
                <a:solidFill>
                  <a:srgbClr val="050B1F"/>
                </a:solidFill>
                <a:latin typeface="Segoe UI"/>
                <a:b/>
              </a:rPr>
              <a:t>Long Term</a:t>
            </a:r>
          </a:p>
        </p:txBody>
      </p:sp>
      <p:sp>
        <p:nvSpPr>
          <p:cNvPr id="1268" name="fwtitle5"/>
          <p:cNvSpPr>
            <a:spLocks noGrp="1"/>
          </p:cNvSpPr>
          <p:nvPr/>
        </p:nvSpPr>
        <p:spPr>
          <a:xfrm>
            <a:off x="6446520" y="4965190"/>
            <a:ext cx="4069080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16" dirty="0">
                <a:solidFill>
                  <a:srgbClr val="B0C4DE"/>
                </a:solidFill>
                <a:latin typeface="Segoe UI"/>
                <a:b/>
              </a:rPr>
              <a:t>⬜  Adversarial Robustness</a:t>
            </a:r>
          </a:p>
        </p:txBody>
      </p:sp>
      <p:sp>
        <p:nvSpPr>
          <p:cNvPr id="1269" name="fwdesc5"/>
          <p:cNvSpPr>
            <a:spLocks noGrp="1"/>
          </p:cNvSpPr>
          <p:nvPr/>
        </p:nvSpPr>
        <p:spPr>
          <a:xfrm>
            <a:off x="6492240" y="5458966"/>
            <a:ext cx="5212080" cy="1005840"/>
          </a:xfrm>
          <a:prstGeom prst="rect">
            <a:avLst/>
          </a:prstGeom>
          <a:noFill/>
        </p:spPr>
        <p:txBody>
          <a:bodyPr anchor="t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Evaluate system against adversarial examples designed to evade the Autoencoder's anomaly detection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1270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71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72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73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1274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Conclusion</a:t>
            </a:r>
          </a:p>
        </p:txBody>
      </p:sp>
      <p:sp>
        <p:nvSpPr>
          <p:cNvPr id="1275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76" name="concbox"/>
          <p:cNvSpPr>
            <a:spLocks noGrp="1"/>
          </p:cNvSpPr>
          <p:nvPr/>
        </p:nvSpPr>
        <p:spPr>
          <a:xfrm>
            <a:off x="365760" y="1051560"/>
            <a:ext cx="11430000" cy="137160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77" name="conctxt"/>
          <p:cNvSpPr>
            <a:spLocks noGrp="1"/>
          </p:cNvSpPr>
          <p:nvPr/>
        </p:nvSpPr>
        <p:spPr>
          <a:xfrm>
            <a:off x="548640" y="1051560"/>
            <a:ext cx="11064240" cy="137160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6" dirty="0">
                <a:solidFill>
                  <a:srgbClr val="FFFFFF"/>
                </a:solidFill>
                <a:latin typeface="Segoe UI"/>
              </a:rPr>
              <a:t>The proposed Hybrid Intrusion Detection System successfully combines supervised LightGBM classification and Autoencoder-based anomaly detection to identify both known and zero-day attacks in lightweight IoT edge environments, achieving 96.82% accuracy on completely unseen threat scenarios.</a:t>
            </a:r>
          </a:p>
        </p:txBody>
      </p:sp>
      <p:sp>
        <p:nvSpPr>
          <p:cNvPr id="1278" name="stat"/>
          <p:cNvSpPr>
            <a:spLocks noGrp="1"/>
          </p:cNvSpPr>
          <p:nvPr/>
        </p:nvSpPr>
        <p:spPr>
          <a:xfrm>
            <a:off x="365760" y="2651760"/>
            <a:ext cx="265176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00FF88"/>
                </a:solidFill>
                <a:latin typeface="Segoe UI"/>
                <a:b/>
              </a:rPr>
              <a:t>99.99%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LightGBM accuracy on
10 known attack types</a:t>
            </a:r>
          </a:p>
        </p:txBody>
      </p:sp>
      <p:sp>
        <p:nvSpPr>
          <p:cNvPr id="1279" name="stat"/>
          <p:cNvSpPr>
            <a:spLocks noGrp="1"/>
          </p:cNvSpPr>
          <p:nvPr/>
        </p:nvSpPr>
        <p:spPr>
          <a:xfrm>
            <a:off x="3218688" y="2651760"/>
            <a:ext cx="265176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00D4FF"/>
                </a:solidFill>
                <a:latin typeface="Segoe UI"/>
                <a:b/>
              </a:rPr>
              <a:t>99.19%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Autoencoder accuracy on
anomaly detection</a:t>
            </a:r>
          </a:p>
        </p:txBody>
      </p:sp>
      <p:sp>
        <p:nvSpPr>
          <p:cNvPr id="1280" name="stat"/>
          <p:cNvSpPr>
            <a:spLocks noGrp="1"/>
          </p:cNvSpPr>
          <p:nvPr/>
        </p:nvSpPr>
        <p:spPr>
          <a:xfrm>
            <a:off x="6071616" y="2651760"/>
            <a:ext cx="265176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FFB800"/>
                </a:solidFill>
                <a:latin typeface="Segoe UI"/>
                <a:b/>
              </a:rPr>
              <a:t>96.82%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Fusion model on
zero-day scenario</a:t>
            </a:r>
          </a:p>
        </p:txBody>
      </p:sp>
      <p:sp>
        <p:nvSpPr>
          <p:cNvPr id="1281" name="stat"/>
          <p:cNvSpPr>
            <a:spLocks noGrp="1"/>
          </p:cNvSpPr>
          <p:nvPr/>
        </p:nvSpPr>
        <p:spPr>
          <a:xfrm>
            <a:off x="8924544" y="2651760"/>
            <a:ext cx="2651760" cy="11887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36" dirty="0">
                <a:solidFill>
                  <a:srgbClr val="FF4C4C"/>
                </a:solidFill>
                <a:latin typeface="Segoe UI"/>
                <a:b/>
              </a:rPr>
              <a:t>48pp+</a:t>
            </a:r>
          </a:p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Improvement over
Isolation Forest baseline</a:t>
            </a:r>
          </a:p>
        </p:txBody>
      </p:sp>
      <p:sp>
        <p:nvSpPr>
          <p:cNvPr id="1282" name="conc0"/>
          <p:cNvSpPr>
            <a:spLocks noGrp="1"/>
          </p:cNvSpPr>
          <p:nvPr/>
        </p:nvSpPr>
        <p:spPr>
          <a:xfrm>
            <a:off x="365760" y="4005072"/>
            <a:ext cx="11430000" cy="566928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83" name="concbar0"/>
          <p:cNvSpPr>
            <a:spLocks noGrp="1"/>
          </p:cNvSpPr>
          <p:nvPr/>
        </p:nvSpPr>
        <p:spPr>
          <a:xfrm>
            <a:off x="365760" y="4005072"/>
            <a:ext cx="73152" cy="566928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84" name="conctxt0"/>
          <p:cNvSpPr>
            <a:spLocks noGrp="1"/>
          </p:cNvSpPr>
          <p:nvPr/>
        </p:nvSpPr>
        <p:spPr>
          <a:xfrm>
            <a:off x="566928" y="4005072"/>
            <a:ext cx="11155680" cy="566928"/>
          </a:xfrm>
          <a:prstGeom prst="rect">
            <a:avLst/>
          </a:prstGeom>
          <a:noFill/>
        </p:spPr>
        <p:txBody>
          <a:bodyPr anchor="ctr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Three-Layer Defence: LightGBM identifies known attacks with near-perfect accuracy; Autoencoder catches unknown anomalies; Fusion layer intelligently routes decisions</a:t>
            </a:r>
          </a:p>
        </p:txBody>
      </p:sp>
      <p:sp>
        <p:nvSpPr>
          <p:cNvPr id="1285" name="conc1"/>
          <p:cNvSpPr>
            <a:spLocks noGrp="1"/>
          </p:cNvSpPr>
          <p:nvPr/>
        </p:nvSpPr>
        <p:spPr>
          <a:xfrm>
            <a:off x="365760" y="4645152"/>
            <a:ext cx="11430000" cy="566928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86" name="concbar1"/>
          <p:cNvSpPr>
            <a:spLocks noGrp="1"/>
          </p:cNvSpPr>
          <p:nvPr/>
        </p:nvSpPr>
        <p:spPr>
          <a:xfrm>
            <a:off x="365760" y="4645152"/>
            <a:ext cx="73152" cy="566928"/>
          </a:xfrm>
          <a:prstGeom prst="rect">
            <a:avLst/>
          </a:prstGeom>
          <a:solidFill>
            <a:srgbClr val="00FF8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87" name="conctxt1"/>
          <p:cNvSpPr>
            <a:spLocks noGrp="1"/>
          </p:cNvSpPr>
          <p:nvPr/>
        </p:nvSpPr>
        <p:spPr>
          <a:xfrm>
            <a:off x="566928" y="4645152"/>
            <a:ext cx="11155680" cy="566928"/>
          </a:xfrm>
          <a:prstGeom prst="rect">
            <a:avLst/>
          </a:prstGeom>
          <a:noFill/>
        </p:spPr>
        <p:txBody>
          <a:bodyPr anchor="ctr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Lightweight Design: With only 11,907 Autoencoder parameters, the system is viable for deployment on resource-constrained IoT gateways and edge devices</a:t>
            </a:r>
          </a:p>
        </p:txBody>
      </p:sp>
      <p:sp>
        <p:nvSpPr>
          <p:cNvPr id="1288" name="conc2"/>
          <p:cNvSpPr>
            <a:spLocks noGrp="1"/>
          </p:cNvSpPr>
          <p:nvPr/>
        </p:nvSpPr>
        <p:spPr>
          <a:xfrm>
            <a:off x="365760" y="5285232"/>
            <a:ext cx="11430000" cy="566928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89" name="concbar2"/>
          <p:cNvSpPr>
            <a:spLocks noGrp="1"/>
          </p:cNvSpPr>
          <p:nvPr/>
        </p:nvSpPr>
        <p:spPr>
          <a:xfrm>
            <a:off x="365760" y="5285232"/>
            <a:ext cx="73152" cy="566928"/>
          </a:xfrm>
          <a:prstGeom prst="rect">
            <a:avLst/>
          </a:prstGeom>
          <a:solidFill>
            <a:srgbClr val="7B2F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90" name="conctxt2"/>
          <p:cNvSpPr>
            <a:spLocks noGrp="1"/>
          </p:cNvSpPr>
          <p:nvPr/>
        </p:nvSpPr>
        <p:spPr>
          <a:xfrm>
            <a:off x="566928" y="5285232"/>
            <a:ext cx="11155680" cy="566928"/>
          </a:xfrm>
          <a:prstGeom prst="rect">
            <a:avLst/>
          </a:prstGeom>
          <a:noFill/>
        </p:spPr>
        <p:txBody>
          <a:bodyPr anchor="ctr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Research Rigour: Strict experimental protocol (hidden zero-day split) ensures valid evaluation — no data leakage between training and zero-day testing</a:t>
            </a:r>
          </a:p>
        </p:txBody>
      </p:sp>
      <p:sp>
        <p:nvSpPr>
          <p:cNvPr id="1291" name="conc3"/>
          <p:cNvSpPr>
            <a:spLocks noGrp="1"/>
          </p:cNvSpPr>
          <p:nvPr/>
        </p:nvSpPr>
        <p:spPr>
          <a:xfrm>
            <a:off x="365760" y="5925312"/>
            <a:ext cx="11430000" cy="566928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292" name="concbar3"/>
          <p:cNvSpPr>
            <a:spLocks noGrp="1"/>
          </p:cNvSpPr>
          <p:nvPr/>
        </p:nvSpPr>
        <p:spPr>
          <a:xfrm>
            <a:off x="365760" y="5925312"/>
            <a:ext cx="73152" cy="566928"/>
          </a:xfrm>
          <a:prstGeom prst="rect">
            <a:avLst/>
          </a:prstGeom>
          <a:solidFill>
            <a:srgbClr val="FFB800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93" name="conctxt3"/>
          <p:cNvSpPr>
            <a:spLocks noGrp="1"/>
          </p:cNvSpPr>
          <p:nvPr/>
        </p:nvSpPr>
        <p:spPr>
          <a:xfrm>
            <a:off x="566928" y="5925312"/>
            <a:ext cx="11155680" cy="566928"/>
          </a:xfrm>
          <a:prstGeom prst="rect">
            <a:avLst/>
          </a:prstGeom>
          <a:noFill/>
        </p:spPr>
        <p:txBody>
          <a:bodyPr anchor="ctr" vert="horz" lIns="45720" rIns="45720" tIns="45720" bIns="45720" wrap="square"/>
          <a:lstStyle/>
          <a:p>
            <a:pPr algn="l"/>
            <a:r>
              <a:rPr lang="en-US" sz="13" dirty="0">
                <a:solidFill>
                  <a:srgbClr val="B0C4DE"/>
                </a:solidFill>
                <a:latin typeface="Segoe UI"/>
              </a:rPr>
              <a:t>Practical Impact: Addresses a real-world IoT security gap — the inability of traditional IDS to detect never-before-seen attack patterns in real time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1294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95" name="hbar1"/>
          <p:cNvSpPr>
            <a:spLocks noGrp="1"/>
          </p:cNvSpPr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96" name="hbar2"/>
          <p:cNvSpPr>
            <a:spLocks noGrp="1"/>
          </p:cNvSpPr>
          <p:nvPr/>
        </p:nvSpPr>
        <p:spPr>
          <a:xfrm>
            <a:off x="0" y="1014984"/>
            <a:ext cx="12188952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297" name="footer"/>
          <p:cNvSpPr>
            <a:spLocks noGrp="1"/>
          </p:cNvSpPr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628"/>
          </a:solidFill>
        </p:spPr>
        <p:txBody>
          <a:bodyPr anchor="ctr" vert="horz" lIns="91440" rIns="91440" tIns="45720" bIns="45720" wrap="square"/>
          <a:lstStyle/>
          <a:p>
            <a:pPr algn="c"/>
            <a:r>
              <a:rPr lang="en-US" sz="12" dirty="0">
                <a:solidFill>
                  <a:srgbClr val="B0C4DE"/>
                </a:solidFill>
                <a:latin typeface="Segoe UI"/>
              </a:rPr>
              <a:t>Zero Day IoT Attack Detection | B.Tech Final Year Project | 2024</a:t>
            </a:r>
          </a:p>
        </p:txBody>
      </p:sp>
      <p:sp>
        <p:nvSpPr>
          <p:cNvPr id="1298" name="title"/>
          <p:cNvSpPr>
            <a:spLocks noGrp="1"/>
          </p:cNvSpPr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l"/>
            <a:r>
              <a:rPr lang="en-US" sz="32" dirty="0">
                <a:solidFill>
                  <a:srgbClr val="00D4FF"/>
                </a:solidFill>
                <a:latin typeface="Segoe UI"/>
                <a:b/>
              </a:rPr>
              <a:t>References</a:t>
            </a:r>
          </a:p>
        </p:txBody>
      </p:sp>
      <p:sp>
        <p:nvSpPr>
          <p:cNvPr id="1299" name="acline"/>
          <p:cNvSpPr>
            <a:spLocks noGrp="1"/>
          </p:cNvSpPr>
          <p:nvPr/>
        </p:nvSpPr>
        <p:spPr>
          <a:xfrm>
            <a:off x="457200" y="877824"/>
            <a:ext cx="112471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300" name="ref0"/>
          <p:cNvSpPr>
            <a:spLocks noGrp="1"/>
          </p:cNvSpPr>
          <p:nvPr/>
        </p:nvSpPr>
        <p:spPr>
          <a:xfrm>
            <a:off x="365760" y="1005840"/>
            <a:ext cx="5577840" cy="100584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301" name="refnum0"/>
          <p:cNvSpPr>
            <a:spLocks noGrp="1"/>
          </p:cNvSpPr>
          <p:nvPr/>
        </p:nvSpPr>
        <p:spPr>
          <a:xfrm>
            <a:off x="457200" y="1097280"/>
            <a:ext cx="457200" cy="8229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[1]</a:t>
            </a:r>
          </a:p>
        </p:txBody>
      </p:sp>
      <p:sp>
        <p:nvSpPr>
          <p:cNvPr id="1302" name="reftxt0"/>
          <p:cNvSpPr>
            <a:spLocks noGrp="1"/>
          </p:cNvSpPr>
          <p:nvPr/>
        </p:nvSpPr>
        <p:spPr>
          <a:xfrm>
            <a:off x="960120" y="1078992"/>
            <a:ext cx="4846320" cy="868680"/>
          </a:xfrm>
          <a:prstGeom prst="rect">
            <a:avLst/>
          </a:prstGeom>
          <a:noFill/>
        </p:spPr>
        <p:txBody>
          <a:bodyPr anchor="t" vert="horz" lIns="27432" rIns="27432" tIns="27432" bIns="45720" wrap="square"/>
          <a:lstStyle/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</a:rPr>
              <a:t>M. A. Ferrag et al. Edge-IIoTset: A New Comprehensive Realistic Cyber Security Dataset of IoT and IIoT Applications. IEEE Access, 2022.</a:t>
            </a:r>
          </a:p>
        </p:txBody>
      </p:sp>
      <p:sp>
        <p:nvSpPr>
          <p:cNvPr id="1303" name="ref1"/>
          <p:cNvSpPr>
            <a:spLocks noGrp="1"/>
          </p:cNvSpPr>
          <p:nvPr/>
        </p:nvSpPr>
        <p:spPr>
          <a:xfrm>
            <a:off x="6309360" y="1005840"/>
            <a:ext cx="5577840" cy="100584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304" name="refnum1"/>
          <p:cNvSpPr>
            <a:spLocks noGrp="1"/>
          </p:cNvSpPr>
          <p:nvPr/>
        </p:nvSpPr>
        <p:spPr>
          <a:xfrm>
            <a:off x="6400800" y="1097280"/>
            <a:ext cx="457200" cy="8229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[2]</a:t>
            </a:r>
          </a:p>
        </p:txBody>
      </p:sp>
      <p:sp>
        <p:nvSpPr>
          <p:cNvPr id="1305" name="reftxt1"/>
          <p:cNvSpPr>
            <a:spLocks noGrp="1"/>
          </p:cNvSpPr>
          <p:nvPr/>
        </p:nvSpPr>
        <p:spPr>
          <a:xfrm>
            <a:off x="6903720" y="1078992"/>
            <a:ext cx="4846320" cy="868680"/>
          </a:xfrm>
          <a:prstGeom prst="rect">
            <a:avLst/>
          </a:prstGeom>
          <a:noFill/>
        </p:spPr>
        <p:txBody>
          <a:bodyPr anchor="t" vert="horz" lIns="27432" rIns="27432" tIns="27432" bIns="45720" wrap="square"/>
          <a:lstStyle/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</a:rPr>
              <a:t>G. Ke et al. LightGBM: A Highly Efficient Gradient Boosting Decision Tree. Advances in Neural Information Processing Systems (NeurIPS), 2017.</a:t>
            </a:r>
          </a:p>
        </p:txBody>
      </p:sp>
      <p:sp>
        <p:nvSpPr>
          <p:cNvPr id="1306" name="ref2"/>
          <p:cNvSpPr>
            <a:spLocks noGrp="1"/>
          </p:cNvSpPr>
          <p:nvPr/>
        </p:nvSpPr>
        <p:spPr>
          <a:xfrm>
            <a:off x="365760" y="2075688"/>
            <a:ext cx="5577840" cy="100584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307" name="refnum2"/>
          <p:cNvSpPr>
            <a:spLocks noGrp="1"/>
          </p:cNvSpPr>
          <p:nvPr/>
        </p:nvSpPr>
        <p:spPr>
          <a:xfrm>
            <a:off x="457200" y="2167128"/>
            <a:ext cx="457200" cy="8229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[3]</a:t>
            </a:r>
          </a:p>
        </p:txBody>
      </p:sp>
      <p:sp>
        <p:nvSpPr>
          <p:cNvPr id="1308" name="reftxt2"/>
          <p:cNvSpPr>
            <a:spLocks noGrp="1"/>
          </p:cNvSpPr>
          <p:nvPr/>
        </p:nvSpPr>
        <p:spPr>
          <a:xfrm>
            <a:off x="960120" y="2148840"/>
            <a:ext cx="4846320" cy="868680"/>
          </a:xfrm>
          <a:prstGeom prst="rect">
            <a:avLst/>
          </a:prstGeom>
          <a:noFill/>
        </p:spPr>
        <p:txBody>
          <a:bodyPr anchor="t" vert="horz" lIns="27432" rIns="27432" tIns="27432" bIns="45720" wrap="square"/>
          <a:lstStyle/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</a:rPr>
              <a:t>D. Bank, N. Koenigstein, R. Giryes. Autoencoders. Machine Learning for Data Science Handbook. Springer, 2023.</a:t>
            </a:r>
          </a:p>
        </p:txBody>
      </p:sp>
      <p:sp>
        <p:nvSpPr>
          <p:cNvPr id="1309" name="ref3"/>
          <p:cNvSpPr>
            <a:spLocks noGrp="1"/>
          </p:cNvSpPr>
          <p:nvPr/>
        </p:nvSpPr>
        <p:spPr>
          <a:xfrm>
            <a:off x="6309360" y="2075688"/>
            <a:ext cx="5577840" cy="100584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310" name="refnum3"/>
          <p:cNvSpPr>
            <a:spLocks noGrp="1"/>
          </p:cNvSpPr>
          <p:nvPr/>
        </p:nvSpPr>
        <p:spPr>
          <a:xfrm>
            <a:off x="6400800" y="2167128"/>
            <a:ext cx="457200" cy="8229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[4]</a:t>
            </a:r>
          </a:p>
        </p:txBody>
      </p:sp>
      <p:sp>
        <p:nvSpPr>
          <p:cNvPr id="1311" name="reftxt3"/>
          <p:cNvSpPr>
            <a:spLocks noGrp="1"/>
          </p:cNvSpPr>
          <p:nvPr/>
        </p:nvSpPr>
        <p:spPr>
          <a:xfrm>
            <a:off x="6903720" y="2148840"/>
            <a:ext cx="4846320" cy="868680"/>
          </a:xfrm>
          <a:prstGeom prst="rect">
            <a:avLst/>
          </a:prstGeom>
          <a:noFill/>
        </p:spPr>
        <p:txBody>
          <a:bodyPr anchor="t" vert="horz" lIns="27432" rIns="27432" tIns="27432" bIns="45720" wrap="square"/>
          <a:lstStyle/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</a:rPr>
              <a:t>M. Abadi et al. TensorFlow: A System for Large-Scale Machine Learning. USENIX OSDI, 2016. Online: https://www.tensorflow.org</a:t>
            </a:r>
          </a:p>
        </p:txBody>
      </p:sp>
      <p:sp>
        <p:nvSpPr>
          <p:cNvPr id="1312" name="ref4"/>
          <p:cNvSpPr>
            <a:spLocks noGrp="1"/>
          </p:cNvSpPr>
          <p:nvPr/>
        </p:nvSpPr>
        <p:spPr>
          <a:xfrm>
            <a:off x="365760" y="3145536"/>
            <a:ext cx="5577840" cy="100584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313" name="refnum4"/>
          <p:cNvSpPr>
            <a:spLocks noGrp="1"/>
          </p:cNvSpPr>
          <p:nvPr/>
        </p:nvSpPr>
        <p:spPr>
          <a:xfrm>
            <a:off x="457200" y="3236976"/>
            <a:ext cx="457200" cy="8229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[5]</a:t>
            </a:r>
          </a:p>
        </p:txBody>
      </p:sp>
      <p:sp>
        <p:nvSpPr>
          <p:cNvPr id="1314" name="reftxt4"/>
          <p:cNvSpPr>
            <a:spLocks noGrp="1"/>
          </p:cNvSpPr>
          <p:nvPr/>
        </p:nvSpPr>
        <p:spPr>
          <a:xfrm>
            <a:off x="960120" y="3218688"/>
            <a:ext cx="4846320" cy="868680"/>
          </a:xfrm>
          <a:prstGeom prst="rect">
            <a:avLst/>
          </a:prstGeom>
          <a:noFill/>
        </p:spPr>
        <p:txBody>
          <a:bodyPr anchor="t" vert="horz" lIns="27432" rIns="27432" tIns="27432" bIns="45720" wrap="square"/>
          <a:lstStyle/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</a:rPr>
              <a:t>F. T. Liu, K. M. Ting, Z.-H. Zhou. Isolation Forest. IEEE International Conference on Data Mining (ICDM), 2008.</a:t>
            </a:r>
          </a:p>
        </p:txBody>
      </p:sp>
      <p:sp>
        <p:nvSpPr>
          <p:cNvPr id="1315" name="ref5"/>
          <p:cNvSpPr>
            <a:spLocks noGrp="1"/>
          </p:cNvSpPr>
          <p:nvPr/>
        </p:nvSpPr>
        <p:spPr>
          <a:xfrm>
            <a:off x="6309360" y="3145536"/>
            <a:ext cx="5577840" cy="100584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316" name="refnum5"/>
          <p:cNvSpPr>
            <a:spLocks noGrp="1"/>
          </p:cNvSpPr>
          <p:nvPr/>
        </p:nvSpPr>
        <p:spPr>
          <a:xfrm>
            <a:off x="6400800" y="3236976"/>
            <a:ext cx="457200" cy="8229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[6]</a:t>
            </a:r>
          </a:p>
        </p:txBody>
      </p:sp>
      <p:sp>
        <p:nvSpPr>
          <p:cNvPr id="1317" name="reftxt5"/>
          <p:cNvSpPr>
            <a:spLocks noGrp="1"/>
          </p:cNvSpPr>
          <p:nvPr/>
        </p:nvSpPr>
        <p:spPr>
          <a:xfrm>
            <a:off x="6903720" y="3218688"/>
            <a:ext cx="4846320" cy="868680"/>
          </a:xfrm>
          <a:prstGeom prst="rect">
            <a:avLst/>
          </a:prstGeom>
          <a:noFill/>
        </p:spPr>
        <p:txBody>
          <a:bodyPr anchor="t" vert="horz" lIns="27432" rIns="27432" tIns="27432" bIns="45720" wrap="square"/>
          <a:lstStyle/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</a:rPr>
              <a:t>T. A. Tang, L. Mhamdi, D. McLernon et al. Deep Learning Approach for Network Intrusion Detection in Software Defined Networking. WINCOM, 2016.</a:t>
            </a:r>
          </a:p>
        </p:txBody>
      </p:sp>
      <p:sp>
        <p:nvSpPr>
          <p:cNvPr id="1318" name="ref6"/>
          <p:cNvSpPr>
            <a:spLocks noGrp="1"/>
          </p:cNvSpPr>
          <p:nvPr/>
        </p:nvSpPr>
        <p:spPr>
          <a:xfrm>
            <a:off x="365760" y="4215384"/>
            <a:ext cx="5577840" cy="100584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319" name="refnum6"/>
          <p:cNvSpPr>
            <a:spLocks noGrp="1"/>
          </p:cNvSpPr>
          <p:nvPr/>
        </p:nvSpPr>
        <p:spPr>
          <a:xfrm>
            <a:off x="457200" y="4306824"/>
            <a:ext cx="457200" cy="8229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[7]</a:t>
            </a:r>
          </a:p>
        </p:txBody>
      </p:sp>
      <p:sp>
        <p:nvSpPr>
          <p:cNvPr id="1320" name="reftxt6"/>
          <p:cNvSpPr>
            <a:spLocks noGrp="1"/>
          </p:cNvSpPr>
          <p:nvPr/>
        </p:nvSpPr>
        <p:spPr>
          <a:xfrm>
            <a:off x="960120" y="4288536"/>
            <a:ext cx="4846320" cy="868680"/>
          </a:xfrm>
          <a:prstGeom prst="rect">
            <a:avLst/>
          </a:prstGeom>
          <a:noFill/>
        </p:spPr>
        <p:txBody>
          <a:bodyPr anchor="t" vert="horz" lIns="27432" rIns="27432" tIns="27432" bIns="45720" wrap="square"/>
          <a:lstStyle/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</a:rPr>
              <a:t>N. Moustafa and J. Slay. UNSW-NB15: A Comprehensive Data Set for Network Intrusion Detection Systems. MilCIS, IEEE, 2015.</a:t>
            </a:r>
          </a:p>
        </p:txBody>
      </p:sp>
      <p:sp>
        <p:nvSpPr>
          <p:cNvPr id="1321" name="ref7"/>
          <p:cNvSpPr>
            <a:spLocks noGrp="1"/>
          </p:cNvSpPr>
          <p:nvPr/>
        </p:nvSpPr>
        <p:spPr>
          <a:xfrm>
            <a:off x="6309360" y="4215384"/>
            <a:ext cx="5577840" cy="100584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322" name="refnum7"/>
          <p:cNvSpPr>
            <a:spLocks noGrp="1"/>
          </p:cNvSpPr>
          <p:nvPr/>
        </p:nvSpPr>
        <p:spPr>
          <a:xfrm>
            <a:off x="6400800" y="4306824"/>
            <a:ext cx="457200" cy="8229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[8]</a:t>
            </a:r>
          </a:p>
        </p:txBody>
      </p:sp>
      <p:sp>
        <p:nvSpPr>
          <p:cNvPr id="1323" name="reftxt7"/>
          <p:cNvSpPr>
            <a:spLocks noGrp="1"/>
          </p:cNvSpPr>
          <p:nvPr/>
        </p:nvSpPr>
        <p:spPr>
          <a:xfrm>
            <a:off x="6903720" y="4288536"/>
            <a:ext cx="4846320" cy="868680"/>
          </a:xfrm>
          <a:prstGeom prst="rect">
            <a:avLst/>
          </a:prstGeom>
          <a:noFill/>
        </p:spPr>
        <p:txBody>
          <a:bodyPr anchor="t" vert="horz" lIns="27432" rIns="27432" tIns="27432" bIns="45720" wrap="square"/>
          <a:lstStyle/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</a:rPr>
              <a:t>Y. Mirsky et al. Kitsune: An Ensemble of Autoencoders for Online Network Intrusion Detection. NDSS, 2018.</a:t>
            </a:r>
          </a:p>
        </p:txBody>
      </p:sp>
      <p:sp>
        <p:nvSpPr>
          <p:cNvPr id="1324" name="ref8"/>
          <p:cNvSpPr>
            <a:spLocks noGrp="1"/>
          </p:cNvSpPr>
          <p:nvPr/>
        </p:nvSpPr>
        <p:spPr>
          <a:xfrm>
            <a:off x="365760" y="5285232"/>
            <a:ext cx="5577840" cy="100584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325" name="refnum8"/>
          <p:cNvSpPr>
            <a:spLocks noGrp="1"/>
          </p:cNvSpPr>
          <p:nvPr/>
        </p:nvSpPr>
        <p:spPr>
          <a:xfrm>
            <a:off x="457200" y="5376672"/>
            <a:ext cx="457200" cy="8229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[9]</a:t>
            </a:r>
          </a:p>
        </p:txBody>
      </p:sp>
      <p:sp>
        <p:nvSpPr>
          <p:cNvPr id="1326" name="reftxt8"/>
          <p:cNvSpPr>
            <a:spLocks noGrp="1"/>
          </p:cNvSpPr>
          <p:nvPr/>
        </p:nvSpPr>
        <p:spPr>
          <a:xfrm>
            <a:off x="960120" y="5358384"/>
            <a:ext cx="4846320" cy="868680"/>
          </a:xfrm>
          <a:prstGeom prst="rect">
            <a:avLst/>
          </a:prstGeom>
          <a:noFill/>
        </p:spPr>
        <p:txBody>
          <a:bodyPr anchor="t" vert="horz" lIns="27432" rIns="27432" tIns="27432" bIns="45720" wrap="square"/>
          <a:lstStyle/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</a:rPr>
              <a:t>F. Pedregosa et al. Scikit-learn: Machine Learning in Python. Journal of Machine Learning Research, 12, pp. 2825-2830, 2011.</a:t>
            </a:r>
          </a:p>
        </p:txBody>
      </p:sp>
      <p:sp>
        <p:nvSpPr>
          <p:cNvPr id="1327" name="ref9"/>
          <p:cNvSpPr>
            <a:spLocks noGrp="1"/>
          </p:cNvSpPr>
          <p:nvPr/>
        </p:nvSpPr>
        <p:spPr>
          <a:xfrm>
            <a:off x="6309360" y="5285232"/>
            <a:ext cx="5577840" cy="1005840"/>
          </a:xfrm>
          <a:prstGeom prst="roundRect">
            <a:avLst>
              <a:gd name="adj" fmla="val 40000"/>
            </a:avLst>
          </a:prstGeom>
          <a:solidFill>
            <a:srgbClr val="0D1F3C"/>
          </a:solidFill>
          <a:ln w="12700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328" name="refnum9"/>
          <p:cNvSpPr>
            <a:spLocks noGrp="1"/>
          </p:cNvSpPr>
          <p:nvPr/>
        </p:nvSpPr>
        <p:spPr>
          <a:xfrm>
            <a:off x="6400800" y="5376672"/>
            <a:ext cx="457200" cy="8229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7B2FFF"/>
                </a:solidFill>
                <a:latin typeface="Segoe UI"/>
                <a:b/>
              </a:rPr>
              <a:t>[10]</a:t>
            </a:r>
          </a:p>
        </p:txBody>
      </p:sp>
      <p:sp>
        <p:nvSpPr>
          <p:cNvPr id="1329" name="reftxt9"/>
          <p:cNvSpPr>
            <a:spLocks noGrp="1"/>
          </p:cNvSpPr>
          <p:nvPr/>
        </p:nvSpPr>
        <p:spPr>
          <a:xfrm>
            <a:off x="6903720" y="5358384"/>
            <a:ext cx="4846320" cy="868680"/>
          </a:xfrm>
          <a:prstGeom prst="rect">
            <a:avLst/>
          </a:prstGeom>
          <a:noFill/>
        </p:spPr>
        <p:txBody>
          <a:bodyPr anchor="t" vert="horz" lIns="27432" rIns="27432" tIns="27432" bIns="45720" wrap="square"/>
          <a:lstStyle/>
          <a:p>
            <a:pPr algn="l"/>
            <a:r>
              <a:rPr lang="en-US" sz="11" dirty="0">
                <a:solidFill>
                  <a:srgbClr val="B0C4DE"/>
                </a:solidFill>
                <a:latin typeface="Segoe UI"/>
              </a:rPr>
              <a:t>A. L. Buczak and E. Guven. A Survey of Data Mining and ML Methods for Cyber Security Intrusion Detection. IEEE Comms. Surveys, 2016.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88952" cy="6858000"/>
          <a:chOff x="0" y="0"/>
          <a:chExt cx="12188952" cy="6858000"/>
        </a:xfrm>
      </p:grpSpPr>
      <p:sp>
        <p:nvSpPr>
          <p:cNvPr id="1330" name="bg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B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331" name="ring1"/>
          <p:cNvSpPr>
            <a:spLocks noGrp="1"/>
          </p:cNvSpPr>
          <p:nvPr/>
        </p:nvSpPr>
        <p:spPr>
          <a:xfrm>
            <a:off x="2894076" y="228600"/>
            <a:ext cx="6400800" cy="6400800"/>
          </a:xfrm>
          <a:prstGeom prst="roundRect">
            <a:avLst>
              <a:gd name="adj" fmla="val 166666"/>
            </a:avLst>
          </a:prstGeom>
          <a:noFill/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332" name="ring2"/>
          <p:cNvSpPr>
            <a:spLocks noGrp="1"/>
          </p:cNvSpPr>
          <p:nvPr/>
        </p:nvSpPr>
        <p:spPr>
          <a:xfrm>
            <a:off x="3534156" y="868680"/>
            <a:ext cx="5120640" cy="5120640"/>
          </a:xfrm>
          <a:prstGeom prst="roundRect">
            <a:avLst>
              <a:gd name="adj" fmla="val 166666"/>
            </a:avLst>
          </a:prstGeom>
          <a:noFill/>
          <a:ln w="9525">
            <a:solidFill>
              <a:srgbClr val="7B2F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333" name="ring3"/>
          <p:cNvSpPr>
            <a:spLocks noGrp="1"/>
          </p:cNvSpPr>
          <p:nvPr/>
        </p:nvSpPr>
        <p:spPr>
          <a:xfrm>
            <a:off x="4082796" y="1417320"/>
            <a:ext cx="4023360" cy="4023360"/>
          </a:xfrm>
          <a:prstGeom prst="roundRect">
            <a:avLst>
              <a:gd name="adj" fmla="val 166666"/>
            </a:avLst>
          </a:prstGeom>
          <a:solidFill>
            <a:srgbClr val="091525"/>
          </a:solidFill>
          <a:ln w="635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</p:txBody>
      </p:sp>
      <p:sp>
        <p:nvSpPr>
          <p:cNvPr id="1334" name="ty"/>
          <p:cNvSpPr>
            <a:spLocks noGrp="1"/>
          </p:cNvSpPr>
          <p:nvPr/>
        </p:nvSpPr>
        <p:spPr>
          <a:xfrm>
            <a:off x="1828800" y="1645920"/>
            <a:ext cx="8503920" cy="7315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54" dirty="0">
                <a:solidFill>
                  <a:srgbClr val="00D4FF"/>
                </a:solidFill>
                <a:latin typeface="Segoe UI"/>
                <a:b/>
              </a:rPr>
              <a:t>Thank You</a:t>
            </a:r>
          </a:p>
        </p:txBody>
      </p:sp>
      <p:sp>
        <p:nvSpPr>
          <p:cNvPr id="1335" name="qs"/>
          <p:cNvSpPr>
            <a:spLocks noGrp="1"/>
          </p:cNvSpPr>
          <p:nvPr/>
        </p:nvSpPr>
        <p:spPr>
          <a:xfrm>
            <a:off x="1828800" y="2468880"/>
            <a:ext cx="850392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26" dirty="0">
                <a:solidFill>
                  <a:srgbClr val="7B2FFF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1336" name="tyline"/>
          <p:cNvSpPr>
            <a:spLocks noGrp="1"/>
          </p:cNvSpPr>
          <p:nvPr/>
        </p:nvSpPr>
        <p:spPr>
          <a:xfrm>
            <a:off x="3657600" y="3063240"/>
            <a:ext cx="4846320" cy="36576"/>
          </a:xfrm>
          <a:prstGeom prst="rect">
            <a:avLst/>
          </a:prstGeom>
          <a:solidFill>
            <a:srgbClr val="00D4F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337" name="projname"/>
          <p:cNvSpPr>
            <a:spLocks noGrp="1"/>
          </p:cNvSpPr>
          <p:nvPr/>
        </p:nvSpPr>
        <p:spPr>
          <a:xfrm>
            <a:off x="2286000" y="3246120"/>
            <a:ext cx="7589520" cy="50292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5" dirty="0">
                <a:solidFill>
                  <a:srgbClr val="B0C4DE"/>
                </a:solidFill>
                <a:latin typeface="Segoe UI"/>
              </a:rPr>
              <a:t>Zero Day IoT Attack Detection Using a Hybrid Machine Learning Approach</a:t>
            </a:r>
          </a:p>
        </p:txBody>
      </p:sp>
      <p:sp>
        <p:nvSpPr>
          <p:cNvPr id="1338" name="pill0"/>
          <p:cNvSpPr>
            <a:spLocks noGrp="1"/>
          </p:cNvSpPr>
          <p:nvPr/>
        </p:nvSpPr>
        <p:spPr>
          <a:xfrm>
            <a:off x="1156716" y="3886200"/>
            <a:ext cx="3200400" cy="5029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FFB800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FFB800"/>
                </a:solidFill>
                <a:latin typeface="Segoe UI"/>
                <a:b/>
              </a:rPr>
              <a:t>LightGBM  99.99%</a:t>
            </a:r>
          </a:p>
        </p:txBody>
      </p:sp>
      <p:sp>
        <p:nvSpPr>
          <p:cNvPr id="1339" name="pill1"/>
          <p:cNvSpPr>
            <a:spLocks noGrp="1"/>
          </p:cNvSpPr>
          <p:nvPr/>
        </p:nvSpPr>
        <p:spPr>
          <a:xfrm>
            <a:off x="4494276" y="3886200"/>
            <a:ext cx="3200400" cy="5029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FF88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FF88"/>
                </a:solidFill>
                <a:latin typeface="Segoe UI"/>
                <a:b/>
              </a:rPr>
              <a:t>Autoencoder  99.19%</a:t>
            </a:r>
          </a:p>
        </p:txBody>
      </p:sp>
      <p:sp>
        <p:nvSpPr>
          <p:cNvPr id="1340" name="pill2"/>
          <p:cNvSpPr>
            <a:spLocks noGrp="1"/>
          </p:cNvSpPr>
          <p:nvPr/>
        </p:nvSpPr>
        <p:spPr>
          <a:xfrm>
            <a:off x="7831836" y="3886200"/>
            <a:ext cx="3200400" cy="502920"/>
          </a:xfrm>
          <a:prstGeom prst="roundRect">
            <a:avLst>
              <a:gd name="adj" fmla="val 60000"/>
            </a:avLst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00D4FF"/>
                </a:solidFill>
                <a:latin typeface="Segoe UI"/>
                <a:b/>
              </a:rPr>
              <a:t>Fusion Model  96.82%</a:t>
            </a:r>
          </a:p>
        </p:txBody>
      </p:sp>
      <p:sp>
        <p:nvSpPr>
          <p:cNvPr id="1341" name="teaminfo"/>
          <p:cNvSpPr>
            <a:spLocks noGrp="1"/>
          </p:cNvSpPr>
          <p:nvPr/>
        </p:nvSpPr>
        <p:spPr>
          <a:xfrm>
            <a:off x="1828800" y="4663440"/>
            <a:ext cx="850392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4" dirty="0">
                <a:solidFill>
                  <a:srgbClr val="B0C4DE"/>
                </a:solidFill>
                <a:latin typeface="Segoe UI"/>
              </a:rPr>
              <a:t>Shahiil Ahmed  ·  B.Tech CSE  ·  College of Information Technology</a:t>
            </a:r>
          </a:p>
        </p:txBody>
      </p:sp>
      <p:sp>
        <p:nvSpPr>
          <p:cNvPr id="1342" name="deptinfo"/>
          <p:cNvSpPr>
            <a:spLocks noGrp="1"/>
          </p:cNvSpPr>
          <p:nvPr/>
        </p:nvSpPr>
        <p:spPr>
          <a:xfrm>
            <a:off x="1828800" y="5074920"/>
            <a:ext cx="8503920" cy="36576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3A4A6B"/>
                </a:solidFill>
                <a:latin typeface="Segoe UI"/>
              </a:rPr>
              <a:t>Department of Computer Science &amp; Engineering  ·  Academic Year 2024–2025</a:t>
            </a:r>
          </a:p>
        </p:txBody>
      </p:sp>
      <p:sp>
        <p:nvSpPr>
          <p:cNvPr id="1343" name="tybot"/>
          <p:cNvSpPr>
            <a:spLocks noGrp="1"/>
          </p:cNvSpPr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A0E1F"/>
          </a:solidFill>
        </p:spPr>
        <p:txBody>
          <a:bodyPr anchor="ctr" vert="horz" lIns="91440" rIns="91440" tIns="45720" bIns="45720" wrap="square"/>
          <a:lstStyle/>
        </p:txBody>
      </p:sp>
      <p:sp>
        <p:nvSpPr>
          <p:cNvPr id="1344" name="tyfoottxt"/>
          <p:cNvSpPr>
            <a:spLocks noGrp="1"/>
          </p:cNvSpPr>
          <p:nvPr/>
        </p:nvSpPr>
        <p:spPr>
          <a:xfrm>
            <a:off x="0" y="6400800"/>
            <a:ext cx="12188952" cy="411480"/>
          </a:xfrm>
          <a:prstGeom prst="rect">
            <a:avLst/>
          </a:prstGeom>
          <a:noFill/>
        </p:spPr>
        <p:txBody>
          <a:bodyPr anchor="ctr" vert="horz" lIns="91440" rIns="91440" tIns="45720" bIns="45720" wrap="square"/>
          <a:lstStyle/>
          <a:p>
            <a:pPr algn="c"/>
            <a:r>
              <a:rPr lang="en-US" sz="13" dirty="0">
                <a:solidFill>
                  <a:srgbClr val="B0C4DE"/>
                </a:solidFill>
                <a:latin typeface="Segoe UI"/>
              </a:rPr>
              <a:t>Cybersecurity  ·  Artificial Intelligence  ·  IoT Edge Security  ·  Intrusion Detection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eroDayTheme">
  <a:themeElements>
    <a:clrScheme name="ZeroDay">
      <a:dk1>
        <a:srgbClr val="050B1F"/>
      </a:dk1>
      <a:lt1>
        <a:srgbClr val="FFFFFF"/>
      </a:lt1>
      <a:dk2>
        <a:srgbClr val="0A1628"/>
      </a:dk2>
      <a:lt2>
        <a:srgbClr val="B0C4DE"/>
      </a:lt2>
      <a:accent1>
        <a:srgbClr val="00D4FF"/>
      </a:accent1>
      <a:accent2>
        <a:srgbClr val="7B2FFF"/>
      </a:accent2>
      <a:accent3>
        <a:srgbClr val="00FF88"/>
      </a:accent3>
      <a:accent4>
        <a:srgbClr val="FF4C4C"/>
      </a:accent4>
      <a:accent5>
        <a:srgbClr val="FFB800"/>
      </a:accent5>
      <a:accent6>
        <a:srgbClr val="3A4A6B"/>
      </a:accent6>
      <a:hlink>
        <a:srgbClr val="00D4FF"/>
      </a:hlink>
      <a:folHlink>
        <a:srgbClr val="7B2FFF"/>
      </a:folHlink>
    </a:clrScheme>
    <a:fontScheme name="ZeroDay">
      <a:majorFont>
        <a:latin typeface="Segoe UI"/>
      </a:majorFont>
      <a:minorFont>
        <a:latin typeface="Segoe UI"/>
      </a:minorFont>
    </a:fontScheme>
    <a:fmtScheme name="ZeroDa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